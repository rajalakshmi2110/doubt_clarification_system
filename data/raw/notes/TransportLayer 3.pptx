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6"/>
  </p:notesMasterIdLst>
  <p:sldIdLst>
    <p:sldId id="293" r:id="rId2"/>
    <p:sldId id="257" r:id="rId3"/>
    <p:sldId id="258" r:id="rId4"/>
    <p:sldId id="259" r:id="rId5"/>
    <p:sldId id="260" r:id="rId6"/>
    <p:sldId id="261" r:id="rId7"/>
    <p:sldId id="262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263" r:id="rId16"/>
    <p:sldId id="264" r:id="rId17"/>
    <p:sldId id="266" r:id="rId18"/>
    <p:sldId id="265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Times New Roman" panose="02020603050405020304" pitchFamily="18" charset="0"/>
        <a:ea typeface="+mn-ea"/>
        <a:cs typeface="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0" d="100"/>
          <a:sy n="100" d="100"/>
        </p:scale>
        <p:origin x="1512" y="11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475ADCAC-0D2B-0D5A-8197-E650D946A60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0" y="0"/>
            <a:ext cx="360045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BEAFFCA-EC2E-022B-8565-8B14ED7D768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1C51FCC7-9DA6-0D77-073E-5036F8538A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EE69645C-A9D5-DB82-E7B1-9978DBE3E7B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FB08C90F-A5EA-C93B-40EE-3B1CBA9A783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28E35B8-1F81-F2E2-3320-A10157C1344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5">
            <a:extLst>
              <a:ext uri="{FF2B5EF4-FFF2-40B4-BE49-F238E27FC236}">
                <a16:creationId xmlns:a16="http://schemas.microsoft.com/office/drawing/2014/main" id="{16D11F3B-4DDC-271A-73E7-B246F0703C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9219" name="Rectangle 1026">
            <a:extLst>
              <a:ext uri="{FF2B5EF4-FFF2-40B4-BE49-F238E27FC236}">
                <a16:creationId xmlns:a16="http://schemas.microsoft.com/office/drawing/2014/main" id="{D5366119-E329-E506-D939-F8298BF777F9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5">
            <a:extLst>
              <a:ext uri="{FF2B5EF4-FFF2-40B4-BE49-F238E27FC236}">
                <a16:creationId xmlns:a16="http://schemas.microsoft.com/office/drawing/2014/main" id="{D58C28D1-EDC1-C770-6DF3-CB1AC3893E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11267" name="Rectangle 1026">
            <a:extLst>
              <a:ext uri="{FF2B5EF4-FFF2-40B4-BE49-F238E27FC236}">
                <a16:creationId xmlns:a16="http://schemas.microsoft.com/office/drawing/2014/main" id="{4E8B08F8-FEFE-A28F-B4B3-C64391FB01B8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5">
            <a:extLst>
              <a:ext uri="{FF2B5EF4-FFF2-40B4-BE49-F238E27FC236}">
                <a16:creationId xmlns:a16="http://schemas.microsoft.com/office/drawing/2014/main" id="{B4325B79-9C84-798F-CFBA-77047ABD783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13315" name="Rectangle 1026">
            <a:extLst>
              <a:ext uri="{FF2B5EF4-FFF2-40B4-BE49-F238E27FC236}">
                <a16:creationId xmlns:a16="http://schemas.microsoft.com/office/drawing/2014/main" id="{6E9E2C30-706E-681E-C5AE-8C8F16DF633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5">
            <a:extLst>
              <a:ext uri="{FF2B5EF4-FFF2-40B4-BE49-F238E27FC236}">
                <a16:creationId xmlns:a16="http://schemas.microsoft.com/office/drawing/2014/main" id="{C4B18ED9-DE1F-10F1-F3BB-6698E8CA735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15363" name="Rectangle 1026">
            <a:extLst>
              <a:ext uri="{FF2B5EF4-FFF2-40B4-BE49-F238E27FC236}">
                <a16:creationId xmlns:a16="http://schemas.microsoft.com/office/drawing/2014/main" id="{AEE5B898-3565-2692-F007-186CFEA3B406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5">
            <a:extLst>
              <a:ext uri="{FF2B5EF4-FFF2-40B4-BE49-F238E27FC236}">
                <a16:creationId xmlns:a16="http://schemas.microsoft.com/office/drawing/2014/main" id="{F5AC88D1-2604-D2DC-9C10-2ADD262179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24579" name="Rectangle 1026">
            <a:extLst>
              <a:ext uri="{FF2B5EF4-FFF2-40B4-BE49-F238E27FC236}">
                <a16:creationId xmlns:a16="http://schemas.microsoft.com/office/drawing/2014/main" id="{9783F42F-CB20-5049-0423-94A8731388FC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5">
            <a:extLst>
              <a:ext uri="{FF2B5EF4-FFF2-40B4-BE49-F238E27FC236}">
                <a16:creationId xmlns:a16="http://schemas.microsoft.com/office/drawing/2014/main" id="{889822A5-87EC-6036-8DD6-66442E8A64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26627" name="Rectangle 1026">
            <a:extLst>
              <a:ext uri="{FF2B5EF4-FFF2-40B4-BE49-F238E27FC236}">
                <a16:creationId xmlns:a16="http://schemas.microsoft.com/office/drawing/2014/main" id="{81BC8C66-68F7-403C-7889-33FB859D29D2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5">
            <a:extLst>
              <a:ext uri="{FF2B5EF4-FFF2-40B4-BE49-F238E27FC236}">
                <a16:creationId xmlns:a16="http://schemas.microsoft.com/office/drawing/2014/main" id="{5AF9C814-9001-A7BE-8D60-3B44E75057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28675" name="Rectangle 1026">
            <a:extLst>
              <a:ext uri="{FF2B5EF4-FFF2-40B4-BE49-F238E27FC236}">
                <a16:creationId xmlns:a16="http://schemas.microsoft.com/office/drawing/2014/main" id="{30D12080-21E0-63CD-EAD1-A12E03402AE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5">
            <a:extLst>
              <a:ext uri="{FF2B5EF4-FFF2-40B4-BE49-F238E27FC236}">
                <a16:creationId xmlns:a16="http://schemas.microsoft.com/office/drawing/2014/main" id="{BFA92720-7B00-4DBF-3707-EAD0B8FD76B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30723" name="Rectangle 1026">
            <a:extLst>
              <a:ext uri="{FF2B5EF4-FFF2-40B4-BE49-F238E27FC236}">
                <a16:creationId xmlns:a16="http://schemas.microsoft.com/office/drawing/2014/main" id="{D1130694-7316-BD99-0772-EA1C49CA54AC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5">
            <a:extLst>
              <a:ext uri="{FF2B5EF4-FFF2-40B4-BE49-F238E27FC236}">
                <a16:creationId xmlns:a16="http://schemas.microsoft.com/office/drawing/2014/main" id="{088894A3-A08F-2129-99EA-E03AFAFC69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32771" name="Rectangle 1026">
            <a:extLst>
              <a:ext uri="{FF2B5EF4-FFF2-40B4-BE49-F238E27FC236}">
                <a16:creationId xmlns:a16="http://schemas.microsoft.com/office/drawing/2014/main" id="{EFC4EFC1-E565-FB03-741F-1BD55DD1C907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EC2B834F-3A6F-1F09-4CC3-D91D8D92BE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55B3B89-093F-D56F-A3F0-EE827876E5D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5">
            <a:extLst>
              <a:ext uri="{FF2B5EF4-FFF2-40B4-BE49-F238E27FC236}">
                <a16:creationId xmlns:a16="http://schemas.microsoft.com/office/drawing/2014/main" id="{60C2DA9E-7754-6286-230B-8A43EE83872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36867" name="Rectangle 1026">
            <a:extLst>
              <a:ext uri="{FF2B5EF4-FFF2-40B4-BE49-F238E27FC236}">
                <a16:creationId xmlns:a16="http://schemas.microsoft.com/office/drawing/2014/main" id="{26F15346-7DAC-A18F-1BC3-707E364F6DB8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5">
            <a:extLst>
              <a:ext uri="{FF2B5EF4-FFF2-40B4-BE49-F238E27FC236}">
                <a16:creationId xmlns:a16="http://schemas.microsoft.com/office/drawing/2014/main" id="{29AA1DBF-A47D-DDEF-D4A2-2452C1B8F0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38915" name="Rectangle 1026">
            <a:extLst>
              <a:ext uri="{FF2B5EF4-FFF2-40B4-BE49-F238E27FC236}">
                <a16:creationId xmlns:a16="http://schemas.microsoft.com/office/drawing/2014/main" id="{25B6E80A-57E8-0889-B514-749F605F559E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5">
            <a:extLst>
              <a:ext uri="{FF2B5EF4-FFF2-40B4-BE49-F238E27FC236}">
                <a16:creationId xmlns:a16="http://schemas.microsoft.com/office/drawing/2014/main" id="{67F44B3C-59E3-80E2-3B3B-94250B70A7D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40963" name="Rectangle 1026">
            <a:extLst>
              <a:ext uri="{FF2B5EF4-FFF2-40B4-BE49-F238E27FC236}">
                <a16:creationId xmlns:a16="http://schemas.microsoft.com/office/drawing/2014/main" id="{3243BAAD-A6A7-F29B-9ED7-8E1BD01A3C7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5">
            <a:extLst>
              <a:ext uri="{FF2B5EF4-FFF2-40B4-BE49-F238E27FC236}">
                <a16:creationId xmlns:a16="http://schemas.microsoft.com/office/drawing/2014/main" id="{19A1CA69-8DA0-89D3-0483-F25C7BC92C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43011" name="Rectangle 1026">
            <a:extLst>
              <a:ext uri="{FF2B5EF4-FFF2-40B4-BE49-F238E27FC236}">
                <a16:creationId xmlns:a16="http://schemas.microsoft.com/office/drawing/2014/main" id="{6F46FA8A-6151-B86C-C44E-C04501373C8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5">
            <a:extLst>
              <a:ext uri="{FF2B5EF4-FFF2-40B4-BE49-F238E27FC236}">
                <a16:creationId xmlns:a16="http://schemas.microsoft.com/office/drawing/2014/main" id="{C3938F25-4B54-54B4-C03B-0F019069E8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45059" name="Rectangle 1026">
            <a:extLst>
              <a:ext uri="{FF2B5EF4-FFF2-40B4-BE49-F238E27FC236}">
                <a16:creationId xmlns:a16="http://schemas.microsoft.com/office/drawing/2014/main" id="{103403C1-1236-76E2-28E8-96EB72D53A6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5">
            <a:extLst>
              <a:ext uri="{FF2B5EF4-FFF2-40B4-BE49-F238E27FC236}">
                <a16:creationId xmlns:a16="http://schemas.microsoft.com/office/drawing/2014/main" id="{EEA30147-A5F8-0A36-821E-1F195163211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47107" name="Rectangle 1026">
            <a:extLst>
              <a:ext uri="{FF2B5EF4-FFF2-40B4-BE49-F238E27FC236}">
                <a16:creationId xmlns:a16="http://schemas.microsoft.com/office/drawing/2014/main" id="{D6C82DEF-CD38-B14B-CBF1-DA6E12437970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>
            <a:extLst>
              <a:ext uri="{FF2B5EF4-FFF2-40B4-BE49-F238E27FC236}">
                <a16:creationId xmlns:a16="http://schemas.microsoft.com/office/drawing/2014/main" id="{A716FFA8-0D94-75C9-1D3F-2E1CB8C82D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E6E5C24-D565-AEA3-BF96-E50B4CAA657A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>
            <a:extLst>
              <a:ext uri="{FF2B5EF4-FFF2-40B4-BE49-F238E27FC236}">
                <a16:creationId xmlns:a16="http://schemas.microsoft.com/office/drawing/2014/main" id="{D46B9CCE-0C7D-E01B-2B61-E091368562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4F455E8-E86E-2636-39A6-86B445148700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>
            <a:extLst>
              <a:ext uri="{FF2B5EF4-FFF2-40B4-BE49-F238E27FC236}">
                <a16:creationId xmlns:a16="http://schemas.microsoft.com/office/drawing/2014/main" id="{73CBFDC3-E680-5508-AEE2-C165BDF77E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C993BCA-6E62-F1DF-FF54-229D9F13BA48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>
            <a:extLst>
              <a:ext uri="{FF2B5EF4-FFF2-40B4-BE49-F238E27FC236}">
                <a16:creationId xmlns:a16="http://schemas.microsoft.com/office/drawing/2014/main" id="{81E3B5BC-2FAF-75DA-63E4-15DEA13A6D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9C1F475C-E407-875A-1FCE-402D57606626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>
            <a:extLst>
              <a:ext uri="{FF2B5EF4-FFF2-40B4-BE49-F238E27FC236}">
                <a16:creationId xmlns:a16="http://schemas.microsoft.com/office/drawing/2014/main" id="{F59A48AE-78A9-6B4A-5552-72DE88AFFFE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767268CB-F2BB-9DBA-7ADA-123C3F21CE4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>
            <a:extLst>
              <a:ext uri="{FF2B5EF4-FFF2-40B4-BE49-F238E27FC236}">
                <a16:creationId xmlns:a16="http://schemas.microsoft.com/office/drawing/2014/main" id="{8E234A50-86AB-C7E7-0F5D-FA68B0D7EC1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03B65F7-E369-6912-4762-61A9B2ECC91B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">
            <a:extLst>
              <a:ext uri="{FF2B5EF4-FFF2-40B4-BE49-F238E27FC236}">
                <a16:creationId xmlns:a16="http://schemas.microsoft.com/office/drawing/2014/main" id="{0B5AD241-E397-CE6A-6562-7B1D8E6FFE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6EB8D0D-7232-E668-6E73-ECEA249D875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">
            <a:extLst>
              <a:ext uri="{FF2B5EF4-FFF2-40B4-BE49-F238E27FC236}">
                <a16:creationId xmlns:a16="http://schemas.microsoft.com/office/drawing/2014/main" id="{CF9BD89B-6C73-F5C0-B2EC-A586DC79FA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A475D2B-0DB1-059C-DABC-BFAA3FE5D3EE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>
            <a:extLst>
              <a:ext uri="{FF2B5EF4-FFF2-40B4-BE49-F238E27FC236}">
                <a16:creationId xmlns:a16="http://schemas.microsoft.com/office/drawing/2014/main" id="{F56135C7-AD29-37DB-263B-18CC224A13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18BA318E-DA2D-1339-D965-DF93E046A52C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>
            <a:extLst>
              <a:ext uri="{FF2B5EF4-FFF2-40B4-BE49-F238E27FC236}">
                <a16:creationId xmlns:a16="http://schemas.microsoft.com/office/drawing/2014/main" id="{3DC2BFB5-C7A7-A8E0-5199-97113674418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390C5A8-BD6C-BB13-2C06-38B93B4E1AF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>
            <a:extLst>
              <a:ext uri="{FF2B5EF4-FFF2-40B4-BE49-F238E27FC236}">
                <a16:creationId xmlns:a16="http://schemas.microsoft.com/office/drawing/2014/main" id="{10992FE7-9853-D969-A04C-F07CD0CCD5D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9DE31B49-06D4-B925-B705-7003A75B9978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>
            <a:extLst>
              <a:ext uri="{FF2B5EF4-FFF2-40B4-BE49-F238E27FC236}">
                <a16:creationId xmlns:a16="http://schemas.microsoft.com/office/drawing/2014/main" id="{AE256323-B239-9D79-4317-C5E9C0E0D8E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F41E97F-EB86-8757-C0A4-4A282597593B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>
            <a:extLst>
              <a:ext uri="{FF2B5EF4-FFF2-40B4-BE49-F238E27FC236}">
                <a16:creationId xmlns:a16="http://schemas.microsoft.com/office/drawing/2014/main" id="{A13077F3-F8C7-CA6E-4127-DAC7FDB079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3328FFDA-8882-6B8B-8C8F-8ACF8E90C536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>
            <a:extLst>
              <a:ext uri="{FF2B5EF4-FFF2-40B4-BE49-F238E27FC236}">
                <a16:creationId xmlns:a16="http://schemas.microsoft.com/office/drawing/2014/main" id="{5E6E7498-A2D1-C106-173B-3E6D801B67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B25D06FD-E0B5-9A02-00C6-6BBA93A6AF8B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>
            <a:extLst>
              <a:ext uri="{FF2B5EF4-FFF2-40B4-BE49-F238E27FC236}">
                <a16:creationId xmlns:a16="http://schemas.microsoft.com/office/drawing/2014/main" id="{7428634B-DAAA-D3FE-ABB5-E26CF8E5245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416D5505-CBC8-028B-1F5F-21325205F3B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">
            <a:extLst>
              <a:ext uri="{FF2B5EF4-FFF2-40B4-BE49-F238E27FC236}">
                <a16:creationId xmlns:a16="http://schemas.microsoft.com/office/drawing/2014/main" id="{FE7D8588-9EE5-647C-64C2-D70DBA6F4A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00C97046-3613-A0F9-BBC3-C7ADB443B6F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">
            <a:extLst>
              <a:ext uri="{FF2B5EF4-FFF2-40B4-BE49-F238E27FC236}">
                <a16:creationId xmlns:a16="http://schemas.microsoft.com/office/drawing/2014/main" id="{78CE94DA-C70F-5E0A-554C-06569EDC840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2F888A3B-98A3-8A07-4AC5-E07D05F8F1B3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">
            <a:extLst>
              <a:ext uri="{FF2B5EF4-FFF2-40B4-BE49-F238E27FC236}">
                <a16:creationId xmlns:a16="http://schemas.microsoft.com/office/drawing/2014/main" id="{B27F2F05-CC1B-4C3B-0FF3-F38524BF3A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-600075" y="0"/>
            <a:ext cx="4800600" cy="3600450"/>
          </a:xfrm>
          <a:ln/>
        </p:spPr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FBED824C-683C-CD34-54A7-30AD34ECD103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10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18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095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4213" cy="3502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5715000"/>
            <a:ext cx="4495800" cy="3502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16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45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53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45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892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220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31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9217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9217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75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1">
            <a:extLst>
              <a:ext uri="{FF2B5EF4-FFF2-40B4-BE49-F238E27FC236}">
                <a16:creationId xmlns:a16="http://schemas.microsoft.com/office/drawing/2014/main" id="{55085E8E-02BD-85BD-485F-42005286E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>
              <a:defRPr/>
            </a:pPr>
            <a:endParaRPr lang="en-IN" altLang="en-US"/>
          </a:p>
        </p:txBody>
      </p:sp>
      <p:sp>
        <p:nvSpPr>
          <p:cNvPr id="1027" name="Text Box 2">
            <a:extLst>
              <a:ext uri="{FF2B5EF4-FFF2-40B4-BE49-F238E27FC236}">
                <a16:creationId xmlns:a16="http://schemas.microsoft.com/office/drawing/2014/main" id="{9FEFE1F2-0CBD-27FF-A78A-72F16AFEA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>
              <a:defRPr/>
            </a:pPr>
            <a:endParaRPr lang="en-IN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5E548077-E57D-4B17-7ECD-300F22D80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2413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F00EFA5B-2E9F-2F8E-C3BB-9E5A08A93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2413" cy="350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FF0000"/>
        </a:buClr>
        <a:buSzPct val="100000"/>
        <a:buFont typeface="Times New Roman" panose="02020603050405020304" pitchFamily="18" charset="0"/>
        <a:defRPr sz="4400" kern="1200">
          <a:solidFill>
            <a:srgbClr val="FF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FF0000"/>
        </a:buClr>
        <a:buSzPct val="100000"/>
        <a:buFont typeface="Times New Roman" panose="02020603050405020304" pitchFamily="18" charset="0"/>
        <a:defRPr sz="4400">
          <a:solidFill>
            <a:srgbClr val="FF0000"/>
          </a:solidFill>
          <a:latin typeface="Times New Roman" panose="02020603050405020304" pitchFamily="18" charset="0"/>
          <a:ea typeface="Gothic" charset="0"/>
          <a:cs typeface="Gothic" charset="0"/>
        </a:defRPr>
      </a:lvl2pPr>
      <a:lvl3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FF0000"/>
        </a:buClr>
        <a:buSzPct val="100000"/>
        <a:buFont typeface="Times New Roman" panose="02020603050405020304" pitchFamily="18" charset="0"/>
        <a:defRPr sz="4400">
          <a:solidFill>
            <a:srgbClr val="FF0000"/>
          </a:solidFill>
          <a:latin typeface="Times New Roman" panose="02020603050405020304" pitchFamily="18" charset="0"/>
          <a:ea typeface="Gothic" charset="0"/>
          <a:cs typeface="Gothic" charset="0"/>
        </a:defRPr>
      </a:lvl3pPr>
      <a:lvl4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FF0000"/>
        </a:buClr>
        <a:buSzPct val="100000"/>
        <a:buFont typeface="Times New Roman" panose="02020603050405020304" pitchFamily="18" charset="0"/>
        <a:defRPr sz="4400">
          <a:solidFill>
            <a:srgbClr val="FF0000"/>
          </a:solidFill>
          <a:latin typeface="Times New Roman" panose="02020603050405020304" pitchFamily="18" charset="0"/>
          <a:ea typeface="Gothic" charset="0"/>
          <a:cs typeface="Gothic" charset="0"/>
        </a:defRPr>
      </a:lvl4pPr>
      <a:lvl5pPr algn="ctr" defTabSz="457200" rtl="0" eaLnBrk="0" fontAlgn="base" hangingPunct="0">
        <a:lnSpc>
          <a:spcPct val="91000"/>
        </a:lnSpc>
        <a:spcBef>
          <a:spcPct val="0"/>
        </a:spcBef>
        <a:spcAft>
          <a:spcPct val="0"/>
        </a:spcAft>
        <a:buClr>
          <a:srgbClr val="FF0000"/>
        </a:buClr>
        <a:buSzPct val="100000"/>
        <a:buFont typeface="Times New Roman" panose="02020603050405020304" pitchFamily="18" charset="0"/>
        <a:defRPr sz="4400">
          <a:solidFill>
            <a:srgbClr val="FF0000"/>
          </a:solidFill>
          <a:latin typeface="Times New Roman" panose="02020603050405020304" pitchFamily="18" charset="0"/>
          <a:ea typeface="Gothic" charset="0"/>
          <a:cs typeface="Gothic" charset="0"/>
        </a:defRPr>
      </a:lvl5pPr>
      <a:lvl6pPr marL="1536700" indent="-2159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anose="02020603050405020304" pitchFamily="18" charset="0"/>
          <a:ea typeface="Gothic" charset="0"/>
          <a:cs typeface="Gothic" charset="0"/>
        </a:defRPr>
      </a:lvl6pPr>
      <a:lvl7pPr marL="1993900" indent="-2159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anose="02020603050405020304" pitchFamily="18" charset="0"/>
          <a:ea typeface="Gothic" charset="0"/>
          <a:cs typeface="Gothic" charset="0"/>
        </a:defRPr>
      </a:lvl7pPr>
      <a:lvl8pPr marL="2451100" indent="-2159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anose="02020603050405020304" pitchFamily="18" charset="0"/>
          <a:ea typeface="Gothic" charset="0"/>
          <a:cs typeface="Gothic" charset="0"/>
        </a:defRPr>
      </a:lvl8pPr>
      <a:lvl9pPr marL="2908300" indent="-2159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400">
          <a:solidFill>
            <a:srgbClr val="000000"/>
          </a:solidFill>
          <a:latin typeface="Times New Roman" panose="02020603050405020304" pitchFamily="18" charset="0"/>
          <a:ea typeface="Gothic" charset="0"/>
          <a:cs typeface="Gothic" charset="0"/>
        </a:defRPr>
      </a:lvl9pPr>
    </p:titleStyle>
    <p:bodyStyle>
      <a:lvl1pPr marL="608013" indent="-608013" algn="l" defTabSz="457200" rtl="0" eaLnBrk="0" fontAlgn="base" hangingPunct="0">
        <a:lnSpc>
          <a:spcPct val="91000"/>
        </a:lnSpc>
        <a:spcBef>
          <a:spcPts val="600"/>
        </a:spcBef>
        <a:spcAft>
          <a:spcPct val="0"/>
        </a:spcAft>
        <a:buClr>
          <a:srgbClr val="3333CC"/>
        </a:buClr>
        <a:buSzPct val="100000"/>
        <a:buFont typeface="StarSymbol" charset="0"/>
        <a:buAutoNum type="alphaLcParenR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989013" indent="-531813" algn="l" defTabSz="457200" rtl="0" eaLnBrk="0" fontAlgn="base" hangingPunct="0">
        <a:lnSpc>
          <a:spcPct val="91000"/>
        </a:lnSpc>
        <a:spcBef>
          <a:spcPts val="500"/>
        </a:spcBef>
        <a:spcAft>
          <a:spcPct val="0"/>
        </a:spcAft>
        <a:buClr>
          <a:srgbClr val="3333CC"/>
        </a:buClr>
        <a:buSzPct val="100000"/>
        <a:buFont typeface="Times New Roman" panose="02020603050405020304" pitchFamily="18" charset="0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371600" indent="-457200" algn="l" defTabSz="457200" rtl="0" eaLnBrk="0" fontAlgn="base" hangingPunct="0">
        <a:lnSpc>
          <a:spcPct val="91000"/>
        </a:lnSpc>
        <a:spcBef>
          <a:spcPts val="600"/>
        </a:spcBef>
        <a:spcAft>
          <a:spcPct val="0"/>
        </a:spcAft>
        <a:buClr>
          <a:srgbClr val="3333CC"/>
        </a:buClr>
        <a:buSzPct val="100000"/>
        <a:buFont typeface="Times New Roman" panose="02020603050405020304" pitchFamily="18" charset="0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751013" indent="-379413" algn="l" defTabSz="457200" rtl="0" eaLnBrk="0" fontAlgn="base" hangingPunct="0">
        <a:lnSpc>
          <a:spcPct val="91000"/>
        </a:lnSpc>
        <a:spcBef>
          <a:spcPts val="500"/>
        </a:spcBef>
        <a:spcAft>
          <a:spcPct val="0"/>
        </a:spcAft>
        <a:buClr>
          <a:srgbClr val="3333CC"/>
        </a:buClr>
        <a:buSzPct val="100000"/>
        <a:buFont typeface="Times New Roman" panose="02020603050405020304" pitchFamily="18" charset="0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208213" indent="-379413" algn="l" defTabSz="457200" rtl="0" eaLnBrk="0" fontAlgn="base" hangingPunct="0">
        <a:lnSpc>
          <a:spcPct val="91000"/>
        </a:lnSpc>
        <a:spcBef>
          <a:spcPts val="500"/>
        </a:spcBef>
        <a:spcAft>
          <a:spcPct val="0"/>
        </a:spcAft>
        <a:buClr>
          <a:srgbClr val="3333CC"/>
        </a:buClr>
        <a:buSzPct val="100000"/>
        <a:buFont typeface="Times New Roman" panose="02020603050405020304" pitchFamily="18" charset="0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>
            <a:extLst>
              <a:ext uri="{FF2B5EF4-FFF2-40B4-BE49-F238E27FC236}">
                <a16:creationId xmlns:a16="http://schemas.microsoft.com/office/drawing/2014/main" id="{F49AD9E4-45C3-9610-3119-F71997AC1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2413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The TCP Segment Header</a:t>
            </a:r>
          </a:p>
        </p:txBody>
      </p:sp>
      <p:sp>
        <p:nvSpPr>
          <p:cNvPr id="3075" name="Rectangle 1027">
            <a:extLst>
              <a:ext uri="{FF2B5EF4-FFF2-40B4-BE49-F238E27FC236}">
                <a16:creationId xmlns:a16="http://schemas.microsoft.com/office/drawing/2014/main" id="{A13DAFBE-805F-B1AC-8FAB-D62206782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638800"/>
            <a:ext cx="9144000" cy="106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/>
              <a:t>TCP header length in 32 bit words, 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URG-urgent, ACK- ack number is valid, PSH-push, RST-reset connection, 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SYN-used to establish connection, FIN-used to release connection</a:t>
            </a:r>
          </a:p>
        </p:txBody>
      </p:sp>
      <p:pic>
        <p:nvPicPr>
          <p:cNvPr id="3076" name="Picture 1029" descr="6-29">
            <a:extLst>
              <a:ext uri="{FF2B5EF4-FFF2-40B4-BE49-F238E27FC236}">
                <a16:creationId xmlns:a16="http://schemas.microsoft.com/office/drawing/2014/main" id="{FD15E90F-179D-4C95-4994-9E8253F71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85800"/>
            <a:ext cx="7718425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C6D56EC8-8F08-9713-81E2-25D3C2EAF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The TCP Segment Header (2)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B643F063-274D-C134-2E8C-6B4836353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715000"/>
            <a:ext cx="9144000" cy="83820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93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The pseudoheader (part of the IP header) included in the TCP checksum.</a:t>
            </a:r>
          </a:p>
        </p:txBody>
      </p:sp>
      <p:pic>
        <p:nvPicPr>
          <p:cNvPr id="4100" name="Picture 3">
            <a:extLst>
              <a:ext uri="{FF2B5EF4-FFF2-40B4-BE49-F238E27FC236}">
                <a16:creationId xmlns:a16="http://schemas.microsoft.com/office/drawing/2014/main" id="{3C09588F-5980-E5BD-820E-7B3BCCB68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214563"/>
            <a:ext cx="8139113" cy="247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4003541C-42A1-DFC5-415A-B98D48729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Options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4DCD4725-46A8-0D06-D429-659B0BB46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97025"/>
            <a:ext cx="7707313" cy="457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Some TCP options are: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b="1">
                <a:solidFill>
                  <a:schemeClr val="tx1"/>
                </a:solidFill>
              </a:rPr>
              <a:t>Maximum segment size (MSS)</a:t>
            </a:r>
            <a:r>
              <a:rPr lang="en-GB" altLang="en-US" sz="2400">
                <a:solidFill>
                  <a:schemeClr val="tx1"/>
                </a:solidFill>
              </a:rPr>
              <a:t>: Specified what is the payload the sender is able to receive. (Default MSS = 536 bytes, i.e., Segment size = MSS + 20). SMSS/RMSS is Sender/Receiver MSS.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b="1">
                <a:solidFill>
                  <a:schemeClr val="tx1"/>
                </a:solidFill>
              </a:rPr>
              <a:t>Window scale</a:t>
            </a:r>
            <a:r>
              <a:rPr lang="en-GB" altLang="en-US" sz="2400">
                <a:solidFill>
                  <a:schemeClr val="tx1"/>
                </a:solidFill>
              </a:rPr>
              <a:t>: The window size field allows for upto 2^16 bytes of data. But this might be inefficient for high bw x delay situations. This options TCP indicate a scaling factor.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b="1">
                <a:solidFill>
                  <a:schemeClr val="tx1"/>
                </a:solidFill>
              </a:rPr>
              <a:t>Negative acknowledgement</a:t>
            </a:r>
            <a:r>
              <a:rPr lang="en-GB" altLang="en-US" sz="2400">
                <a:solidFill>
                  <a:schemeClr val="tx1"/>
                </a:solidFill>
              </a:rPr>
              <a:t>: Lets receiver user NAKs to get realize selective repeat rather than the normal go-back-N TCP behaviour.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D205307B-2B03-EA83-BDDE-E0D4F44209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Connection Establishment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C454269-76FC-0E65-5D2F-292AA3409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4605338"/>
            <a:ext cx="8434388" cy="868362"/>
          </a:xfrm>
        </p:spPr>
        <p:txBody>
          <a:bodyPr lIns="90000" tIns="46800" rIns="90000" bIns="46800"/>
          <a:lstStyle/>
          <a:p>
            <a:pPr eaLnBrk="1" hangingPunct="1">
              <a:lnSpc>
                <a:spcPct val="81000"/>
              </a:lnSpc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(a)</a:t>
            </a:r>
            <a:r>
              <a:rPr lang="en-GB" altLang="en-US"/>
              <a:t> TCP connection establishment in the normal case.</a:t>
            </a:r>
          </a:p>
          <a:p>
            <a:pPr eaLnBrk="1" hangingPunct="1">
              <a:lnSpc>
                <a:spcPct val="81000"/>
              </a:lnSpc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(b)</a:t>
            </a:r>
            <a:r>
              <a:rPr lang="en-GB" altLang="en-US"/>
              <a:t> Call collision.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97429DF3-FE66-E618-1972-9F174E1DD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3068638"/>
            <a:ext cx="9509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lnSpc>
                <a:spcPct val="93000"/>
              </a:lnSpc>
              <a:spcBef>
                <a:spcPts val="1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6-31</a:t>
            </a:r>
          </a:p>
        </p:txBody>
      </p:sp>
      <p:pic>
        <p:nvPicPr>
          <p:cNvPr id="8197" name="Picture 4">
            <a:extLst>
              <a:ext uri="{FF2B5EF4-FFF2-40B4-BE49-F238E27FC236}">
                <a16:creationId xmlns:a16="http://schemas.microsoft.com/office/drawing/2014/main" id="{573437B0-6B32-C721-6A1F-20C8A2257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1057275"/>
            <a:ext cx="6577013" cy="340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 Box 5">
            <a:extLst>
              <a:ext uri="{FF2B5EF4-FFF2-40B4-BE49-F238E27FC236}">
                <a16:creationId xmlns:a16="http://schemas.microsoft.com/office/drawing/2014/main" id="{CB8D4C29-02C3-4B91-0452-37B437826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5568950"/>
            <a:ext cx="8689975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Initial sequence numbers are not 0. TCP uses a clock tick counter (at 4 usecs rate) to setup the initial sequence numbers. This scheme prevents delayed duplicates.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A7B07F25-C018-282B-4CA4-00900577B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Connection Establishment</a:t>
            </a:r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4381D631-4126-ACCA-DB7F-9F262E0CC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1363663"/>
            <a:ext cx="7488238" cy="45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Each side releases the connection independently.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If A send a FIN to B and B ACKs that FIN. It only means no data will flow from A to B. Data can still flow from B to A indefinitely.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In all 4 messages are required to completely release the connection. A FIN and ACK for each side. However, the second FIN and the first ACK can be combined for 3 messages.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TCP avoids the Two-Army problem in connection release using timers. If the FIN is not ACKed within within a fixed time, the connection is released.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642BC999-C57B-4B95-A47A-418ED824E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4000"/>
              <a:t>TCP Connection Management Modeling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EB948E0-81D7-753B-F055-E5D6CFC34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715000"/>
            <a:ext cx="9144000" cy="83820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93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The states used in the TCP connection management finite state machine.</a:t>
            </a:r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D2BB7212-B92E-3767-903E-49082B8D9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479550"/>
            <a:ext cx="6272213" cy="38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997EB268-EAFC-369E-D6D2-5E31FDAB3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600"/>
              <a:t>TCP Connection Management Modeling (2)</a:t>
            </a:r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AC31D202-74F5-7AEC-5405-BFF39A6FB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1492250"/>
            <a:ext cx="272415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ts val="1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chemeClr val="tx1"/>
                </a:solidFill>
              </a:rPr>
              <a:t>TCP connection management finite state machine.  The heavy solid line is the normal path for a client.  The heavy dashed line is the normal path for a server.  The light lines are unusual events.  Each transition is labeled by the event causing it and the action resulting from it, separated by a slash.</a:t>
            </a:r>
          </a:p>
        </p:txBody>
      </p:sp>
      <p:pic>
        <p:nvPicPr>
          <p:cNvPr id="14340" name="Picture 3">
            <a:extLst>
              <a:ext uri="{FF2B5EF4-FFF2-40B4-BE49-F238E27FC236}">
                <a16:creationId xmlns:a16="http://schemas.microsoft.com/office/drawing/2014/main" id="{E335DCAF-0833-0D25-1E5E-80AAE3CDA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863600"/>
            <a:ext cx="5535613" cy="574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44E60D2-23A8-F335-7776-89EB4C127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219200"/>
            <a:ext cx="6934200" cy="3505200"/>
          </a:xfrm>
        </p:spPr>
        <p:txBody>
          <a:bodyPr/>
          <a:lstStyle/>
          <a:p>
            <a:pPr eaLnBrk="1" hangingPunct="1"/>
            <a:r>
              <a:rPr lang="en-GB" altLang="en-US"/>
              <a:t>TCP Transmission Policy</a:t>
            </a:r>
            <a:br>
              <a:rPr lang="en-GB" altLang="en-US"/>
            </a:br>
            <a:r>
              <a:rPr lang="en-US" altLang="en-US" sz="8000"/>
              <a:t> </a:t>
            </a:r>
            <a:r>
              <a:rPr lang="en-US" altLang="en-US" sz="3600"/>
              <a:t>Window Management in TCP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248D8F2-D93F-4F03-61CF-F19B32954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"/>
            <a:ext cx="1752600" cy="6400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Sender</a:t>
            </a:r>
          </a:p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1571CF9-97B2-EAC8-8586-6F1913D95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52400"/>
            <a:ext cx="1905000" cy="6477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Receiver</a:t>
            </a:r>
          </a:p>
        </p:txBody>
      </p:sp>
      <p:sp>
        <p:nvSpPr>
          <p:cNvPr id="80900" name="Text Box 4">
            <a:extLst>
              <a:ext uri="{FF2B5EF4-FFF2-40B4-BE49-F238E27FC236}">
                <a16:creationId xmlns:a16="http://schemas.microsoft.com/office/drawing/2014/main" id="{765A697D-EF1B-EE10-095F-C8A251644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257800"/>
            <a:ext cx="4800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The senders application performs a 2K write to the receivers buffer, which is now half full.</a:t>
            </a:r>
          </a:p>
        </p:txBody>
      </p:sp>
      <p:grpSp>
        <p:nvGrpSpPr>
          <p:cNvPr id="80901" name="Group 5">
            <a:extLst>
              <a:ext uri="{FF2B5EF4-FFF2-40B4-BE49-F238E27FC236}">
                <a16:creationId xmlns:a16="http://schemas.microsoft.com/office/drawing/2014/main" id="{55133B8C-988A-92A9-31C4-115B6490DA9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235075"/>
            <a:ext cx="6629400" cy="533400"/>
            <a:chOff x="240" y="778"/>
            <a:chExt cx="4176" cy="336"/>
          </a:xfrm>
        </p:grpSpPr>
        <p:sp>
          <p:nvSpPr>
            <p:cNvPr id="17420" name="Line 6">
              <a:extLst>
                <a:ext uri="{FF2B5EF4-FFF2-40B4-BE49-F238E27FC236}">
                  <a16:creationId xmlns:a16="http://schemas.microsoft.com/office/drawing/2014/main" id="{4B2D5AAC-92C7-052C-D309-1AF0E1737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922"/>
              <a:ext cx="312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Rectangle 7">
              <a:extLst>
                <a:ext uri="{FF2B5EF4-FFF2-40B4-BE49-F238E27FC236}">
                  <a16:creationId xmlns:a16="http://schemas.microsoft.com/office/drawing/2014/main" id="{25FE475F-15B7-2B92-4441-B6C71E470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874"/>
              <a:ext cx="72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SEQ=0</a:t>
              </a:r>
            </a:p>
          </p:txBody>
        </p:sp>
        <p:sp>
          <p:nvSpPr>
            <p:cNvPr id="17422" name="Rectangle 8">
              <a:extLst>
                <a:ext uri="{FF2B5EF4-FFF2-40B4-BE49-F238E27FC236}">
                  <a16:creationId xmlns:a16="http://schemas.microsoft.com/office/drawing/2014/main" id="{D2692EB9-37B5-7935-D187-6976AA9AD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874"/>
              <a:ext cx="336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2K</a:t>
              </a:r>
            </a:p>
          </p:txBody>
        </p:sp>
        <p:sp>
          <p:nvSpPr>
            <p:cNvPr id="17423" name="Text Box 9">
              <a:extLst>
                <a:ext uri="{FF2B5EF4-FFF2-40B4-BE49-F238E27FC236}">
                  <a16:creationId xmlns:a16="http://schemas.microsoft.com/office/drawing/2014/main" id="{32315786-CF36-E8FB-74BE-CAD62D4E4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778"/>
              <a:ext cx="86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400">
                  <a:solidFill>
                    <a:schemeClr val="bg2"/>
                  </a:solidFill>
                </a:rPr>
                <a:t>Application does a 2K write</a:t>
              </a:r>
            </a:p>
          </p:txBody>
        </p:sp>
        <p:sp>
          <p:nvSpPr>
            <p:cNvPr id="17424" name="Line 10">
              <a:extLst>
                <a:ext uri="{FF2B5EF4-FFF2-40B4-BE49-F238E27FC236}">
                  <a16:creationId xmlns:a16="http://schemas.microsoft.com/office/drawing/2014/main" id="{A542AEE9-39DC-CA0C-28B1-5CDCE49A7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922"/>
              <a:ext cx="240" cy="9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14" name="Rectangle 11">
            <a:extLst>
              <a:ext uri="{FF2B5EF4-FFF2-40B4-BE49-F238E27FC236}">
                <a16:creationId xmlns:a16="http://schemas.microsoft.com/office/drawing/2014/main" id="{E339F523-4193-D0CB-52A6-EA256B467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838200"/>
            <a:ext cx="1600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17415" name="Text Box 12">
            <a:extLst>
              <a:ext uri="{FF2B5EF4-FFF2-40B4-BE49-F238E27FC236}">
                <a16:creationId xmlns:a16="http://schemas.microsoft.com/office/drawing/2014/main" id="{3CAA1F18-3908-1482-0006-AA79E8634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7416" name="Text Box 13">
            <a:extLst>
              <a:ext uri="{FF2B5EF4-FFF2-40B4-BE49-F238E27FC236}">
                <a16:creationId xmlns:a16="http://schemas.microsoft.com/office/drawing/2014/main" id="{229B5E6B-7EE4-BD50-7B60-40210AB22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3340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4K</a:t>
            </a:r>
          </a:p>
        </p:txBody>
      </p:sp>
      <p:grpSp>
        <p:nvGrpSpPr>
          <p:cNvPr id="80910" name="Group 14">
            <a:extLst>
              <a:ext uri="{FF2B5EF4-FFF2-40B4-BE49-F238E27FC236}">
                <a16:creationId xmlns:a16="http://schemas.microsoft.com/office/drawing/2014/main" id="{38F1C2FE-D4B3-81C4-489D-34F05963019A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1447800"/>
            <a:ext cx="1600200" cy="457200"/>
            <a:chOff x="4512" y="912"/>
            <a:chExt cx="1008" cy="288"/>
          </a:xfrm>
        </p:grpSpPr>
        <p:sp>
          <p:nvSpPr>
            <p:cNvPr id="17418" name="Rectangle 15">
              <a:extLst>
                <a:ext uri="{FF2B5EF4-FFF2-40B4-BE49-F238E27FC236}">
                  <a16:creationId xmlns:a16="http://schemas.microsoft.com/office/drawing/2014/main" id="{F1A57240-9212-186F-C7A3-A3F6EFD04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912"/>
              <a:ext cx="480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7419" name="Rectangle 16">
              <a:extLst>
                <a:ext uri="{FF2B5EF4-FFF2-40B4-BE49-F238E27FC236}">
                  <a16:creationId xmlns:a16="http://schemas.microsoft.com/office/drawing/2014/main" id="{58949BB1-BFB3-B687-48BD-283051C3C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12"/>
              <a:ext cx="528" cy="288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 sz="2400">
                  <a:solidFill>
                    <a:schemeClr val="tx1"/>
                  </a:solidFill>
                </a:rPr>
                <a:t>2K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C24B92E-197E-6442-1CFC-0F8365BA4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"/>
            <a:ext cx="1752600" cy="6400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Sender</a:t>
            </a:r>
          </a:p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FEB14ED-7796-3AFF-7F37-52EB6EFB5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52400"/>
            <a:ext cx="1905000" cy="6477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Receiver</a:t>
            </a:r>
          </a:p>
        </p:txBody>
      </p:sp>
      <p:sp>
        <p:nvSpPr>
          <p:cNvPr id="18436" name="Line 4">
            <a:extLst>
              <a:ext uri="{FF2B5EF4-FFF2-40B4-BE49-F238E27FC236}">
                <a16:creationId xmlns:a16="http://schemas.microsoft.com/office/drawing/2014/main" id="{E4684908-51DE-7483-4A83-D5FDB86C7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463675"/>
            <a:ext cx="495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7F498630-8571-6357-D2A2-57E322C4D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87475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SEQ=0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ECCD7E9D-7298-3038-87D4-6F089D2E4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387475"/>
            <a:ext cx="533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2K</a:t>
            </a:r>
          </a:p>
        </p:txBody>
      </p:sp>
      <p:grpSp>
        <p:nvGrpSpPr>
          <p:cNvPr id="81927" name="Group 7">
            <a:extLst>
              <a:ext uri="{FF2B5EF4-FFF2-40B4-BE49-F238E27FC236}">
                <a16:creationId xmlns:a16="http://schemas.microsoft.com/office/drawing/2014/main" id="{F9AEEEFB-B201-4012-5567-4411B97B11B6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997075"/>
            <a:ext cx="4953000" cy="381000"/>
            <a:chOff x="1296" y="1258"/>
            <a:chExt cx="3120" cy="240"/>
          </a:xfrm>
        </p:grpSpPr>
        <p:sp>
          <p:nvSpPr>
            <p:cNvPr id="18448" name="Line 8">
              <a:extLst>
                <a:ext uri="{FF2B5EF4-FFF2-40B4-BE49-F238E27FC236}">
                  <a16:creationId xmlns:a16="http://schemas.microsoft.com/office/drawing/2014/main" id="{96425C6E-654D-89EB-18F9-8AB4830A2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258"/>
              <a:ext cx="312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Rectangle 9">
              <a:extLst>
                <a:ext uri="{FF2B5EF4-FFF2-40B4-BE49-F238E27FC236}">
                  <a16:creationId xmlns:a16="http://schemas.microsoft.com/office/drawing/2014/main" id="{1F271DA2-B0C8-8706-EFF4-B0D089FF6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258"/>
              <a:ext cx="144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ACK=2048 WIN=2048</a:t>
              </a:r>
            </a:p>
          </p:txBody>
        </p:sp>
      </p:grpSp>
      <p:sp>
        <p:nvSpPr>
          <p:cNvPr id="18440" name="Text Box 10">
            <a:extLst>
              <a:ext uri="{FF2B5EF4-FFF2-40B4-BE49-F238E27FC236}">
                <a16:creationId xmlns:a16="http://schemas.microsoft.com/office/drawing/2014/main" id="{AF1B9C14-4AD8-1677-1B00-CDA16FC40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350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Application does a 2K write</a:t>
            </a:r>
          </a:p>
        </p:txBody>
      </p:sp>
      <p:sp>
        <p:nvSpPr>
          <p:cNvPr id="18441" name="Line 11">
            <a:extLst>
              <a:ext uri="{FF2B5EF4-FFF2-40B4-BE49-F238E27FC236}">
                <a16:creationId xmlns:a16="http://schemas.microsoft.com/office/drawing/2014/main" id="{E5A8754A-E843-B22B-CFEB-EA5DDF818E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1463675"/>
            <a:ext cx="3810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2" name="Rectangle 12">
            <a:extLst>
              <a:ext uri="{FF2B5EF4-FFF2-40B4-BE49-F238E27FC236}">
                <a16:creationId xmlns:a16="http://schemas.microsoft.com/office/drawing/2014/main" id="{DB4347F7-E383-0525-3FB9-636F9C16C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838200"/>
            <a:ext cx="1600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18443" name="Text Box 13">
            <a:extLst>
              <a:ext uri="{FF2B5EF4-FFF2-40B4-BE49-F238E27FC236}">
                <a16:creationId xmlns:a16="http://schemas.microsoft.com/office/drawing/2014/main" id="{F874C298-C9AF-6D40-78B0-2D9E59F91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8444" name="Text Box 14">
            <a:extLst>
              <a:ext uri="{FF2B5EF4-FFF2-40B4-BE49-F238E27FC236}">
                <a16:creationId xmlns:a16="http://schemas.microsoft.com/office/drawing/2014/main" id="{400F7E2C-80FB-4E68-56F6-6416ED9F3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3340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4K</a:t>
            </a:r>
          </a:p>
        </p:txBody>
      </p:sp>
      <p:sp>
        <p:nvSpPr>
          <p:cNvPr id="18445" name="Rectangle 15">
            <a:extLst>
              <a:ext uri="{FF2B5EF4-FFF2-40B4-BE49-F238E27FC236}">
                <a16:creationId xmlns:a16="http://schemas.microsoft.com/office/drawing/2014/main" id="{71500783-EA32-4DB9-4E78-3C77BAE57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447800"/>
            <a:ext cx="7620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8446" name="Rectangle 16">
            <a:extLst>
              <a:ext uri="{FF2B5EF4-FFF2-40B4-BE49-F238E27FC236}">
                <a16:creationId xmlns:a16="http://schemas.microsoft.com/office/drawing/2014/main" id="{66CC54BE-1051-3058-02EF-6D579C872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447800"/>
            <a:ext cx="838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81937" name="Text Box 17">
            <a:extLst>
              <a:ext uri="{FF2B5EF4-FFF2-40B4-BE49-F238E27FC236}">
                <a16:creationId xmlns:a16="http://schemas.microsoft.com/office/drawing/2014/main" id="{F615CF68-3F2C-32B3-B32E-12C056D0E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257800"/>
            <a:ext cx="4800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The receiver acknowledges the first 2048 bytes and informs the sender that there is space in the buffer for 2048 bytes.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993968B-1BD0-DD1A-5BB0-B5881C32F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"/>
            <a:ext cx="1752600" cy="6400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Sender</a:t>
            </a:r>
          </a:p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85BE060-4AAE-0EB9-DB38-A94249B69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52400"/>
            <a:ext cx="1905000" cy="6477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Receiver</a:t>
            </a: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0F467D23-E831-F60A-747B-148E506DA5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463675"/>
            <a:ext cx="495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B152F9FE-D173-313A-40DF-89CF6A362D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1997075"/>
            <a:ext cx="49530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8D52D906-09CF-157A-2A1B-18E5AA03C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87475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SEQ=0</a:t>
            </a:r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16DB825C-0CEB-BE35-A296-BFC4A314D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387475"/>
            <a:ext cx="533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19464" name="Rectangle 8">
            <a:extLst>
              <a:ext uri="{FF2B5EF4-FFF2-40B4-BE49-F238E27FC236}">
                <a16:creationId xmlns:a16="http://schemas.microsoft.com/office/drawing/2014/main" id="{8A3D6F22-F886-3BC6-A954-60B1ABFB9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997075"/>
            <a:ext cx="2286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ACK=2048 WIN=2048</a:t>
            </a:r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71421815-A914-6E4F-9EE9-75285B8DA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350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Application does a 2K write</a:t>
            </a:r>
          </a:p>
        </p:txBody>
      </p:sp>
      <p:sp>
        <p:nvSpPr>
          <p:cNvPr id="19466" name="Line 10">
            <a:extLst>
              <a:ext uri="{FF2B5EF4-FFF2-40B4-BE49-F238E27FC236}">
                <a16:creationId xmlns:a16="http://schemas.microsoft.com/office/drawing/2014/main" id="{F9B6693B-0ADE-A570-A1D8-81CB5DD3B6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1463675"/>
            <a:ext cx="3810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955" name="Group 11">
            <a:extLst>
              <a:ext uri="{FF2B5EF4-FFF2-40B4-BE49-F238E27FC236}">
                <a16:creationId xmlns:a16="http://schemas.microsoft.com/office/drawing/2014/main" id="{FF5BF045-10CD-ED02-C331-67D1527C430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768475"/>
            <a:ext cx="6629400" cy="1143000"/>
            <a:chOff x="240" y="1114"/>
            <a:chExt cx="4176" cy="720"/>
          </a:xfrm>
        </p:grpSpPr>
        <p:sp>
          <p:nvSpPr>
            <p:cNvPr id="19475" name="Line 12">
              <a:extLst>
                <a:ext uri="{FF2B5EF4-FFF2-40B4-BE49-F238E27FC236}">
                  <a16:creationId xmlns:a16="http://schemas.microsoft.com/office/drawing/2014/main" id="{CE7489BE-DB3E-89AB-3F7E-494AA4CCA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642"/>
              <a:ext cx="312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6" name="Rectangle 13">
              <a:extLst>
                <a:ext uri="{FF2B5EF4-FFF2-40B4-BE49-F238E27FC236}">
                  <a16:creationId xmlns:a16="http://schemas.microsoft.com/office/drawing/2014/main" id="{E3F016B5-FA82-AA3F-84C4-DDC670633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594"/>
              <a:ext cx="72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SEQ=2048</a:t>
              </a:r>
            </a:p>
          </p:txBody>
        </p:sp>
        <p:sp>
          <p:nvSpPr>
            <p:cNvPr id="19477" name="Rectangle 14">
              <a:extLst>
                <a:ext uri="{FF2B5EF4-FFF2-40B4-BE49-F238E27FC236}">
                  <a16:creationId xmlns:a16="http://schemas.microsoft.com/office/drawing/2014/main" id="{F1ED138A-8699-4B45-FAC1-62178ACA2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594"/>
              <a:ext cx="336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2K</a:t>
              </a:r>
            </a:p>
          </p:txBody>
        </p:sp>
        <p:sp>
          <p:nvSpPr>
            <p:cNvPr id="19478" name="Text Box 15">
              <a:extLst>
                <a:ext uri="{FF2B5EF4-FFF2-40B4-BE49-F238E27FC236}">
                  <a16:creationId xmlns:a16="http://schemas.microsoft.com/office/drawing/2014/main" id="{8820B167-D5AF-2AFA-0FEF-F64FBB205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114"/>
              <a:ext cx="86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400">
                  <a:solidFill>
                    <a:schemeClr val="bg2"/>
                  </a:solidFill>
                </a:rPr>
                <a:t>Application does a 2K write</a:t>
              </a:r>
            </a:p>
          </p:txBody>
        </p:sp>
        <p:sp>
          <p:nvSpPr>
            <p:cNvPr id="19479" name="Line 16">
              <a:extLst>
                <a:ext uri="{FF2B5EF4-FFF2-40B4-BE49-F238E27FC236}">
                  <a16:creationId xmlns:a16="http://schemas.microsoft.com/office/drawing/2014/main" id="{D78E963E-2C68-43D5-D687-F7B236E03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354"/>
              <a:ext cx="240" cy="2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68" name="Rectangle 17">
            <a:extLst>
              <a:ext uri="{FF2B5EF4-FFF2-40B4-BE49-F238E27FC236}">
                <a16:creationId xmlns:a16="http://schemas.microsoft.com/office/drawing/2014/main" id="{163EFDCF-1730-9321-F960-08A2FB366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838200"/>
            <a:ext cx="1600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19469" name="Text Box 18">
            <a:extLst>
              <a:ext uri="{FF2B5EF4-FFF2-40B4-BE49-F238E27FC236}">
                <a16:creationId xmlns:a16="http://schemas.microsoft.com/office/drawing/2014/main" id="{4115205D-91D7-5168-6603-B39C4A645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9470" name="Text Box 19">
            <a:extLst>
              <a:ext uri="{FF2B5EF4-FFF2-40B4-BE49-F238E27FC236}">
                <a16:creationId xmlns:a16="http://schemas.microsoft.com/office/drawing/2014/main" id="{D48D531A-47D3-F498-FD89-650A9D8DB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3340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4K</a:t>
            </a:r>
          </a:p>
        </p:txBody>
      </p:sp>
      <p:sp>
        <p:nvSpPr>
          <p:cNvPr id="82964" name="Rectangle 20">
            <a:extLst>
              <a:ext uri="{FF2B5EF4-FFF2-40B4-BE49-F238E27FC236}">
                <a16:creationId xmlns:a16="http://schemas.microsoft.com/office/drawing/2014/main" id="{E1DA25B3-E41B-9CE2-EAC5-A6569F79B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667000"/>
            <a:ext cx="1600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Full</a:t>
            </a:r>
          </a:p>
        </p:txBody>
      </p:sp>
      <p:sp>
        <p:nvSpPr>
          <p:cNvPr id="19472" name="Rectangle 21">
            <a:extLst>
              <a:ext uri="{FF2B5EF4-FFF2-40B4-BE49-F238E27FC236}">
                <a16:creationId xmlns:a16="http://schemas.microsoft.com/office/drawing/2014/main" id="{FFC47150-3CFB-C836-33CC-358967EA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447800"/>
            <a:ext cx="7620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9473" name="Rectangle 22">
            <a:extLst>
              <a:ext uri="{FF2B5EF4-FFF2-40B4-BE49-F238E27FC236}">
                <a16:creationId xmlns:a16="http://schemas.microsoft.com/office/drawing/2014/main" id="{AC87556E-0F4E-03AC-788C-94FCC680B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447800"/>
            <a:ext cx="838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82967" name="Text Box 23">
            <a:extLst>
              <a:ext uri="{FF2B5EF4-FFF2-40B4-BE49-F238E27FC236}">
                <a16:creationId xmlns:a16="http://schemas.microsoft.com/office/drawing/2014/main" id="{6660F04D-F43C-44F7-89DC-6BE98AA3F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257800"/>
            <a:ext cx="4800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The sender’s application writes another 2K.  The receivers buffer is now full and the sender is blocked.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64" grpId="0" animBg="1" autoUpdateAnimBg="0"/>
      <p:bldP spid="8296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168F1F5-B6DF-440A-E0C6-C59285FEB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"/>
            <a:ext cx="1752600" cy="6400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Sender</a:t>
            </a:r>
          </a:p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437C1FD-168A-FA71-7355-8A2353820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52400"/>
            <a:ext cx="1905000" cy="6477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Receiver</a:t>
            </a:r>
          </a:p>
        </p:txBody>
      </p:sp>
      <p:sp>
        <p:nvSpPr>
          <p:cNvPr id="20484" name="Line 4">
            <a:extLst>
              <a:ext uri="{FF2B5EF4-FFF2-40B4-BE49-F238E27FC236}">
                <a16:creationId xmlns:a16="http://schemas.microsoft.com/office/drawing/2014/main" id="{30774C8E-5839-1184-4EFC-726FBB341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463675"/>
            <a:ext cx="495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Line 5">
            <a:extLst>
              <a:ext uri="{FF2B5EF4-FFF2-40B4-BE49-F238E27FC236}">
                <a16:creationId xmlns:a16="http://schemas.microsoft.com/office/drawing/2014/main" id="{A33A2922-6BB4-FA85-5A6C-0E25C62B87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1997075"/>
            <a:ext cx="49530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6">
            <a:extLst>
              <a:ext uri="{FF2B5EF4-FFF2-40B4-BE49-F238E27FC236}">
                <a16:creationId xmlns:a16="http://schemas.microsoft.com/office/drawing/2014/main" id="{02352A16-6C79-EF1D-E671-904D6F784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606675"/>
            <a:ext cx="495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51D1EBF3-0CA1-9858-D8DE-1D1132D22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87475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SEQ=0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1DC967DF-EF68-6E12-A211-EA9F2E461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387475"/>
            <a:ext cx="533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A4EC6FF8-B19A-C73C-019A-783BFB90B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997075"/>
            <a:ext cx="2286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ACK=2048 WIN=2048</a:t>
            </a: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8C2528B8-11CC-D9D7-563A-8726B6DEC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530475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SEQ=2048</a:t>
            </a:r>
          </a:p>
        </p:txBody>
      </p:sp>
      <p:sp>
        <p:nvSpPr>
          <p:cNvPr id="20491" name="Rectangle 11">
            <a:extLst>
              <a:ext uri="{FF2B5EF4-FFF2-40B4-BE49-F238E27FC236}">
                <a16:creationId xmlns:a16="http://schemas.microsoft.com/office/drawing/2014/main" id="{C0DC46E3-7794-3CE9-84CB-226B09C19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30475"/>
            <a:ext cx="533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2K</a:t>
            </a:r>
          </a:p>
        </p:txBody>
      </p:sp>
      <p:grpSp>
        <p:nvGrpSpPr>
          <p:cNvPr id="83980" name="Group 12">
            <a:extLst>
              <a:ext uri="{FF2B5EF4-FFF2-40B4-BE49-F238E27FC236}">
                <a16:creationId xmlns:a16="http://schemas.microsoft.com/office/drawing/2014/main" id="{DE6D8B9B-E3C1-8FFC-3F47-B2E0AB58D17A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40075"/>
            <a:ext cx="4953000" cy="381000"/>
            <a:chOff x="1296" y="1978"/>
            <a:chExt cx="3120" cy="240"/>
          </a:xfrm>
        </p:grpSpPr>
        <p:sp>
          <p:nvSpPr>
            <p:cNvPr id="20505" name="Line 13">
              <a:extLst>
                <a:ext uri="{FF2B5EF4-FFF2-40B4-BE49-F238E27FC236}">
                  <a16:creationId xmlns:a16="http://schemas.microsoft.com/office/drawing/2014/main" id="{FF8BCB2A-C3B4-D9D5-5FC7-821D8A5574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78"/>
              <a:ext cx="312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6" name="Rectangle 14">
              <a:extLst>
                <a:ext uri="{FF2B5EF4-FFF2-40B4-BE49-F238E27FC236}">
                  <a16:creationId xmlns:a16="http://schemas.microsoft.com/office/drawing/2014/main" id="{11420B9B-74C6-7495-6E93-1FA5DB526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978"/>
              <a:ext cx="144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ACK=4096 WIN=0</a:t>
              </a:r>
            </a:p>
          </p:txBody>
        </p:sp>
      </p:grpSp>
      <p:sp>
        <p:nvSpPr>
          <p:cNvPr id="20493" name="Text Box 15">
            <a:extLst>
              <a:ext uri="{FF2B5EF4-FFF2-40B4-BE49-F238E27FC236}">
                <a16:creationId xmlns:a16="http://schemas.microsoft.com/office/drawing/2014/main" id="{76E23EEB-EA41-0201-FD06-6D58A8148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350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Application does a 2K write</a:t>
            </a:r>
          </a:p>
        </p:txBody>
      </p:sp>
      <p:sp>
        <p:nvSpPr>
          <p:cNvPr id="20494" name="Line 16">
            <a:extLst>
              <a:ext uri="{FF2B5EF4-FFF2-40B4-BE49-F238E27FC236}">
                <a16:creationId xmlns:a16="http://schemas.microsoft.com/office/drawing/2014/main" id="{7E29D6CC-C90A-75AA-D736-EC43F50D9E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1463675"/>
            <a:ext cx="3810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Text Box 17">
            <a:extLst>
              <a:ext uri="{FF2B5EF4-FFF2-40B4-BE49-F238E27FC236}">
                <a16:creationId xmlns:a16="http://schemas.microsoft.com/office/drawing/2014/main" id="{E012F804-0BC8-67A0-1C9C-5D87A2729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684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Application does a 2K write</a:t>
            </a:r>
          </a:p>
        </p:txBody>
      </p:sp>
      <p:sp>
        <p:nvSpPr>
          <p:cNvPr id="20496" name="Line 18">
            <a:extLst>
              <a:ext uri="{FF2B5EF4-FFF2-40B4-BE49-F238E27FC236}">
                <a16:creationId xmlns:a16="http://schemas.microsoft.com/office/drawing/2014/main" id="{6C859E1D-FCFC-6ADD-B301-B1C584C9C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149475"/>
            <a:ext cx="38100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Text Box 19">
            <a:extLst>
              <a:ext uri="{FF2B5EF4-FFF2-40B4-BE49-F238E27FC236}">
                <a16:creationId xmlns:a16="http://schemas.microsoft.com/office/drawing/2014/main" id="{50C19054-62A8-FB84-B4C2-BEE656E34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63875"/>
            <a:ext cx="1143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Sender is blocked</a:t>
            </a:r>
          </a:p>
        </p:txBody>
      </p:sp>
      <p:sp>
        <p:nvSpPr>
          <p:cNvPr id="20498" name="Rectangle 20">
            <a:extLst>
              <a:ext uri="{FF2B5EF4-FFF2-40B4-BE49-F238E27FC236}">
                <a16:creationId xmlns:a16="http://schemas.microsoft.com/office/drawing/2014/main" id="{DB468AA2-A063-4012-6E8B-1284ADFD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838200"/>
            <a:ext cx="1600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20499" name="Text Box 21">
            <a:extLst>
              <a:ext uri="{FF2B5EF4-FFF2-40B4-BE49-F238E27FC236}">
                <a16:creationId xmlns:a16="http://schemas.microsoft.com/office/drawing/2014/main" id="{9B0B09A2-230A-59C2-051E-EA1A8F5C1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20500" name="Text Box 22">
            <a:extLst>
              <a:ext uri="{FF2B5EF4-FFF2-40B4-BE49-F238E27FC236}">
                <a16:creationId xmlns:a16="http://schemas.microsoft.com/office/drawing/2014/main" id="{650E9AA8-0424-5256-9F97-55B4FF353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3340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4K</a:t>
            </a:r>
          </a:p>
        </p:txBody>
      </p:sp>
      <p:sp>
        <p:nvSpPr>
          <p:cNvPr id="20501" name="Rectangle 23">
            <a:extLst>
              <a:ext uri="{FF2B5EF4-FFF2-40B4-BE49-F238E27FC236}">
                <a16:creationId xmlns:a16="http://schemas.microsoft.com/office/drawing/2014/main" id="{3802EB9F-AE30-8479-0B7F-32979B876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667000"/>
            <a:ext cx="1600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Full</a:t>
            </a:r>
          </a:p>
        </p:txBody>
      </p:sp>
      <p:sp>
        <p:nvSpPr>
          <p:cNvPr id="20502" name="Rectangle 24">
            <a:extLst>
              <a:ext uri="{FF2B5EF4-FFF2-40B4-BE49-F238E27FC236}">
                <a16:creationId xmlns:a16="http://schemas.microsoft.com/office/drawing/2014/main" id="{6CDD987D-B182-E004-8EA0-3D79AB3CD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447800"/>
            <a:ext cx="7620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0503" name="Rectangle 25">
            <a:extLst>
              <a:ext uri="{FF2B5EF4-FFF2-40B4-BE49-F238E27FC236}">
                <a16:creationId xmlns:a16="http://schemas.microsoft.com/office/drawing/2014/main" id="{27780329-FC5C-5E37-2B64-C2D480E4B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447800"/>
            <a:ext cx="838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83994" name="Text Box 26">
            <a:extLst>
              <a:ext uri="{FF2B5EF4-FFF2-40B4-BE49-F238E27FC236}">
                <a16:creationId xmlns:a16="http://schemas.microsoft.com/office/drawing/2014/main" id="{30096926-806F-A44B-1E8D-9D6959A09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00600"/>
            <a:ext cx="4800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The receiver acknowledges the next 2048 (total of 4096) bytes and informs the sender that there is no space in the buffer. The sender is still blocked.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9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C6F33CB-89B8-C8E9-4E11-9D58990E0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"/>
            <a:ext cx="1752600" cy="6400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Sender</a:t>
            </a:r>
          </a:p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F26203B-9073-FEB3-3AB4-1FDCF5EBE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52400"/>
            <a:ext cx="1905000" cy="6477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Receiver</a:t>
            </a:r>
          </a:p>
        </p:txBody>
      </p:sp>
      <p:sp>
        <p:nvSpPr>
          <p:cNvPr id="21508" name="Line 4">
            <a:extLst>
              <a:ext uri="{FF2B5EF4-FFF2-40B4-BE49-F238E27FC236}">
                <a16:creationId xmlns:a16="http://schemas.microsoft.com/office/drawing/2014/main" id="{7E002EFB-D32E-D384-F812-BD7C9B465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463675"/>
            <a:ext cx="495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Line 5">
            <a:extLst>
              <a:ext uri="{FF2B5EF4-FFF2-40B4-BE49-F238E27FC236}">
                <a16:creationId xmlns:a16="http://schemas.microsoft.com/office/drawing/2014/main" id="{8B46D169-D06E-0D09-D27A-0647169D19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1997075"/>
            <a:ext cx="49530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6">
            <a:extLst>
              <a:ext uri="{FF2B5EF4-FFF2-40B4-BE49-F238E27FC236}">
                <a16:creationId xmlns:a16="http://schemas.microsoft.com/office/drawing/2014/main" id="{664D360B-3318-0AC9-FB8C-3416F734D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606675"/>
            <a:ext cx="495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>
            <a:extLst>
              <a:ext uri="{FF2B5EF4-FFF2-40B4-BE49-F238E27FC236}">
                <a16:creationId xmlns:a16="http://schemas.microsoft.com/office/drawing/2014/main" id="{9948E427-D293-5FBD-816B-BF0C9F8FFB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3140075"/>
            <a:ext cx="49530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60D3C991-2C36-B425-D753-776786BBA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87475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SEQ=0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BD7B74D0-C7DA-C3D1-8CFC-F906E0E56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387475"/>
            <a:ext cx="533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E26E23E8-4CCE-E9DC-934B-A24C07FFB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997075"/>
            <a:ext cx="2286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ACK=2048 WIN=2048</a:t>
            </a: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B34ECD8C-1FA2-A12B-228E-175B458A3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530475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SEQ=2048</a:t>
            </a: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62E9F9E1-8161-BE75-D1C1-13D24B79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30475"/>
            <a:ext cx="533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B813AE55-8CCC-5B50-A850-861C86E97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140075"/>
            <a:ext cx="2286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ACK=4096 WIN=0</a:t>
            </a:r>
          </a:p>
        </p:txBody>
      </p:sp>
      <p:sp>
        <p:nvSpPr>
          <p:cNvPr id="21518" name="Text Box 14">
            <a:extLst>
              <a:ext uri="{FF2B5EF4-FFF2-40B4-BE49-F238E27FC236}">
                <a16:creationId xmlns:a16="http://schemas.microsoft.com/office/drawing/2014/main" id="{7DC72A11-371B-91E9-1B3E-A848A91FC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350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Application does a 2K write</a:t>
            </a:r>
          </a:p>
        </p:txBody>
      </p:sp>
      <p:sp>
        <p:nvSpPr>
          <p:cNvPr id="21519" name="Line 15">
            <a:extLst>
              <a:ext uri="{FF2B5EF4-FFF2-40B4-BE49-F238E27FC236}">
                <a16:creationId xmlns:a16="http://schemas.microsoft.com/office/drawing/2014/main" id="{5BF9FD24-A9ED-5D5D-26F0-935FC2436E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1463675"/>
            <a:ext cx="3810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Text Box 16">
            <a:extLst>
              <a:ext uri="{FF2B5EF4-FFF2-40B4-BE49-F238E27FC236}">
                <a16:creationId xmlns:a16="http://schemas.microsoft.com/office/drawing/2014/main" id="{5A15ACDE-2C16-A5C4-BE34-369DDA9E1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684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Application does a 2K write</a:t>
            </a:r>
          </a:p>
        </p:txBody>
      </p:sp>
      <p:sp>
        <p:nvSpPr>
          <p:cNvPr id="21521" name="Line 17">
            <a:extLst>
              <a:ext uri="{FF2B5EF4-FFF2-40B4-BE49-F238E27FC236}">
                <a16:creationId xmlns:a16="http://schemas.microsoft.com/office/drawing/2014/main" id="{C8D759C3-6101-8EE4-8077-930865BF7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149475"/>
            <a:ext cx="38100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0" name="Text Box 18">
            <a:extLst>
              <a:ext uri="{FF2B5EF4-FFF2-40B4-BE49-F238E27FC236}">
                <a16:creationId xmlns:a16="http://schemas.microsoft.com/office/drawing/2014/main" id="{3FA3603D-3B43-F473-84E6-AB0EF2C3B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997075"/>
            <a:ext cx="990600" cy="225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200">
                <a:solidFill>
                  <a:schemeClr val="bg2"/>
                </a:solidFill>
              </a:rPr>
              <a:t>{</a:t>
            </a:r>
          </a:p>
        </p:txBody>
      </p:sp>
      <p:sp>
        <p:nvSpPr>
          <p:cNvPr id="21523" name="Text Box 19">
            <a:extLst>
              <a:ext uri="{FF2B5EF4-FFF2-40B4-BE49-F238E27FC236}">
                <a16:creationId xmlns:a16="http://schemas.microsoft.com/office/drawing/2014/main" id="{A9E949FF-1EC8-C67C-0C06-84107410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63875"/>
            <a:ext cx="1143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Sender is blocked</a:t>
            </a:r>
          </a:p>
        </p:txBody>
      </p:sp>
      <p:grpSp>
        <p:nvGrpSpPr>
          <p:cNvPr id="85012" name="Group 20">
            <a:extLst>
              <a:ext uri="{FF2B5EF4-FFF2-40B4-BE49-F238E27FC236}">
                <a16:creationId xmlns:a16="http://schemas.microsoft.com/office/drawing/2014/main" id="{5B5CC57D-F473-34D8-9536-18778284A16D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749675"/>
            <a:ext cx="4953000" cy="381000"/>
            <a:chOff x="1296" y="2362"/>
            <a:chExt cx="3120" cy="240"/>
          </a:xfrm>
        </p:grpSpPr>
        <p:sp>
          <p:nvSpPr>
            <p:cNvPr id="21538" name="Line 21">
              <a:extLst>
                <a:ext uri="{FF2B5EF4-FFF2-40B4-BE49-F238E27FC236}">
                  <a16:creationId xmlns:a16="http://schemas.microsoft.com/office/drawing/2014/main" id="{D41DAF59-8C75-9DD0-5DD2-FB3FADFE7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362"/>
              <a:ext cx="312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9" name="Rectangle 22">
              <a:extLst>
                <a:ext uri="{FF2B5EF4-FFF2-40B4-BE49-F238E27FC236}">
                  <a16:creationId xmlns:a16="http://schemas.microsoft.com/office/drawing/2014/main" id="{055AFA31-E6F0-6B47-6207-78F20014C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62"/>
              <a:ext cx="144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ACK=4096 WIN=2048</a:t>
              </a:r>
            </a:p>
          </p:txBody>
        </p:sp>
      </p:grpSp>
      <p:grpSp>
        <p:nvGrpSpPr>
          <p:cNvPr id="85015" name="Group 23">
            <a:extLst>
              <a:ext uri="{FF2B5EF4-FFF2-40B4-BE49-F238E27FC236}">
                <a16:creationId xmlns:a16="http://schemas.microsoft.com/office/drawing/2014/main" id="{301F8185-53D1-7ED5-ED8A-2D90FA20DB9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130675"/>
            <a:ext cx="1828800" cy="669925"/>
            <a:chOff x="144" y="2602"/>
            <a:chExt cx="1152" cy="422"/>
          </a:xfrm>
        </p:grpSpPr>
        <p:sp>
          <p:nvSpPr>
            <p:cNvPr id="21536" name="Text Box 24">
              <a:extLst>
                <a:ext uri="{FF2B5EF4-FFF2-40B4-BE49-F238E27FC236}">
                  <a16:creationId xmlns:a16="http://schemas.microsoft.com/office/drawing/2014/main" id="{05A1D17F-9DF6-18CC-3FD6-23A93D614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698"/>
              <a:ext cx="86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400">
                  <a:solidFill>
                    <a:schemeClr val="bg2"/>
                  </a:solidFill>
                </a:rPr>
                <a:t>Sender may send up to 2K</a:t>
              </a:r>
            </a:p>
          </p:txBody>
        </p:sp>
        <p:sp>
          <p:nvSpPr>
            <p:cNvPr id="21537" name="Line 25">
              <a:extLst>
                <a:ext uri="{FF2B5EF4-FFF2-40B4-BE49-F238E27FC236}">
                  <a16:creationId xmlns:a16="http://schemas.microsoft.com/office/drawing/2014/main" id="{18CACE00-4512-0055-6A3F-273C5B1228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2602"/>
              <a:ext cx="384" cy="33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26" name="Rectangle 26">
            <a:extLst>
              <a:ext uri="{FF2B5EF4-FFF2-40B4-BE49-F238E27FC236}">
                <a16:creationId xmlns:a16="http://schemas.microsoft.com/office/drawing/2014/main" id="{1D3DBD86-E300-4337-AE97-3033A6AFF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838200"/>
            <a:ext cx="1600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21527" name="Text Box 27">
            <a:extLst>
              <a:ext uri="{FF2B5EF4-FFF2-40B4-BE49-F238E27FC236}">
                <a16:creationId xmlns:a16="http://schemas.microsoft.com/office/drawing/2014/main" id="{4D284221-B9AB-1DAA-4A4B-DFF5CD406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21528" name="Text Box 28">
            <a:extLst>
              <a:ext uri="{FF2B5EF4-FFF2-40B4-BE49-F238E27FC236}">
                <a16:creationId xmlns:a16="http://schemas.microsoft.com/office/drawing/2014/main" id="{38FFA4FC-1444-09E1-5B5E-3A6382588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3340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4K</a:t>
            </a:r>
          </a:p>
        </p:txBody>
      </p:sp>
      <p:sp>
        <p:nvSpPr>
          <p:cNvPr id="21529" name="Rectangle 29">
            <a:extLst>
              <a:ext uri="{FF2B5EF4-FFF2-40B4-BE49-F238E27FC236}">
                <a16:creationId xmlns:a16="http://schemas.microsoft.com/office/drawing/2014/main" id="{45B8AE03-C7B6-B39F-73E2-282132AF3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667000"/>
            <a:ext cx="1600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Full</a:t>
            </a:r>
          </a:p>
        </p:txBody>
      </p:sp>
      <p:sp>
        <p:nvSpPr>
          <p:cNvPr id="21530" name="Rectangle 30">
            <a:extLst>
              <a:ext uri="{FF2B5EF4-FFF2-40B4-BE49-F238E27FC236}">
                <a16:creationId xmlns:a16="http://schemas.microsoft.com/office/drawing/2014/main" id="{5F6E72E4-FEE6-2356-9320-699186CED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447800"/>
            <a:ext cx="7620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1531" name="Rectangle 31">
            <a:extLst>
              <a:ext uri="{FF2B5EF4-FFF2-40B4-BE49-F238E27FC236}">
                <a16:creationId xmlns:a16="http://schemas.microsoft.com/office/drawing/2014/main" id="{AF736727-554D-8234-9214-3CF1A47DA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447800"/>
            <a:ext cx="838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2K</a:t>
            </a:r>
          </a:p>
        </p:txBody>
      </p:sp>
      <p:grpSp>
        <p:nvGrpSpPr>
          <p:cNvPr id="85024" name="Group 32">
            <a:extLst>
              <a:ext uri="{FF2B5EF4-FFF2-40B4-BE49-F238E27FC236}">
                <a16:creationId xmlns:a16="http://schemas.microsoft.com/office/drawing/2014/main" id="{232A1C3F-7C69-FD0B-ABA0-F62370744542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3505200"/>
            <a:ext cx="1600200" cy="457200"/>
            <a:chOff x="4512" y="2208"/>
            <a:chExt cx="1008" cy="288"/>
          </a:xfrm>
        </p:grpSpPr>
        <p:sp>
          <p:nvSpPr>
            <p:cNvPr id="21534" name="Rectangle 33">
              <a:extLst>
                <a:ext uri="{FF2B5EF4-FFF2-40B4-BE49-F238E27FC236}">
                  <a16:creationId xmlns:a16="http://schemas.microsoft.com/office/drawing/2014/main" id="{6DF504DB-4259-990A-DC0F-64B94BCF3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208"/>
              <a:ext cx="528" cy="288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 sz="2400">
                  <a:solidFill>
                    <a:schemeClr val="tx1"/>
                  </a:solidFill>
                </a:rPr>
                <a:t>2K</a:t>
              </a:r>
            </a:p>
          </p:txBody>
        </p:sp>
        <p:sp>
          <p:nvSpPr>
            <p:cNvPr id="21535" name="Rectangle 34">
              <a:extLst>
                <a:ext uri="{FF2B5EF4-FFF2-40B4-BE49-F238E27FC236}">
                  <a16:creationId xmlns:a16="http://schemas.microsoft.com/office/drawing/2014/main" id="{320A2E55-3562-B995-4D4A-2890A41E2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208"/>
              <a:ext cx="480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endParaRPr lang="en-US" alt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85027" name="Text Box 35">
            <a:extLst>
              <a:ext uri="{FF2B5EF4-FFF2-40B4-BE49-F238E27FC236}">
                <a16:creationId xmlns:a16="http://schemas.microsoft.com/office/drawing/2014/main" id="{0C811081-CAC5-00FF-D305-B4A78560D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00600"/>
            <a:ext cx="4800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The receiver clears 2048 bytes from the buffer and informs the sender that this space is available for use. The sender is now unblocked and may send 2K.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10" grpId="0" autoUpdateAnimBg="0"/>
      <p:bldP spid="8502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EE5C639-9B7D-2C24-43CF-AC64FDCC5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"/>
            <a:ext cx="1752600" cy="64008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Sender</a:t>
            </a:r>
          </a:p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AB7B932-C2C9-D867-0B0A-AD61757B2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52400"/>
            <a:ext cx="1905000" cy="64770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bg2"/>
                </a:solidFill>
              </a:rPr>
              <a:t>Receiver</a:t>
            </a:r>
          </a:p>
        </p:txBody>
      </p:sp>
      <p:sp>
        <p:nvSpPr>
          <p:cNvPr id="22532" name="Line 4">
            <a:extLst>
              <a:ext uri="{FF2B5EF4-FFF2-40B4-BE49-F238E27FC236}">
                <a16:creationId xmlns:a16="http://schemas.microsoft.com/office/drawing/2014/main" id="{6B858113-17CF-47D1-E131-A17CBFA749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463675"/>
            <a:ext cx="495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DCCE59AD-8311-26DB-B4F9-8A0CC539FE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1997075"/>
            <a:ext cx="49530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5DEB12C0-715E-5474-5241-E9B65E6A7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606675"/>
            <a:ext cx="495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FB003D35-1A43-9043-C5B1-971347343E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3140075"/>
            <a:ext cx="49530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C37C0B00-CDA8-A503-F242-B5AE7EC283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3749675"/>
            <a:ext cx="49530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6AF0D675-FCD8-94B6-F719-0E0699BDA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87475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SEQ=0</a:t>
            </a:r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D255B7D3-C68B-F4FA-E77B-A961BCD8A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387475"/>
            <a:ext cx="533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AEA34AF2-62E0-F02F-B30E-74B5EB820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997075"/>
            <a:ext cx="2286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ACK=2048 WIN=2048</a:t>
            </a:r>
          </a:p>
        </p:txBody>
      </p:sp>
      <p:sp>
        <p:nvSpPr>
          <p:cNvPr id="22540" name="Rectangle 12">
            <a:extLst>
              <a:ext uri="{FF2B5EF4-FFF2-40B4-BE49-F238E27FC236}">
                <a16:creationId xmlns:a16="http://schemas.microsoft.com/office/drawing/2014/main" id="{FA6429A5-3E60-9B2A-62D6-64F463DB2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530475"/>
            <a:ext cx="1143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SEQ=2048</a:t>
            </a:r>
          </a:p>
        </p:txBody>
      </p:sp>
      <p:sp>
        <p:nvSpPr>
          <p:cNvPr id="22541" name="Rectangle 13">
            <a:extLst>
              <a:ext uri="{FF2B5EF4-FFF2-40B4-BE49-F238E27FC236}">
                <a16:creationId xmlns:a16="http://schemas.microsoft.com/office/drawing/2014/main" id="{5E920F3F-3C38-5CB7-FF78-86202900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30475"/>
            <a:ext cx="533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22542" name="Rectangle 14">
            <a:extLst>
              <a:ext uri="{FF2B5EF4-FFF2-40B4-BE49-F238E27FC236}">
                <a16:creationId xmlns:a16="http://schemas.microsoft.com/office/drawing/2014/main" id="{7D5FA0AE-1A84-BF1A-A4D2-201F27D73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140075"/>
            <a:ext cx="2286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ACK=4096 WIN=0</a:t>
            </a:r>
          </a:p>
        </p:txBody>
      </p:sp>
      <p:sp>
        <p:nvSpPr>
          <p:cNvPr id="22543" name="Rectangle 15">
            <a:extLst>
              <a:ext uri="{FF2B5EF4-FFF2-40B4-BE49-F238E27FC236}">
                <a16:creationId xmlns:a16="http://schemas.microsoft.com/office/drawing/2014/main" id="{43A22A43-6591-F604-6174-C8B04CD23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749675"/>
            <a:ext cx="2286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ACK=4096 WIN=2048</a:t>
            </a:r>
          </a:p>
        </p:txBody>
      </p:sp>
      <p:sp>
        <p:nvSpPr>
          <p:cNvPr id="22544" name="Text Box 16">
            <a:extLst>
              <a:ext uri="{FF2B5EF4-FFF2-40B4-BE49-F238E27FC236}">
                <a16:creationId xmlns:a16="http://schemas.microsoft.com/office/drawing/2014/main" id="{D904D44B-D176-699B-1E50-ED3902E8B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350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Application does a 2K write</a:t>
            </a:r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24A23A66-EC33-7FAE-56EE-4167AD54F1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1463675"/>
            <a:ext cx="3810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Text Box 18">
            <a:extLst>
              <a:ext uri="{FF2B5EF4-FFF2-40B4-BE49-F238E27FC236}">
                <a16:creationId xmlns:a16="http://schemas.microsoft.com/office/drawing/2014/main" id="{7E76B382-1188-74B2-B4DA-394630AD9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684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Application does a 2K write</a:t>
            </a:r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10CC6A00-A2EB-8549-759D-FDE5721FD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149475"/>
            <a:ext cx="38100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6036" name="Group 20">
            <a:extLst>
              <a:ext uri="{FF2B5EF4-FFF2-40B4-BE49-F238E27FC236}">
                <a16:creationId xmlns:a16="http://schemas.microsoft.com/office/drawing/2014/main" id="{643E0650-F28A-1CD7-5E44-65FD2BD3577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283075"/>
            <a:ext cx="6553200" cy="1431925"/>
            <a:chOff x="288" y="2698"/>
            <a:chExt cx="4128" cy="902"/>
          </a:xfrm>
        </p:grpSpPr>
        <p:sp>
          <p:nvSpPr>
            <p:cNvPr id="22566" name="Line 21">
              <a:extLst>
                <a:ext uri="{FF2B5EF4-FFF2-40B4-BE49-F238E27FC236}">
                  <a16:creationId xmlns:a16="http://schemas.microsoft.com/office/drawing/2014/main" id="{8714528A-7C35-1778-E153-F1F59F6A0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46"/>
              <a:ext cx="312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7" name="Rectangle 22">
              <a:extLst>
                <a:ext uri="{FF2B5EF4-FFF2-40B4-BE49-F238E27FC236}">
                  <a16:creationId xmlns:a16="http://schemas.microsoft.com/office/drawing/2014/main" id="{2F26003C-3529-5438-1862-135F4E43A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698"/>
              <a:ext cx="720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SEQ=4096</a:t>
              </a:r>
            </a:p>
          </p:txBody>
        </p:sp>
        <p:sp>
          <p:nvSpPr>
            <p:cNvPr id="22568" name="Rectangle 23">
              <a:extLst>
                <a:ext uri="{FF2B5EF4-FFF2-40B4-BE49-F238E27FC236}">
                  <a16:creationId xmlns:a16="http://schemas.microsoft.com/office/drawing/2014/main" id="{4775B184-5C60-0CBB-1DE2-4BF9C5C8F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98"/>
              <a:ext cx="336" cy="2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tx1"/>
                  </a:solidFill>
                </a:rPr>
                <a:t>1K</a:t>
              </a:r>
            </a:p>
          </p:txBody>
        </p:sp>
        <p:sp>
          <p:nvSpPr>
            <p:cNvPr id="22569" name="Text Box 24">
              <a:extLst>
                <a:ext uri="{FF2B5EF4-FFF2-40B4-BE49-F238E27FC236}">
                  <a16:creationId xmlns:a16="http://schemas.microsoft.com/office/drawing/2014/main" id="{7F870B27-05F1-01BA-80D2-5F25D002B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274"/>
              <a:ext cx="86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400">
                  <a:solidFill>
                    <a:schemeClr val="bg2"/>
                  </a:solidFill>
                </a:rPr>
                <a:t>Application does a 1K write</a:t>
              </a:r>
            </a:p>
          </p:txBody>
        </p:sp>
        <p:sp>
          <p:nvSpPr>
            <p:cNvPr id="22570" name="Line 25">
              <a:extLst>
                <a:ext uri="{FF2B5EF4-FFF2-40B4-BE49-F238E27FC236}">
                  <a16:creationId xmlns:a16="http://schemas.microsoft.com/office/drawing/2014/main" id="{8865326F-7DD5-4F0B-6B46-45165079D7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746"/>
              <a:ext cx="240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49" name="Text Box 26">
            <a:extLst>
              <a:ext uri="{FF2B5EF4-FFF2-40B4-BE49-F238E27FC236}">
                <a16:creationId xmlns:a16="http://schemas.microsoft.com/office/drawing/2014/main" id="{D11A1515-DFFA-8ECB-2508-C9A5B4536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997075"/>
            <a:ext cx="990600" cy="225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200">
                <a:solidFill>
                  <a:schemeClr val="bg2"/>
                </a:solidFill>
              </a:rPr>
              <a:t>{</a:t>
            </a:r>
          </a:p>
        </p:txBody>
      </p:sp>
      <p:sp>
        <p:nvSpPr>
          <p:cNvPr id="22550" name="Text Box 27">
            <a:extLst>
              <a:ext uri="{FF2B5EF4-FFF2-40B4-BE49-F238E27FC236}">
                <a16:creationId xmlns:a16="http://schemas.microsoft.com/office/drawing/2014/main" id="{5E76AD65-5539-4289-6700-9952743A4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63875"/>
            <a:ext cx="1143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Sender is blocked</a:t>
            </a:r>
          </a:p>
        </p:txBody>
      </p:sp>
      <p:sp>
        <p:nvSpPr>
          <p:cNvPr id="22551" name="Text Box 28">
            <a:extLst>
              <a:ext uri="{FF2B5EF4-FFF2-40B4-BE49-F238E27FC236}">
                <a16:creationId xmlns:a16="http://schemas.microsoft.com/office/drawing/2014/main" id="{D0894482-4CCD-7C4B-64FC-637657224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83075"/>
            <a:ext cx="13716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2"/>
                </a:solidFill>
              </a:rPr>
              <a:t>Sender may send up to 2K</a:t>
            </a:r>
          </a:p>
        </p:txBody>
      </p:sp>
      <p:sp>
        <p:nvSpPr>
          <p:cNvPr id="22552" name="Line 29">
            <a:extLst>
              <a:ext uri="{FF2B5EF4-FFF2-40B4-BE49-F238E27FC236}">
                <a16:creationId xmlns:a16="http://schemas.microsoft.com/office/drawing/2014/main" id="{E47916AA-327D-2309-88AF-D514F81B2C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7800" y="4130675"/>
            <a:ext cx="60960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3" name="Rectangle 30">
            <a:extLst>
              <a:ext uri="{FF2B5EF4-FFF2-40B4-BE49-F238E27FC236}">
                <a16:creationId xmlns:a16="http://schemas.microsoft.com/office/drawing/2014/main" id="{A1093E8D-2B7D-5C7E-F557-7929EA290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838200"/>
            <a:ext cx="1600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22554" name="Text Box 31">
            <a:extLst>
              <a:ext uri="{FF2B5EF4-FFF2-40B4-BE49-F238E27FC236}">
                <a16:creationId xmlns:a16="http://schemas.microsoft.com/office/drawing/2014/main" id="{28BB85DF-9439-04CE-F4D8-1BCA4B089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22555" name="Text Box 32">
            <a:extLst>
              <a:ext uri="{FF2B5EF4-FFF2-40B4-BE49-F238E27FC236}">
                <a16:creationId xmlns:a16="http://schemas.microsoft.com/office/drawing/2014/main" id="{530436D1-DD69-0872-B5FC-D3675AF69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53340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>
                <a:solidFill>
                  <a:schemeClr val="bg2"/>
                </a:solidFill>
              </a:rPr>
              <a:t>4K</a:t>
            </a:r>
          </a:p>
        </p:txBody>
      </p:sp>
      <p:sp>
        <p:nvSpPr>
          <p:cNvPr id="22556" name="Rectangle 33">
            <a:extLst>
              <a:ext uri="{FF2B5EF4-FFF2-40B4-BE49-F238E27FC236}">
                <a16:creationId xmlns:a16="http://schemas.microsoft.com/office/drawing/2014/main" id="{9C814454-FA65-7116-A722-9AFFBEA2F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667000"/>
            <a:ext cx="1600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Full</a:t>
            </a:r>
          </a:p>
        </p:txBody>
      </p:sp>
      <p:sp>
        <p:nvSpPr>
          <p:cNvPr id="22557" name="Rectangle 34">
            <a:extLst>
              <a:ext uri="{FF2B5EF4-FFF2-40B4-BE49-F238E27FC236}">
                <a16:creationId xmlns:a16="http://schemas.microsoft.com/office/drawing/2014/main" id="{61CED804-890D-6CD7-4AD9-00EAD5385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447800"/>
            <a:ext cx="7620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2558" name="Rectangle 35">
            <a:extLst>
              <a:ext uri="{FF2B5EF4-FFF2-40B4-BE49-F238E27FC236}">
                <a16:creationId xmlns:a16="http://schemas.microsoft.com/office/drawing/2014/main" id="{8A9FCCA5-55DE-91BD-3425-EBE9D49D1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447800"/>
            <a:ext cx="838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22559" name="Rectangle 36">
            <a:extLst>
              <a:ext uri="{FF2B5EF4-FFF2-40B4-BE49-F238E27FC236}">
                <a16:creationId xmlns:a16="http://schemas.microsoft.com/office/drawing/2014/main" id="{84EBF8D5-64F8-61D2-E6A8-07B367232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505200"/>
            <a:ext cx="838200" cy="4572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1"/>
                </a:solidFill>
              </a:rPr>
              <a:t>2K</a:t>
            </a:r>
          </a:p>
        </p:txBody>
      </p:sp>
      <p:sp>
        <p:nvSpPr>
          <p:cNvPr id="22560" name="Rectangle 37">
            <a:extLst>
              <a:ext uri="{FF2B5EF4-FFF2-40B4-BE49-F238E27FC236}">
                <a16:creationId xmlns:a16="http://schemas.microsoft.com/office/drawing/2014/main" id="{8A4E2384-97AA-4616-4CEE-0AF96D4E3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505200"/>
            <a:ext cx="7620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grpSp>
        <p:nvGrpSpPr>
          <p:cNvPr id="86054" name="Group 38">
            <a:extLst>
              <a:ext uri="{FF2B5EF4-FFF2-40B4-BE49-F238E27FC236}">
                <a16:creationId xmlns:a16="http://schemas.microsoft.com/office/drawing/2014/main" id="{A9065E53-ED1F-CA46-CB7B-72C7F1579CB1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4419600"/>
            <a:ext cx="1600200" cy="457200"/>
            <a:chOff x="4512" y="2784"/>
            <a:chExt cx="1008" cy="288"/>
          </a:xfrm>
        </p:grpSpPr>
        <p:sp>
          <p:nvSpPr>
            <p:cNvPr id="22563" name="Rectangle 39">
              <a:extLst>
                <a:ext uri="{FF2B5EF4-FFF2-40B4-BE49-F238E27FC236}">
                  <a16:creationId xmlns:a16="http://schemas.microsoft.com/office/drawing/2014/main" id="{5C3B2C51-F382-7C96-1330-9743F314F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784"/>
              <a:ext cx="528" cy="288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 sz="2400">
                  <a:solidFill>
                    <a:schemeClr val="tx1"/>
                  </a:solidFill>
                </a:rPr>
                <a:t>2K</a:t>
              </a:r>
            </a:p>
          </p:txBody>
        </p:sp>
        <p:sp>
          <p:nvSpPr>
            <p:cNvPr id="22564" name="Rectangle 40">
              <a:extLst>
                <a:ext uri="{FF2B5EF4-FFF2-40B4-BE49-F238E27FC236}">
                  <a16:creationId xmlns:a16="http://schemas.microsoft.com/office/drawing/2014/main" id="{A5C062CB-ED84-75E6-B49F-0120E3A45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784"/>
              <a:ext cx="240" cy="2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2565" name="Rectangle 41">
              <a:extLst>
                <a:ext uri="{FF2B5EF4-FFF2-40B4-BE49-F238E27FC236}">
                  <a16:creationId xmlns:a16="http://schemas.microsoft.com/office/drawing/2014/main" id="{404A1039-8FED-C3A7-E130-BBE6AF14D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784"/>
              <a:ext cx="240" cy="288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Times New Roman" panose="02020603050405020304" pitchFamily="18" charset="0"/>
                  <a:cs typeface="Gothic" charset="0"/>
                </a:defRPr>
              </a:lvl9pPr>
            </a:lstStyle>
            <a:p>
              <a:pPr algn="ctr" eaLnBrk="1" hangingPunct="1"/>
              <a:r>
                <a:rPr lang="en-US" altLang="en-US" sz="2400">
                  <a:solidFill>
                    <a:schemeClr val="tx1"/>
                  </a:solidFill>
                </a:rPr>
                <a:t>1K</a:t>
              </a:r>
            </a:p>
          </p:txBody>
        </p:sp>
      </p:grpSp>
      <p:sp>
        <p:nvSpPr>
          <p:cNvPr id="86058" name="Text Box 42">
            <a:extLst>
              <a:ext uri="{FF2B5EF4-FFF2-40B4-BE49-F238E27FC236}">
                <a16:creationId xmlns:a16="http://schemas.microsoft.com/office/drawing/2014/main" id="{68E4AB03-542A-1408-09A6-124EBFD42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257800"/>
            <a:ext cx="4800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The sender’s application writes another 1K.  The receivers buffer now has 1K of space available.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5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4DB67A19-45C5-D6A1-856A-0F48CF2C0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Transmission Policy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0F010D3-F47C-204E-C05A-D2861D139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356350"/>
            <a:ext cx="9144000" cy="50165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93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Window management in TCP.</a:t>
            </a:r>
          </a:p>
        </p:txBody>
      </p:sp>
      <p:pic>
        <p:nvPicPr>
          <p:cNvPr id="23556" name="Picture 3">
            <a:extLst>
              <a:ext uri="{FF2B5EF4-FFF2-40B4-BE49-F238E27FC236}">
                <a16:creationId xmlns:a16="http://schemas.microsoft.com/office/drawing/2014/main" id="{0A03BFDD-E152-FCF8-7F13-16E1D297A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1093788"/>
            <a:ext cx="5535612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>
            <a:extLst>
              <a:ext uri="{FF2B5EF4-FFF2-40B4-BE49-F238E27FC236}">
                <a16:creationId xmlns:a16="http://schemas.microsoft.com/office/drawing/2014/main" id="{61C6335B-D19B-D085-3D35-6A69AFEBD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Transmission Policy</a:t>
            </a:r>
          </a:p>
        </p:txBody>
      </p:sp>
      <p:sp>
        <p:nvSpPr>
          <p:cNvPr id="25603" name="Text Box 2">
            <a:extLst>
              <a:ext uri="{FF2B5EF4-FFF2-40B4-BE49-F238E27FC236}">
                <a16:creationId xmlns:a16="http://schemas.microsoft.com/office/drawing/2014/main" id="{DB747B30-CF87-19AF-F42E-1AD50039C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1495425"/>
            <a:ext cx="8631238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Sender TCP </a:t>
            </a:r>
            <a:r>
              <a:rPr lang="en-GB" altLang="en-US" sz="2400" i="1">
                <a:solidFill>
                  <a:schemeClr val="tx1"/>
                </a:solidFill>
              </a:rPr>
              <a:t>is not required</a:t>
            </a:r>
            <a:r>
              <a:rPr lang="en-GB" altLang="en-US" sz="2400">
                <a:solidFill>
                  <a:schemeClr val="tx1"/>
                </a:solidFill>
              </a:rPr>
              <a:t> to send data as soon as it arrives from the application.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Sender TCP might buffer to create larger segments (up to receiver window size)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Receiver TCP </a:t>
            </a:r>
            <a:r>
              <a:rPr lang="en-GB" altLang="en-US" sz="2400" i="1">
                <a:solidFill>
                  <a:schemeClr val="tx1"/>
                </a:solidFill>
              </a:rPr>
              <a:t>is not required</a:t>
            </a:r>
            <a:r>
              <a:rPr lang="en-GB" altLang="en-US" sz="2400">
                <a:solidFill>
                  <a:schemeClr val="tx1"/>
                </a:solidFill>
              </a:rPr>
              <a:t> to send ACK as soon as receives a  segment.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Receiver might delay ACK for up to 500 msecs hoping to piggyback ACK on data from receiver to sender. Such ACKS are called </a:t>
            </a:r>
            <a:r>
              <a:rPr lang="en-GB" altLang="en-US" sz="2400" i="1">
                <a:solidFill>
                  <a:schemeClr val="tx1"/>
                </a:solidFill>
              </a:rPr>
              <a:t>delayed ACKs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</p:txBody>
      </p:sp>
      <p:sp>
        <p:nvSpPr>
          <p:cNvPr id="25604" name="Text Box 3">
            <a:extLst>
              <a:ext uri="{FF2B5EF4-FFF2-40B4-BE49-F238E27FC236}">
                <a16:creationId xmlns:a16="http://schemas.microsoft.com/office/drawing/2014/main" id="{272B86AC-2CF8-4743-2CD4-E0A28061F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2227263"/>
            <a:ext cx="8485188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>
            <a:extLst>
              <a:ext uri="{FF2B5EF4-FFF2-40B4-BE49-F238E27FC236}">
                <a16:creationId xmlns:a16="http://schemas.microsoft.com/office/drawing/2014/main" id="{ABBCAA5A-85DB-BB1F-D21D-5C367084E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Transmission Policy 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D0F5A9F-5C3A-A92A-8595-16A617889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019800"/>
            <a:ext cx="9144000" cy="83820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93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Silly window syndrome.</a:t>
            </a:r>
          </a:p>
          <a:p>
            <a:pPr algn="ctr" eaLnBrk="1" hangingPunct="1">
              <a:lnSpc>
                <a:spcPct val="93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/>
          </a:p>
        </p:txBody>
      </p:sp>
      <p:pic>
        <p:nvPicPr>
          <p:cNvPr id="27652" name="Picture 3">
            <a:extLst>
              <a:ext uri="{FF2B5EF4-FFF2-40B4-BE49-F238E27FC236}">
                <a16:creationId xmlns:a16="http://schemas.microsoft.com/office/drawing/2014/main" id="{71ADBF45-AD13-F7A3-784D-1B07E31CC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1392238"/>
            <a:ext cx="677703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>
            <a:extLst>
              <a:ext uri="{FF2B5EF4-FFF2-40B4-BE49-F238E27FC236}">
                <a16:creationId xmlns:a16="http://schemas.microsoft.com/office/drawing/2014/main" id="{ADA47073-2C7D-C399-E8E4-3965F4EDE5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Nagle's algorithm</a:t>
            </a:r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0C2163EF-05D4-E33A-6621-CA16023AA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25" y="1171575"/>
            <a:ext cx="8177213" cy="556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Purpose is to allow the sender TCP to make efficient use of the network, while still being responsive to the sender applications.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b="1">
                <a:solidFill>
                  <a:schemeClr val="tx1"/>
                </a:solidFill>
              </a:rPr>
              <a:t>Idea: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If application data comes in byte by byte, send first byte only. Then </a:t>
            </a:r>
            <a:r>
              <a:rPr lang="en-GB" altLang="en-US" sz="2400" i="1">
                <a:solidFill>
                  <a:schemeClr val="tx1"/>
                </a:solidFill>
              </a:rPr>
              <a:t>buffer all application data till until ACK for first byte comes in</a:t>
            </a:r>
            <a:r>
              <a:rPr lang="en-GB" altLang="en-US" sz="2400">
                <a:solidFill>
                  <a:schemeClr val="tx1"/>
                </a:solidFill>
              </a:rPr>
              <a:t>.  If network is slow and application is fast, the second segment will contain a lot of data. 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Send second segment and buffer all data till ACK for second segment comes in.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This way the algorithm is clocking the sends to speed of the network and simultaneously preventing sending several one byte segments back to back.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An exception to this rule is to always send (not wait for ACK) if enough data for half the receiver window or MSS.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>
            <a:extLst>
              <a:ext uri="{FF2B5EF4-FFF2-40B4-BE49-F238E27FC236}">
                <a16:creationId xmlns:a16="http://schemas.microsoft.com/office/drawing/2014/main" id="{26752C0A-E147-2F1A-1B3A-3FEDC8D52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congestion control</a:t>
            </a:r>
          </a:p>
        </p:txBody>
      </p:sp>
      <p:sp>
        <p:nvSpPr>
          <p:cNvPr id="31747" name="Text Box 2">
            <a:extLst>
              <a:ext uri="{FF2B5EF4-FFF2-40B4-BE49-F238E27FC236}">
                <a16:creationId xmlns:a16="http://schemas.microsoft.com/office/drawing/2014/main" id="{FE98CC4A-7232-DE4E-477F-2EE22E2D7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1303338"/>
            <a:ext cx="83820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We looked at how TCP handles flow control. In addition we know the congestion happens. The only real way to handle congestion is for the sender to reduce sending rate.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So how does on detect congestion ?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In old days, packets were lost due to transmission errors and congestion. But nowadays, transmission errors are very rare (except for wireless).  So, TCP assumes a lost packet as an indicator of congestion.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So does TCP deal with congestion ?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It maintains an indicator of network capacity, called the </a:t>
            </a:r>
            <a:r>
              <a:rPr lang="en-GB" altLang="en-US" sz="2400" b="1" i="1">
                <a:solidFill>
                  <a:schemeClr val="tx1"/>
                </a:solidFill>
              </a:rPr>
              <a:t>congestion window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>
            <a:extLst>
              <a:ext uri="{FF2B5EF4-FFF2-40B4-BE49-F238E27FC236}">
                <a16:creationId xmlns:a16="http://schemas.microsoft.com/office/drawing/2014/main" id="{6DE55817-6487-9A94-E0F9-0725C2E38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Congestion Control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813A76D9-BD88-D6A5-4CD4-61756B939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3425" y="5715000"/>
            <a:ext cx="8410575" cy="868363"/>
          </a:xfrm>
        </p:spPr>
        <p:txBody>
          <a:bodyPr lIns="90000" tIns="46800" rIns="90000" bIns="46800"/>
          <a:lstStyle/>
          <a:p>
            <a:pPr eaLnBrk="1" hangingPunct="1">
              <a:lnSpc>
                <a:spcPct val="81000"/>
              </a:lnSpc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(a)</a:t>
            </a:r>
            <a:r>
              <a:rPr lang="en-GB" altLang="en-US"/>
              <a:t> A fast network feeding a low capacity receiver.</a:t>
            </a:r>
          </a:p>
          <a:p>
            <a:pPr eaLnBrk="1" hangingPunct="1">
              <a:lnSpc>
                <a:spcPct val="81000"/>
              </a:lnSpc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(b)</a:t>
            </a:r>
            <a:r>
              <a:rPr lang="en-GB" altLang="en-US"/>
              <a:t> A slow network feeding a high-capacity receiver.</a:t>
            </a:r>
          </a:p>
        </p:txBody>
      </p:sp>
      <p:pic>
        <p:nvPicPr>
          <p:cNvPr id="33796" name="Picture 3">
            <a:extLst>
              <a:ext uri="{FF2B5EF4-FFF2-40B4-BE49-F238E27FC236}">
                <a16:creationId xmlns:a16="http://schemas.microsoft.com/office/drawing/2014/main" id="{037D50F6-474E-47EA-0AA8-0EBBC45F8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1163638"/>
            <a:ext cx="5673725" cy="424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>
            <a:extLst>
              <a:ext uri="{FF2B5EF4-FFF2-40B4-BE49-F238E27FC236}">
                <a16:creationId xmlns:a16="http://schemas.microsoft.com/office/drawing/2014/main" id="{850A19D1-6D38-E6F7-2C5E-DD02B26FD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congestion control</a:t>
            </a:r>
          </a:p>
        </p:txBody>
      </p:sp>
      <p:sp>
        <p:nvSpPr>
          <p:cNvPr id="35843" name="Text Box 2">
            <a:extLst>
              <a:ext uri="{FF2B5EF4-FFF2-40B4-BE49-F238E27FC236}">
                <a16:creationId xmlns:a16="http://schemas.microsoft.com/office/drawing/2014/main" id="{CBF01B17-09BD-D942-3388-00CA7A35B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5400"/>
            <a:ext cx="7491413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In essence TCP deals with two potential problems separately: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i="1">
                <a:solidFill>
                  <a:schemeClr val="tx1"/>
                </a:solidFill>
              </a:rPr>
              <a:t>Problem			Solution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Receiver capacity		Receiver window (rwnd)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Network capacity		Congestion window (cwnd)</a:t>
            </a:r>
          </a:p>
        </p:txBody>
      </p:sp>
      <p:sp>
        <p:nvSpPr>
          <p:cNvPr id="35844" name="Line 3">
            <a:extLst>
              <a:ext uri="{FF2B5EF4-FFF2-40B4-BE49-F238E27FC236}">
                <a16:creationId xmlns:a16="http://schemas.microsoft.com/office/drawing/2014/main" id="{D88874C2-163C-153F-7863-0D23F9861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438400"/>
            <a:ext cx="658813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Line 4">
            <a:extLst>
              <a:ext uri="{FF2B5EF4-FFF2-40B4-BE49-F238E27FC236}">
                <a16:creationId xmlns:a16="http://schemas.microsoft.com/office/drawing/2014/main" id="{C406C09B-450A-FC00-215C-FF2B59083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819400"/>
            <a:ext cx="658813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Text Box 5">
            <a:extLst>
              <a:ext uri="{FF2B5EF4-FFF2-40B4-BE49-F238E27FC236}">
                <a16:creationId xmlns:a16="http://schemas.microsoft.com/office/drawing/2014/main" id="{736586DB-FCD6-E275-D4AB-5D7612EE8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505200"/>
            <a:ext cx="84582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Each window reflect the number of bytes the sender may transmit. The sender sends the </a:t>
            </a:r>
            <a:r>
              <a:rPr lang="en-GB" altLang="en-US" sz="2400" i="1">
                <a:solidFill>
                  <a:schemeClr val="tx1"/>
                </a:solidFill>
              </a:rPr>
              <a:t>minimum of these two sizes</a:t>
            </a:r>
            <a:r>
              <a:rPr lang="en-GB" altLang="en-US" sz="2400">
                <a:solidFill>
                  <a:schemeClr val="tx1"/>
                </a:solidFill>
              </a:rPr>
              <a:t>. This size is the </a:t>
            </a:r>
            <a:r>
              <a:rPr lang="en-GB" altLang="en-US" sz="2400" i="1">
                <a:solidFill>
                  <a:schemeClr val="tx1"/>
                </a:solidFill>
              </a:rPr>
              <a:t>effective window.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 i="1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Effective window is the minimum of what the sender thinks is all right to send (congestion window) and what the receiver this is ok to send (receiver window).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We assume that both rwnd and cwnd are measured in bytes (an alternative is SMSS).</a:t>
            </a:r>
            <a:endParaRPr lang="en-GB" altLang="en-US" sz="2400" i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>
            <a:extLst>
              <a:ext uri="{FF2B5EF4-FFF2-40B4-BE49-F238E27FC236}">
                <a16:creationId xmlns:a16="http://schemas.microsoft.com/office/drawing/2014/main" id="{AB9133C3-C988-951B-400C-1882244D0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Congestion Control – 4 Stages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:a16="http://schemas.microsoft.com/office/drawing/2014/main" id="{2209AB45-8213-2AC4-B0A1-5C75CA79D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1568450"/>
            <a:ext cx="5778500" cy="285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ts val="1138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TCP uses these stages in updating cwnd.</a:t>
            </a:r>
          </a:p>
          <a:p>
            <a:pPr eaLnBrk="1" hangingPunct="1">
              <a:lnSpc>
                <a:spcPct val="89000"/>
              </a:lnSpc>
              <a:spcBef>
                <a:spcPts val="1138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1. </a:t>
            </a:r>
            <a:r>
              <a:rPr lang="en-GB" altLang="en-US" i="1">
                <a:solidFill>
                  <a:srgbClr val="0000FF"/>
                </a:solidFill>
                <a:latin typeface="Arial" panose="020B0604020202020204" pitchFamily="34" charset="0"/>
              </a:rPr>
              <a:t>Slow start</a:t>
            </a: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:  Initial state. Rapidly grow cwnd </a:t>
            </a:r>
          </a:p>
          <a:p>
            <a:pPr eaLnBrk="1" hangingPunct="1">
              <a:lnSpc>
                <a:spcPct val="89000"/>
              </a:lnSpc>
              <a:spcBef>
                <a:spcPts val="1138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2. </a:t>
            </a:r>
            <a:r>
              <a:rPr lang="en-GB" altLang="en-US" i="1">
                <a:solidFill>
                  <a:srgbClr val="0000FF"/>
                </a:solidFill>
                <a:latin typeface="Arial" panose="020B0604020202020204" pitchFamily="34" charset="0"/>
              </a:rPr>
              <a:t>Congestion avoidance</a:t>
            </a: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: Slowly grow cwnd.</a:t>
            </a:r>
          </a:p>
          <a:p>
            <a:pPr eaLnBrk="1" hangingPunct="1">
              <a:lnSpc>
                <a:spcPct val="89000"/>
              </a:lnSpc>
              <a:spcBef>
                <a:spcPts val="1138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3. </a:t>
            </a:r>
            <a:r>
              <a:rPr lang="en-GB" altLang="en-US" i="1">
                <a:solidFill>
                  <a:srgbClr val="0000FF"/>
                </a:solidFill>
                <a:latin typeface="Arial" panose="020B0604020202020204" pitchFamily="34" charset="0"/>
              </a:rPr>
              <a:t>Fast retransmit</a:t>
            </a: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: Retransmit without waiting for timeout.</a:t>
            </a:r>
          </a:p>
          <a:p>
            <a:pPr eaLnBrk="1" hangingPunct="1">
              <a:lnSpc>
                <a:spcPct val="89000"/>
              </a:lnSpc>
              <a:spcBef>
                <a:spcPts val="1138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4. </a:t>
            </a:r>
            <a:r>
              <a:rPr lang="en-GB" altLang="en-US" i="1">
                <a:solidFill>
                  <a:srgbClr val="0000FF"/>
                </a:solidFill>
                <a:latin typeface="Arial" panose="020B0604020202020204" pitchFamily="34" charset="0"/>
              </a:rPr>
              <a:t>Fast recovery</a:t>
            </a: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: Don't reset cwnd.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:a16="http://schemas.microsoft.com/office/drawing/2014/main" id="{92251BD6-D033-DB09-AD0C-0FFDD76C5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688" y="2257425"/>
            <a:ext cx="204787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60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7893" name="Text Box 4">
            <a:extLst>
              <a:ext uri="{FF2B5EF4-FFF2-40B4-BE49-F238E27FC236}">
                <a16:creationId xmlns:a16="http://schemas.microsoft.com/office/drawing/2014/main" id="{5000F17A-0044-3390-4811-0087A5946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514600"/>
            <a:ext cx="228600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chemeClr val="tx1"/>
                </a:solidFill>
              </a:rPr>
              <a:t>Control amount of data injected into network</a:t>
            </a:r>
          </a:p>
        </p:txBody>
      </p:sp>
      <p:sp>
        <p:nvSpPr>
          <p:cNvPr id="37894" name="Text Box 5">
            <a:extLst>
              <a:ext uri="{FF2B5EF4-FFF2-40B4-BE49-F238E27FC236}">
                <a16:creationId xmlns:a16="http://schemas.microsoft.com/office/drawing/2014/main" id="{E1DD9261-CC3A-7827-5993-06641E9F9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15000"/>
            <a:ext cx="7485063" cy="64293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READING: TCP Congestion Control RFC 2581</a:t>
            </a:r>
          </a:p>
          <a:p>
            <a:pPr eaLnBrk="1" hangingPunct="1">
              <a:lnSpc>
                <a:spcPct val="8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  <a:latin typeface="Courier" pitchFamily="49" charset="0"/>
              </a:rPr>
              <a:t>http://www.rfc-editor.org/rfc/rfc2581.txt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>
            <a:extLst>
              <a:ext uri="{FF2B5EF4-FFF2-40B4-BE49-F238E27FC236}">
                <a16:creationId xmlns:a16="http://schemas.microsoft.com/office/drawing/2014/main" id="{1EF78575-252C-AD0F-1E11-E836232D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Congestion Control – Slow start</a:t>
            </a:r>
          </a:p>
        </p:txBody>
      </p:sp>
      <p:sp>
        <p:nvSpPr>
          <p:cNvPr id="39939" name="Text Box 2">
            <a:extLst>
              <a:ext uri="{FF2B5EF4-FFF2-40B4-BE49-F238E27FC236}">
                <a16:creationId xmlns:a16="http://schemas.microsoft.com/office/drawing/2014/main" id="{A9031718-24EC-3C48-E949-CFBA412EC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50975"/>
            <a:ext cx="8470900" cy="522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This is the initial state or state after loss of data.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i="1">
                <a:solidFill>
                  <a:schemeClr val="tx1"/>
                </a:solidFill>
              </a:rPr>
              <a:t>cwnd grows by multiples of SMSS per ACK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 i="1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Initial window (IW) is 1 SMSS. So after the ACK comes in cwnd becomes 2 SMSS. Then after the 2 ACKs come in the cwnd grows to 4 SMSS and so on. So  growth is in fact exponential.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After data loss cwnd is set to the Loss Window (LW) size of 1 SMSS.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i="1">
                <a:solidFill>
                  <a:schemeClr val="tx1"/>
                </a:solidFill>
              </a:rPr>
              <a:t>Slow start threshold</a:t>
            </a:r>
            <a:r>
              <a:rPr lang="en-GB" altLang="en-US" sz="2400">
                <a:solidFill>
                  <a:schemeClr val="tx1"/>
                </a:solidFill>
              </a:rPr>
              <a:t> (ssthresh) is used to change from slow start to congestion avoidance.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If cwnd &lt; ssthesh, slow start else congestion avoidance.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Initial ssthresh is usually set to rwnd.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>
            <a:extLst>
              <a:ext uri="{FF2B5EF4-FFF2-40B4-BE49-F238E27FC236}">
                <a16:creationId xmlns:a16="http://schemas.microsoft.com/office/drawing/2014/main" id="{2B9D9259-7CF7-4C9A-625E-9B311C1445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2000"/>
              <a:t>TCP Congestion Control</a:t>
            </a:r>
            <a:r>
              <a:rPr lang="en-GB" altLang="en-US"/>
              <a:t> – Congestion Avoidance</a:t>
            </a:r>
          </a:p>
        </p:txBody>
      </p:sp>
      <p:sp>
        <p:nvSpPr>
          <p:cNvPr id="41987" name="Text Box 2">
            <a:extLst>
              <a:ext uri="{FF2B5EF4-FFF2-40B4-BE49-F238E27FC236}">
                <a16:creationId xmlns:a16="http://schemas.microsoft.com/office/drawing/2014/main" id="{A44C6757-D42F-7300-D523-D5A84252A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1112838"/>
            <a:ext cx="8558212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This stage follows slow start after cwnd &gt; ssthresh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i="1">
                <a:solidFill>
                  <a:schemeClr val="tx1"/>
                </a:solidFill>
              </a:rPr>
              <a:t>cwnd grows by 1 SMSS per RTT.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 i="1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This stage continues until congestion is detected.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i="1">
                <a:solidFill>
                  <a:schemeClr val="tx1"/>
                </a:solidFill>
              </a:rPr>
              <a:t>For every non-duplicate ACK</a:t>
            </a:r>
            <a:r>
              <a:rPr lang="en-GB" altLang="en-US" sz="2400">
                <a:solidFill>
                  <a:schemeClr val="tx1"/>
                </a:solidFill>
              </a:rPr>
              <a:t> update cwnd using: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cwnd += SMSS * (SMSS/cwnd)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57696FD6-C9EF-619C-C8A5-11C8E4268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114800"/>
            <a:ext cx="8675688" cy="23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Assuming cwnd bytes are sent in a burst in full SMSS segments,  </a:t>
            </a:r>
          </a:p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after an interval of RTT after the burst (cwnd/SMMS) ACKs will be received. So  the total cwnd will increase by </a:t>
            </a:r>
          </a:p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SMSS * (SMSS/cwnd) * (cwnd/SMSS), which is simply SMMS.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Hence using the above updating formula cwnd  will increase by 1 SMSS per RTT.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>
            <a:extLst>
              <a:ext uri="{FF2B5EF4-FFF2-40B4-BE49-F238E27FC236}">
                <a16:creationId xmlns:a16="http://schemas.microsoft.com/office/drawing/2014/main" id="{29FCD084-8693-853A-3A2E-629A349F2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2000"/>
              <a:t>TCP congestion control</a:t>
            </a:r>
            <a:r>
              <a:rPr lang="en-GB" altLang="en-US"/>
              <a:t> – Adjusting ssthresh</a:t>
            </a:r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31B3B2A1-5EAC-1A26-A262-EC60A12B0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1465263"/>
            <a:ext cx="8177213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When TCP detects a loss, cwnd falls to LW (1 SMSS). Also the ssthresh is adjusted using: </a:t>
            </a:r>
          </a:p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tx1"/>
                </a:solidFill>
                <a:latin typeface="Arial Unicode MS" pitchFamily="34" charset="-128"/>
              </a:rPr>
              <a:t>ssthresh = max (FlightSize / 2, 2*SMSS)</a:t>
            </a:r>
            <a:r>
              <a:rPr lang="en-US" altLang="en-US" sz="2400">
                <a:solidFill>
                  <a:schemeClr val="tx1"/>
                </a:solidFill>
              </a:rPr>
              <a:t> </a:t>
            </a: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251A5E35-2B0A-ACA6-86DB-056EACED8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38600"/>
            <a:ext cx="7972425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FlightSize is the number of unacked bytes (bytes still on the wire).  In most cases cwnd is equal to FlightSize.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>
            <a:extLst>
              <a:ext uri="{FF2B5EF4-FFF2-40B4-BE49-F238E27FC236}">
                <a16:creationId xmlns:a16="http://schemas.microsoft.com/office/drawing/2014/main" id="{29E37C83-2A26-21E9-E41F-6A2CD0A7B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Congestion Control </a:t>
            </a: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871D7BA-2DBB-1A56-04B2-91CD17810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111875"/>
            <a:ext cx="9144000" cy="51435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93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An example of the Internet congestion algorithm.</a:t>
            </a:r>
          </a:p>
        </p:txBody>
      </p:sp>
      <p:pic>
        <p:nvPicPr>
          <p:cNvPr id="46084" name="Picture 3">
            <a:extLst>
              <a:ext uri="{FF2B5EF4-FFF2-40B4-BE49-F238E27FC236}">
                <a16:creationId xmlns:a16="http://schemas.microsoft.com/office/drawing/2014/main" id="{ACEFC959-1A0A-9566-907B-EF8FB3020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955675"/>
            <a:ext cx="6996113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>
            <a:extLst>
              <a:ext uri="{FF2B5EF4-FFF2-40B4-BE49-F238E27FC236}">
                <a16:creationId xmlns:a16="http://schemas.microsoft.com/office/drawing/2014/main" id="{8AC20A10-5DE3-4800-21BF-96883027A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806450" y="0"/>
            <a:ext cx="10448925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134600" algn="l"/>
              </a:tabLst>
            </a:pPr>
            <a:r>
              <a:rPr lang="en-GB" altLang="en-US" sz="2000"/>
              <a:t>TCP congestion control</a:t>
            </a:r>
            <a:r>
              <a:rPr lang="en-GB" altLang="en-US"/>
              <a:t> </a:t>
            </a:r>
            <a:r>
              <a:rPr lang="en-GB" altLang="en-US" sz="2800"/>
              <a:t>–</a:t>
            </a:r>
            <a:r>
              <a:rPr lang="en-GB" altLang="en-US"/>
              <a:t> </a:t>
            </a:r>
            <a:r>
              <a:rPr lang="en-GB" altLang="en-US" sz="2800"/>
              <a:t>Fast Retransmit and Fast Recovery</a:t>
            </a:r>
          </a:p>
        </p:txBody>
      </p:sp>
      <p:sp>
        <p:nvSpPr>
          <p:cNvPr id="48131" name="Text Box 2">
            <a:extLst>
              <a:ext uri="{FF2B5EF4-FFF2-40B4-BE49-F238E27FC236}">
                <a16:creationId xmlns:a16="http://schemas.microsoft.com/office/drawing/2014/main" id="{719E82CB-06FD-04FD-2C32-437DDBA89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1274763"/>
            <a:ext cx="815975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TCP receiver should send duplicate ACK when out-of-order segment arrives. A duplicate ACK at sender could mean: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1. Lost segment (all subsequent segments will generate duplicate ACKs)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2. Re-ordered segments.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3. Network replicated ACK or data segment.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rgbClr val="0000FF"/>
                </a:solidFill>
              </a:rPr>
              <a:t>Fast retransmit</a:t>
            </a:r>
            <a:r>
              <a:rPr lang="en-GB" altLang="en-US" sz="2400">
                <a:solidFill>
                  <a:schemeClr val="tx1"/>
                </a:solidFill>
              </a:rPr>
              <a:t> algo says retransmit segment after getting 3 </a:t>
            </a:r>
            <a:r>
              <a:rPr lang="en-GB" altLang="en-US" sz="2400" i="1">
                <a:solidFill>
                  <a:schemeClr val="tx1"/>
                </a:solidFill>
              </a:rPr>
              <a:t>duplicate</a:t>
            </a:r>
            <a:r>
              <a:rPr lang="en-GB" altLang="en-US" sz="2400">
                <a:solidFill>
                  <a:schemeClr val="tx1"/>
                </a:solidFill>
              </a:rPr>
              <a:t> acks, without waiting for RTO (Retransmit Timeout) to expire.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rgbClr val="0000FF"/>
                </a:solidFill>
              </a:rPr>
              <a:t>Fast recovery</a:t>
            </a:r>
            <a:r>
              <a:rPr lang="en-GB" altLang="en-US" sz="2400">
                <a:solidFill>
                  <a:schemeClr val="tx1"/>
                </a:solidFill>
              </a:rPr>
              <a:t> says don't treat the above retransmit as a lost segment (since RTO did not expire), </a:t>
            </a:r>
            <a:r>
              <a:rPr lang="en-GB" altLang="en-US" sz="2400" i="1">
                <a:solidFill>
                  <a:schemeClr val="tx1"/>
                </a:solidFill>
              </a:rPr>
              <a:t>so don't reset cwnd to LW</a:t>
            </a:r>
            <a:r>
              <a:rPr lang="en-GB" altLang="en-US" sz="2400">
                <a:solidFill>
                  <a:schemeClr val="tx1"/>
                </a:solidFill>
              </a:rPr>
              <a:t>.  The reasoning is that since (duplicate) ACKs are arriving, the receiver is getting segments, so segments are leaving the network. In fast recovery, adjust ssthresh using previous formula.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>
            <a:extLst>
              <a:ext uri="{FF2B5EF4-FFF2-40B4-BE49-F238E27FC236}">
                <a16:creationId xmlns:a16="http://schemas.microsoft.com/office/drawing/2014/main" id="{1A3C7609-2511-B957-D8A3-E133BF4C55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Timer Management</a:t>
            </a:r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1F1E795A-5AB7-4546-B77A-6BF107AE6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8" y="1363663"/>
            <a:ext cx="8205787" cy="462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Of the several timers TCP maintains the most important is the retransmission timer RTO, (also called </a:t>
            </a:r>
            <a:r>
              <a:rPr lang="en-GB" altLang="en-US" sz="2400" b="1">
                <a:solidFill>
                  <a:schemeClr val="tx1"/>
                </a:solidFill>
              </a:rPr>
              <a:t>timeout</a:t>
            </a:r>
            <a:r>
              <a:rPr lang="en-GB" altLang="en-US" sz="2400">
                <a:solidFill>
                  <a:schemeClr val="tx1"/>
                </a:solidFill>
              </a:rPr>
              <a:t>) .  After each segment is sent, TCP starts a retransmission timer, if ACK arrives before timer expires, cancel timer. If timer expires first, consider segment lost.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How long should RTO be ?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Typically some small multiple of RTT.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So how to measure RTT ?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Measure time between segment sent and  ACK receiver.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Unfortunately, in the Internet RTT are not constant, they a vary a lot.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>
            <a:extLst>
              <a:ext uri="{FF2B5EF4-FFF2-40B4-BE49-F238E27FC236}">
                <a16:creationId xmlns:a16="http://schemas.microsoft.com/office/drawing/2014/main" id="{C8920DA0-B9B9-BF9C-682C-1D8CD0C20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TCP Timer Management</a:t>
            </a: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2B919598-7808-959B-DBCF-21A4CB1BF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8763" y="5437188"/>
            <a:ext cx="9144000" cy="1284287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(a)</a:t>
            </a:r>
            <a:r>
              <a:rPr lang="en-GB" altLang="en-US"/>
              <a:t> Probability density of ACK arrival times in the data link layer.  </a:t>
            </a:r>
          </a:p>
          <a:p>
            <a:pPr eaLnBrk="1" hangingPunct="1"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(b)</a:t>
            </a:r>
            <a:r>
              <a:rPr lang="en-GB" altLang="en-US"/>
              <a:t> Probability density of  ACK arrival times for TCP.</a:t>
            </a:r>
          </a:p>
        </p:txBody>
      </p:sp>
      <p:pic>
        <p:nvPicPr>
          <p:cNvPr id="52228" name="Picture 3">
            <a:extLst>
              <a:ext uri="{FF2B5EF4-FFF2-40B4-BE49-F238E27FC236}">
                <a16:creationId xmlns:a16="http://schemas.microsoft.com/office/drawing/2014/main" id="{45CAF7D6-4A27-EBDD-F53A-E4BE6E92E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75" y="1144588"/>
            <a:ext cx="757555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>
            <a:extLst>
              <a:ext uri="{FF2B5EF4-FFF2-40B4-BE49-F238E27FC236}">
                <a16:creationId xmlns:a16="http://schemas.microsoft.com/office/drawing/2014/main" id="{43AA7879-0C6A-20B4-B285-C2A783419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Maintaining RTO</a:t>
            </a:r>
          </a:p>
        </p:txBody>
      </p:sp>
      <p:sp>
        <p:nvSpPr>
          <p:cNvPr id="54275" name="Text Box 2">
            <a:extLst>
              <a:ext uri="{FF2B5EF4-FFF2-40B4-BE49-F238E27FC236}">
                <a16:creationId xmlns:a16="http://schemas.microsoft.com/office/drawing/2014/main" id="{FD5B2CEA-24DD-C2D0-0B76-C22AC2350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1025525"/>
            <a:ext cx="8393112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TCP  dynamically updates the current RTT and most recent </a:t>
            </a:r>
          </a:p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measurement M (how long it took to receive the last ACK) using:</a:t>
            </a:r>
          </a:p>
        </p:txBody>
      </p:sp>
      <p:sp>
        <p:nvSpPr>
          <p:cNvPr id="54276" name="Text Box 4">
            <a:extLst>
              <a:ext uri="{FF2B5EF4-FFF2-40B4-BE49-F238E27FC236}">
                <a16:creationId xmlns:a16="http://schemas.microsoft.com/office/drawing/2014/main" id="{C537CBEA-05D2-7908-16E7-CD8DB7049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895600"/>
            <a:ext cx="88392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However, using a constant multiple of RTT as the RTO is inflexible since it fails to respond to variance. TCP keep an estimator of deviation D. D keeps track of the the variance in RTT, i.e, in RTT – M using:</a:t>
            </a:r>
          </a:p>
        </p:txBody>
      </p:sp>
      <p:sp>
        <p:nvSpPr>
          <p:cNvPr id="54277" name="Text Box 6">
            <a:extLst>
              <a:ext uri="{FF2B5EF4-FFF2-40B4-BE49-F238E27FC236}">
                <a16:creationId xmlns:a16="http://schemas.microsoft.com/office/drawing/2014/main" id="{13D7560B-3DE6-468C-49C6-221E67898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34000"/>
            <a:ext cx="68548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The final retransmission timeout (RTO) is calculated as:</a:t>
            </a:r>
          </a:p>
        </p:txBody>
      </p:sp>
      <p:graphicFrame>
        <p:nvGraphicFramePr>
          <p:cNvPr id="54278" name="Object 9">
            <a:extLst>
              <a:ext uri="{FF2B5EF4-FFF2-40B4-BE49-F238E27FC236}">
                <a16:creationId xmlns:a16="http://schemas.microsoft.com/office/drawing/2014/main" id="{7857639D-457E-535C-5442-5BFA981FA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828800"/>
          <a:ext cx="44196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033" imgH="203112" progId="Equation.3">
                  <p:embed/>
                </p:oleObj>
              </mc:Choice>
              <mc:Fallback>
                <p:oleObj name="Equation" r:id="rId3" imgW="1536033" imgH="203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800"/>
                        <a:ext cx="44196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10">
            <a:extLst>
              <a:ext uri="{FF2B5EF4-FFF2-40B4-BE49-F238E27FC236}">
                <a16:creationId xmlns:a16="http://schemas.microsoft.com/office/drawing/2014/main" id="{FF44771B-EA3B-0A96-B94D-48A0196DE9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343400"/>
          <a:ext cx="50038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39900" imgH="203200" progId="Equation.3">
                  <p:embed/>
                </p:oleObj>
              </mc:Choice>
              <mc:Fallback>
                <p:oleObj name="Equation" r:id="rId5" imgW="17399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343400"/>
                        <a:ext cx="50038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11">
            <a:extLst>
              <a:ext uri="{FF2B5EF4-FFF2-40B4-BE49-F238E27FC236}">
                <a16:creationId xmlns:a16="http://schemas.microsoft.com/office/drawing/2014/main" id="{4700B89A-587A-B7B8-C3C2-0B4BFFC2D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5943600"/>
          <a:ext cx="37988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227" imgH="177723" progId="Equation.3">
                  <p:embed/>
                </p:oleObj>
              </mc:Choice>
              <mc:Fallback>
                <p:oleObj name="Equation" r:id="rId7" imgW="1320227" imgH="17772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943600"/>
                        <a:ext cx="379888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12">
            <a:extLst>
              <a:ext uri="{FF2B5EF4-FFF2-40B4-BE49-F238E27FC236}">
                <a16:creationId xmlns:a16="http://schemas.microsoft.com/office/drawing/2014/main" id="{1396AE0E-E877-A0E5-D753-81F1F0721B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9000" y="1630363"/>
          <a:ext cx="9652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6048" imgH="393359" progId="Equation.3">
                  <p:embed/>
                </p:oleObj>
              </mc:Choice>
              <mc:Fallback>
                <p:oleObj name="Equation" r:id="rId9" imgW="406048" imgH="39335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1630363"/>
                        <a:ext cx="9652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>
            <a:extLst>
              <a:ext uri="{FF2B5EF4-FFF2-40B4-BE49-F238E27FC236}">
                <a16:creationId xmlns:a16="http://schemas.microsoft.com/office/drawing/2014/main" id="{7D2DCA9C-AE7B-1973-05A8-75225BD61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RTO exceptions</a:t>
            </a:r>
          </a:p>
        </p:txBody>
      </p:sp>
      <p:sp>
        <p:nvSpPr>
          <p:cNvPr id="56323" name="Text Box 2">
            <a:extLst>
              <a:ext uri="{FF2B5EF4-FFF2-40B4-BE49-F238E27FC236}">
                <a16:creationId xmlns:a16="http://schemas.microsoft.com/office/drawing/2014/main" id="{BBF4300A-4748-A7D3-D517-E4074A944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363663"/>
            <a:ext cx="7958138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Assume a segment times out and is then retransmitted. An ACK for the segment arrives.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So for purposes for calculating M how do we decide if the ack is for the first send or the retransmission ?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We cannot.  It might be for the first, but very delayed, or might be for the second. So we cannot use ACKs of retransmitted segments for calculating M (or updating RTT).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Rule: Don't use acks of retransmitted segments to update RTT. Instead, if segment times out, simply double RTO.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This is called the </a:t>
            </a:r>
            <a:r>
              <a:rPr lang="en-GB" altLang="en-US" sz="2400" i="1">
                <a:solidFill>
                  <a:schemeClr val="tx1"/>
                </a:solidFill>
              </a:rPr>
              <a:t>Karn's algorithm</a:t>
            </a:r>
            <a:r>
              <a:rPr lang="en-GB" altLang="en-US" sz="240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>
            <a:extLst>
              <a:ext uri="{FF2B5EF4-FFF2-40B4-BE49-F238E27FC236}">
                <a16:creationId xmlns:a16="http://schemas.microsoft.com/office/drawing/2014/main" id="{3FBF2A2E-8A9C-1D07-C0A0-D2C013E30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Other timers</a:t>
            </a:r>
          </a:p>
        </p:txBody>
      </p:sp>
      <p:sp>
        <p:nvSpPr>
          <p:cNvPr id="58371" name="Text Box 2">
            <a:extLst>
              <a:ext uri="{FF2B5EF4-FFF2-40B4-BE49-F238E27FC236}">
                <a16:creationId xmlns:a16="http://schemas.microsoft.com/office/drawing/2014/main" id="{3E68728F-9C13-950A-5B3B-1F66D699F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1246188"/>
            <a:ext cx="8205787" cy="36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b="1">
                <a:solidFill>
                  <a:schemeClr val="tx1"/>
                </a:solidFill>
              </a:rPr>
              <a:t>Persistent timer</a:t>
            </a:r>
            <a:r>
              <a:rPr lang="en-GB" altLang="en-US" sz="2400">
                <a:solidFill>
                  <a:schemeClr val="tx1"/>
                </a:solidFill>
              </a:rPr>
              <a:t>: Assume receiver advertises a window = 0.  Sender stop sending. Receiver send segment with new window size. This segment is lost. Sender will keep waiting forever.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After getting a window of 0 the sender uses a persistent timer periodically to probe the receiver to send window advertisements. Once it gets a non-zero window the timer is stopped.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 b="1">
                <a:solidFill>
                  <a:schemeClr val="tx1"/>
                </a:solidFill>
              </a:rPr>
              <a:t>Keep alive timer</a:t>
            </a:r>
            <a:r>
              <a:rPr lang="en-GB" altLang="en-US" sz="2400">
                <a:solidFill>
                  <a:schemeClr val="tx1"/>
                </a:solidFill>
              </a:rPr>
              <a:t>: During long periods of inactivity, one side might send to the other a keep alive probe to check if the other side is alive.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>
            <a:extLst>
              <a:ext uri="{FF2B5EF4-FFF2-40B4-BE49-F238E27FC236}">
                <a16:creationId xmlns:a16="http://schemas.microsoft.com/office/drawing/2014/main" id="{3D96336D-8F90-096E-E646-4F33F0C4C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Wireless TCP</a:t>
            </a:r>
          </a:p>
        </p:txBody>
      </p:sp>
      <p:sp>
        <p:nvSpPr>
          <p:cNvPr id="60419" name="Text Box 2">
            <a:extLst>
              <a:ext uri="{FF2B5EF4-FFF2-40B4-BE49-F238E27FC236}">
                <a16:creationId xmlns:a16="http://schemas.microsoft.com/office/drawing/2014/main" id="{29C9959B-B85B-A583-B3FB-89A662DBE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1347788"/>
            <a:ext cx="7253288" cy="424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Wireless network can lose packet in wireless “links”.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Since TCP assumes loss is due to route congestion, it will reduce sending rate.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If the loss due to wireless link, TCP should resend asap, i.e., </a:t>
            </a:r>
            <a:r>
              <a:rPr lang="en-GB" altLang="en-US" sz="2400" i="1">
                <a:solidFill>
                  <a:schemeClr val="tx1"/>
                </a:solidFill>
              </a:rPr>
              <a:t>increase overall sending rate</a:t>
            </a:r>
            <a:r>
              <a:rPr lang="en-GB" altLang="en-US" sz="240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Therefore, the usual TCP will perform very badly on lossy wireless networks.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GB" altLang="en-US" sz="2400">
              <a:solidFill>
                <a:schemeClr val="tx1"/>
              </a:solidFill>
            </a:endParaRP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Problem complicated by heterogeneous networks. If part wired and part wireless, then  reaction of TCP should depend on where the loss occurred (wired or wireless part).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>
            <a:extLst>
              <a:ext uri="{FF2B5EF4-FFF2-40B4-BE49-F238E27FC236}">
                <a16:creationId xmlns:a16="http://schemas.microsoft.com/office/drawing/2014/main" id="{6B9D1902-7557-5497-B927-164475BB6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Split TCP</a:t>
            </a: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FF13547-5CB9-C8E6-113A-7152EFEB4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87313" y="4440238"/>
            <a:ext cx="9144001" cy="83820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93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Splitting a TCP connection into two connections.</a:t>
            </a:r>
          </a:p>
        </p:txBody>
      </p:sp>
      <p:pic>
        <p:nvPicPr>
          <p:cNvPr id="62468" name="Picture 3">
            <a:extLst>
              <a:ext uri="{FF2B5EF4-FFF2-40B4-BE49-F238E27FC236}">
                <a16:creationId xmlns:a16="http://schemas.microsoft.com/office/drawing/2014/main" id="{94F71E09-075A-BAD7-497A-8BE30D869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479550"/>
            <a:ext cx="8040687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Text Box 4">
            <a:extLst>
              <a:ext uri="{FF2B5EF4-FFF2-40B4-BE49-F238E27FC236}">
                <a16:creationId xmlns:a16="http://schemas.microsoft.com/office/drawing/2014/main" id="{8B4A7552-A80E-BDAC-C600-C97B8BC88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5348288"/>
            <a:ext cx="7927975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But now ACK to sender does not mean mobile host got it. It simply means the base station got it. No end-to-end semantics.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>
            <a:extLst>
              <a:ext uri="{FF2B5EF4-FFF2-40B4-BE49-F238E27FC236}">
                <a16:creationId xmlns:a16="http://schemas.microsoft.com/office/drawing/2014/main" id="{DA18DA65-A6B0-5072-B726-7B6FB8FA9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Wireless TCP – Balakrishnan et. al</a:t>
            </a:r>
          </a:p>
        </p:txBody>
      </p:sp>
      <p:sp>
        <p:nvSpPr>
          <p:cNvPr id="64515" name="AutoShape 2">
            <a:extLst>
              <a:ext uri="{FF2B5EF4-FFF2-40B4-BE49-F238E27FC236}">
                <a16:creationId xmlns:a16="http://schemas.microsoft.com/office/drawing/2014/main" id="{48E46A2A-3CE8-01D7-3375-CC9C3B5D7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1755775"/>
            <a:ext cx="468313" cy="439738"/>
          </a:xfrm>
          <a:prstGeom prst="roundRect">
            <a:avLst>
              <a:gd name="adj" fmla="val 361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endParaRPr lang="en-IN" altLang="en-US"/>
          </a:p>
        </p:txBody>
      </p:sp>
      <p:sp>
        <p:nvSpPr>
          <p:cNvPr id="64516" name="AutoShape 3">
            <a:extLst>
              <a:ext uri="{FF2B5EF4-FFF2-40B4-BE49-F238E27FC236}">
                <a16:creationId xmlns:a16="http://schemas.microsoft.com/office/drawing/2014/main" id="{62C723E2-EE4D-6003-0DFA-BF401662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50" y="1727200"/>
            <a:ext cx="468313" cy="439738"/>
          </a:xfrm>
          <a:prstGeom prst="roundRect">
            <a:avLst>
              <a:gd name="adj" fmla="val 361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endParaRPr lang="en-IN" altLang="en-US"/>
          </a:p>
        </p:txBody>
      </p:sp>
      <p:sp>
        <p:nvSpPr>
          <p:cNvPr id="64517" name="AutoShape 4">
            <a:extLst>
              <a:ext uri="{FF2B5EF4-FFF2-40B4-BE49-F238E27FC236}">
                <a16:creationId xmlns:a16="http://schemas.microsoft.com/office/drawing/2014/main" id="{F597E475-4954-DE9A-9D9E-BAFAF904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1755775"/>
            <a:ext cx="468313" cy="439738"/>
          </a:xfrm>
          <a:prstGeom prst="roundRect">
            <a:avLst>
              <a:gd name="adj" fmla="val 361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endParaRPr lang="en-IN" altLang="en-US"/>
          </a:p>
        </p:txBody>
      </p:sp>
      <p:sp>
        <p:nvSpPr>
          <p:cNvPr id="64518" name="Line 5">
            <a:extLst>
              <a:ext uri="{FF2B5EF4-FFF2-40B4-BE49-F238E27FC236}">
                <a16:creationId xmlns:a16="http://schemas.microsoft.com/office/drawing/2014/main" id="{D1AF2CEA-1FB6-8EC8-DBA1-4A16FB706D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1976438"/>
            <a:ext cx="24479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9" name="Freeform 6">
            <a:extLst>
              <a:ext uri="{FF2B5EF4-FFF2-40B4-BE49-F238E27FC236}">
                <a16:creationId xmlns:a16="http://schemas.microsoft.com/office/drawing/2014/main" id="{93175420-5FF9-05A7-79C8-261DF8DA0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363" y="1741488"/>
            <a:ext cx="276225" cy="454025"/>
          </a:xfrm>
          <a:custGeom>
            <a:avLst/>
            <a:gdLst>
              <a:gd name="T0" fmla="*/ 2147483646 w 766"/>
              <a:gd name="T1" fmla="*/ 92914077 h 1263"/>
              <a:gd name="T2" fmla="*/ 2147483646 w 766"/>
              <a:gd name="T3" fmla="*/ 464570746 h 1263"/>
              <a:gd name="T4" fmla="*/ 2147483646 w 766"/>
              <a:gd name="T5" fmla="*/ 1161361799 h 1263"/>
              <a:gd name="T6" fmla="*/ 2147483646 w 766"/>
              <a:gd name="T7" fmla="*/ 2136895444 h 1263"/>
              <a:gd name="T8" fmla="*/ 2147483646 w 766"/>
              <a:gd name="T9" fmla="*/ 2147483646 h 1263"/>
              <a:gd name="T10" fmla="*/ 2147483646 w 766"/>
              <a:gd name="T11" fmla="*/ 2147483646 h 1263"/>
              <a:gd name="T12" fmla="*/ 2147483646 w 766"/>
              <a:gd name="T13" fmla="*/ 2147483646 h 1263"/>
              <a:gd name="T14" fmla="*/ 2147483646 w 766"/>
              <a:gd name="T15" fmla="*/ 2147483646 h 1263"/>
              <a:gd name="T16" fmla="*/ 2147483646 w 766"/>
              <a:gd name="T17" fmla="*/ 2147483646 h 1263"/>
              <a:gd name="T18" fmla="*/ 2147483646 w 766"/>
              <a:gd name="T19" fmla="*/ 2147483646 h 1263"/>
              <a:gd name="T20" fmla="*/ 2147483646 w 766"/>
              <a:gd name="T21" fmla="*/ 2147483646 h 1263"/>
              <a:gd name="T22" fmla="*/ 2110117754 w 766"/>
              <a:gd name="T23" fmla="*/ 2147483646 h 1263"/>
              <a:gd name="T24" fmla="*/ 1172287721 w 766"/>
              <a:gd name="T25" fmla="*/ 2147483646 h 1263"/>
              <a:gd name="T26" fmla="*/ 468915016 w 766"/>
              <a:gd name="T27" fmla="*/ 2147483646 h 1263"/>
              <a:gd name="T28" fmla="*/ 93757112 w 766"/>
              <a:gd name="T29" fmla="*/ 2147483646 h 1263"/>
              <a:gd name="T30" fmla="*/ 0 w 766"/>
              <a:gd name="T31" fmla="*/ 2147483646 h 1263"/>
              <a:gd name="T32" fmla="*/ 234457688 w 766"/>
              <a:gd name="T33" fmla="*/ 2147483646 h 1263"/>
              <a:gd name="T34" fmla="*/ 750316170 w 766"/>
              <a:gd name="T35" fmla="*/ 2147483646 h 1263"/>
              <a:gd name="T36" fmla="*/ 1547445626 w 766"/>
              <a:gd name="T37" fmla="*/ 2147483646 h 1263"/>
              <a:gd name="T38" fmla="*/ 2147483646 w 766"/>
              <a:gd name="T39" fmla="*/ 2147483646 h 1263"/>
              <a:gd name="T40" fmla="*/ 2147483646 w 766"/>
              <a:gd name="T41" fmla="*/ 2147483646 h 1263"/>
              <a:gd name="T42" fmla="*/ 2147483646 w 766"/>
              <a:gd name="T43" fmla="*/ 2147483646 h 1263"/>
              <a:gd name="T44" fmla="*/ 2147483646 w 766"/>
              <a:gd name="T45" fmla="*/ 2147483646 h 1263"/>
              <a:gd name="T46" fmla="*/ 2147483646 w 766"/>
              <a:gd name="T47" fmla="*/ 2147483646 h 1263"/>
              <a:gd name="T48" fmla="*/ 2147483646 w 766"/>
              <a:gd name="T49" fmla="*/ 2147483646 h 1263"/>
              <a:gd name="T50" fmla="*/ 2147483646 w 766"/>
              <a:gd name="T51" fmla="*/ 2147483646 h 1263"/>
              <a:gd name="T52" fmla="*/ 2147483646 w 766"/>
              <a:gd name="T53" fmla="*/ 2147483646 h 1263"/>
              <a:gd name="T54" fmla="*/ 2147483646 w 766"/>
              <a:gd name="T55" fmla="*/ 2147483646 h 1263"/>
              <a:gd name="T56" fmla="*/ 2147483646 w 766"/>
              <a:gd name="T57" fmla="*/ 2147483646 h 1263"/>
              <a:gd name="T58" fmla="*/ 2147483646 w 766"/>
              <a:gd name="T59" fmla="*/ 2147483646 h 1263"/>
              <a:gd name="T60" fmla="*/ 2147483646 w 766"/>
              <a:gd name="T61" fmla="*/ 2147483646 h 1263"/>
              <a:gd name="T62" fmla="*/ 2147483646 w 766"/>
              <a:gd name="T63" fmla="*/ 2147483646 h 1263"/>
              <a:gd name="T64" fmla="*/ 2147483646 w 766"/>
              <a:gd name="T65" fmla="*/ 2147483646 h 126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766" h="1263">
                <a:moveTo>
                  <a:pt x="612" y="0"/>
                </a:moveTo>
                <a:lnTo>
                  <a:pt x="580" y="2"/>
                </a:lnTo>
                <a:lnTo>
                  <a:pt x="549" y="5"/>
                </a:lnTo>
                <a:lnTo>
                  <a:pt x="517" y="10"/>
                </a:lnTo>
                <a:lnTo>
                  <a:pt x="486" y="17"/>
                </a:lnTo>
                <a:lnTo>
                  <a:pt x="455" y="25"/>
                </a:lnTo>
                <a:lnTo>
                  <a:pt x="425" y="35"/>
                </a:lnTo>
                <a:lnTo>
                  <a:pt x="395" y="46"/>
                </a:lnTo>
                <a:lnTo>
                  <a:pt x="366" y="58"/>
                </a:lnTo>
                <a:lnTo>
                  <a:pt x="338" y="72"/>
                </a:lnTo>
                <a:lnTo>
                  <a:pt x="310" y="88"/>
                </a:lnTo>
                <a:lnTo>
                  <a:pt x="283" y="105"/>
                </a:lnTo>
                <a:lnTo>
                  <a:pt x="257" y="123"/>
                </a:lnTo>
                <a:lnTo>
                  <a:pt x="232" y="142"/>
                </a:lnTo>
                <a:lnTo>
                  <a:pt x="208" y="163"/>
                </a:lnTo>
                <a:lnTo>
                  <a:pt x="185" y="185"/>
                </a:lnTo>
                <a:lnTo>
                  <a:pt x="163" y="208"/>
                </a:lnTo>
                <a:lnTo>
                  <a:pt x="142" y="232"/>
                </a:lnTo>
                <a:lnTo>
                  <a:pt x="123" y="257"/>
                </a:lnTo>
                <a:lnTo>
                  <a:pt x="104" y="283"/>
                </a:lnTo>
                <a:lnTo>
                  <a:pt x="88" y="310"/>
                </a:lnTo>
                <a:lnTo>
                  <a:pt x="72" y="338"/>
                </a:lnTo>
                <a:lnTo>
                  <a:pt x="58" y="367"/>
                </a:lnTo>
                <a:lnTo>
                  <a:pt x="45" y="396"/>
                </a:lnTo>
                <a:lnTo>
                  <a:pt x="34" y="426"/>
                </a:lnTo>
                <a:lnTo>
                  <a:pt x="25" y="456"/>
                </a:lnTo>
                <a:lnTo>
                  <a:pt x="17" y="487"/>
                </a:lnTo>
                <a:lnTo>
                  <a:pt x="10" y="518"/>
                </a:lnTo>
                <a:lnTo>
                  <a:pt x="5" y="549"/>
                </a:lnTo>
                <a:lnTo>
                  <a:pt x="2" y="581"/>
                </a:lnTo>
                <a:lnTo>
                  <a:pt x="0" y="612"/>
                </a:lnTo>
                <a:lnTo>
                  <a:pt x="0" y="644"/>
                </a:lnTo>
                <a:lnTo>
                  <a:pt x="2" y="676"/>
                </a:lnTo>
                <a:lnTo>
                  <a:pt x="5" y="708"/>
                </a:lnTo>
                <a:lnTo>
                  <a:pt x="9" y="739"/>
                </a:lnTo>
                <a:lnTo>
                  <a:pt x="16" y="770"/>
                </a:lnTo>
                <a:lnTo>
                  <a:pt x="23" y="801"/>
                </a:lnTo>
                <a:lnTo>
                  <a:pt x="33" y="831"/>
                </a:lnTo>
                <a:lnTo>
                  <a:pt x="44" y="861"/>
                </a:lnTo>
                <a:lnTo>
                  <a:pt x="56" y="891"/>
                </a:lnTo>
                <a:lnTo>
                  <a:pt x="70" y="919"/>
                </a:lnTo>
                <a:lnTo>
                  <a:pt x="85" y="947"/>
                </a:lnTo>
                <a:lnTo>
                  <a:pt x="102" y="974"/>
                </a:lnTo>
                <a:lnTo>
                  <a:pt x="119" y="1000"/>
                </a:lnTo>
                <a:lnTo>
                  <a:pt x="139" y="1026"/>
                </a:lnTo>
                <a:lnTo>
                  <a:pt x="159" y="1050"/>
                </a:lnTo>
                <a:lnTo>
                  <a:pt x="181" y="1073"/>
                </a:lnTo>
                <a:lnTo>
                  <a:pt x="204" y="1095"/>
                </a:lnTo>
                <a:lnTo>
                  <a:pt x="228" y="1116"/>
                </a:lnTo>
                <a:lnTo>
                  <a:pt x="253" y="1136"/>
                </a:lnTo>
                <a:lnTo>
                  <a:pt x="279" y="1154"/>
                </a:lnTo>
                <a:lnTo>
                  <a:pt x="305" y="1171"/>
                </a:lnTo>
                <a:lnTo>
                  <a:pt x="333" y="1187"/>
                </a:lnTo>
                <a:lnTo>
                  <a:pt x="361" y="1201"/>
                </a:lnTo>
                <a:lnTo>
                  <a:pt x="390" y="1214"/>
                </a:lnTo>
                <a:lnTo>
                  <a:pt x="420" y="1226"/>
                </a:lnTo>
                <a:lnTo>
                  <a:pt x="450" y="1236"/>
                </a:lnTo>
                <a:lnTo>
                  <a:pt x="481" y="1244"/>
                </a:lnTo>
                <a:lnTo>
                  <a:pt x="512" y="1251"/>
                </a:lnTo>
                <a:lnTo>
                  <a:pt x="543" y="1256"/>
                </a:lnTo>
                <a:lnTo>
                  <a:pt x="575" y="1260"/>
                </a:lnTo>
                <a:lnTo>
                  <a:pt x="607" y="1262"/>
                </a:lnTo>
                <a:lnTo>
                  <a:pt x="638" y="1262"/>
                </a:lnTo>
                <a:lnTo>
                  <a:pt x="670" y="1261"/>
                </a:lnTo>
                <a:lnTo>
                  <a:pt x="702" y="1258"/>
                </a:lnTo>
                <a:lnTo>
                  <a:pt x="733" y="1254"/>
                </a:lnTo>
                <a:lnTo>
                  <a:pt x="765" y="1248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0" name="Freeform 7">
            <a:extLst>
              <a:ext uri="{FF2B5EF4-FFF2-40B4-BE49-F238E27FC236}">
                <a16:creationId xmlns:a16="http://schemas.microsoft.com/office/drawing/2014/main" id="{72930BBE-17B5-1327-3EEC-B8A4A266D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2738" y="1727200"/>
            <a:ext cx="277812" cy="454025"/>
          </a:xfrm>
          <a:custGeom>
            <a:avLst/>
            <a:gdLst>
              <a:gd name="T0" fmla="*/ 1491313889 w 772"/>
              <a:gd name="T1" fmla="*/ 2147483646 h 1263"/>
              <a:gd name="T2" fmla="*/ 2147483646 w 772"/>
              <a:gd name="T3" fmla="*/ 2147483646 h 1263"/>
              <a:gd name="T4" fmla="*/ 2147483646 w 772"/>
              <a:gd name="T5" fmla="*/ 2147483646 h 1263"/>
              <a:gd name="T6" fmla="*/ 2147483646 w 772"/>
              <a:gd name="T7" fmla="*/ 2147483646 h 1263"/>
              <a:gd name="T8" fmla="*/ 2147483646 w 772"/>
              <a:gd name="T9" fmla="*/ 2147483646 h 1263"/>
              <a:gd name="T10" fmla="*/ 2147483646 w 772"/>
              <a:gd name="T11" fmla="*/ 2147483646 h 1263"/>
              <a:gd name="T12" fmla="*/ 2147483646 w 772"/>
              <a:gd name="T13" fmla="*/ 2147483646 h 1263"/>
              <a:gd name="T14" fmla="*/ 2147483646 w 772"/>
              <a:gd name="T15" fmla="*/ 2147483646 h 1263"/>
              <a:gd name="T16" fmla="*/ 2147483646 w 772"/>
              <a:gd name="T17" fmla="*/ 2147483646 h 1263"/>
              <a:gd name="T18" fmla="*/ 2147483646 w 772"/>
              <a:gd name="T19" fmla="*/ 2147483646 h 1263"/>
              <a:gd name="T20" fmla="*/ 2147483646 w 772"/>
              <a:gd name="T21" fmla="*/ 2147483646 h 1263"/>
              <a:gd name="T22" fmla="*/ 2147483646 w 772"/>
              <a:gd name="T23" fmla="*/ 2147483646 h 1263"/>
              <a:gd name="T24" fmla="*/ 2147483646 w 772"/>
              <a:gd name="T25" fmla="*/ 2147483646 h 1263"/>
              <a:gd name="T26" fmla="*/ 2147483646 w 772"/>
              <a:gd name="T27" fmla="*/ 2147483646 h 1263"/>
              <a:gd name="T28" fmla="*/ 2147483646 w 772"/>
              <a:gd name="T29" fmla="*/ 2147483646 h 1263"/>
              <a:gd name="T30" fmla="*/ 2147483646 w 772"/>
              <a:gd name="T31" fmla="*/ 2147483646 h 1263"/>
              <a:gd name="T32" fmla="*/ 2147483646 w 772"/>
              <a:gd name="T33" fmla="*/ 2147483646 h 1263"/>
              <a:gd name="T34" fmla="*/ 2147483646 w 772"/>
              <a:gd name="T35" fmla="*/ 2147483646 h 1263"/>
              <a:gd name="T36" fmla="*/ 2147483646 w 772"/>
              <a:gd name="T37" fmla="*/ 2147483646 h 1263"/>
              <a:gd name="T38" fmla="*/ 2147483646 w 772"/>
              <a:gd name="T39" fmla="*/ 2147483646 h 1263"/>
              <a:gd name="T40" fmla="*/ 2147483646 w 772"/>
              <a:gd name="T41" fmla="*/ 2147483646 h 1263"/>
              <a:gd name="T42" fmla="*/ 2147483646 w 772"/>
              <a:gd name="T43" fmla="*/ 2147483646 h 1263"/>
              <a:gd name="T44" fmla="*/ 2147483646 w 772"/>
              <a:gd name="T45" fmla="*/ 2147483646 h 1263"/>
              <a:gd name="T46" fmla="*/ 2147483646 w 772"/>
              <a:gd name="T47" fmla="*/ 2147483646 h 1263"/>
              <a:gd name="T48" fmla="*/ 2147483646 w 772"/>
              <a:gd name="T49" fmla="*/ 2147483646 h 1263"/>
              <a:gd name="T50" fmla="*/ 2147483646 w 772"/>
              <a:gd name="T51" fmla="*/ 2147483646 h 1263"/>
              <a:gd name="T52" fmla="*/ 2147483646 w 772"/>
              <a:gd name="T53" fmla="*/ 2147483646 h 1263"/>
              <a:gd name="T54" fmla="*/ 2147483646 w 772"/>
              <a:gd name="T55" fmla="*/ 2147483646 h 1263"/>
              <a:gd name="T56" fmla="*/ 2147483646 w 772"/>
              <a:gd name="T57" fmla="*/ 2147483646 h 1263"/>
              <a:gd name="T58" fmla="*/ 2147483646 w 772"/>
              <a:gd name="T59" fmla="*/ 2136895444 h 1263"/>
              <a:gd name="T60" fmla="*/ 2147483646 w 772"/>
              <a:gd name="T61" fmla="*/ 1161361799 h 1263"/>
              <a:gd name="T62" fmla="*/ 2147483646 w 772"/>
              <a:gd name="T63" fmla="*/ 464570746 h 1263"/>
              <a:gd name="T64" fmla="*/ 2147483646 w 772"/>
              <a:gd name="T65" fmla="*/ 92914077 h 126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772" h="1263">
                <a:moveTo>
                  <a:pt x="0" y="1246"/>
                </a:moveTo>
                <a:lnTo>
                  <a:pt x="32" y="1253"/>
                </a:lnTo>
                <a:lnTo>
                  <a:pt x="63" y="1257"/>
                </a:lnTo>
                <a:lnTo>
                  <a:pt x="95" y="1260"/>
                </a:lnTo>
                <a:lnTo>
                  <a:pt x="127" y="1262"/>
                </a:lnTo>
                <a:lnTo>
                  <a:pt x="159" y="1262"/>
                </a:lnTo>
                <a:lnTo>
                  <a:pt x="190" y="1260"/>
                </a:lnTo>
                <a:lnTo>
                  <a:pt x="222" y="1257"/>
                </a:lnTo>
                <a:lnTo>
                  <a:pt x="254" y="1252"/>
                </a:lnTo>
                <a:lnTo>
                  <a:pt x="285" y="1245"/>
                </a:lnTo>
                <a:lnTo>
                  <a:pt x="316" y="1237"/>
                </a:lnTo>
                <a:lnTo>
                  <a:pt x="346" y="1227"/>
                </a:lnTo>
                <a:lnTo>
                  <a:pt x="376" y="1216"/>
                </a:lnTo>
                <a:lnTo>
                  <a:pt x="405" y="1204"/>
                </a:lnTo>
                <a:lnTo>
                  <a:pt x="434" y="1189"/>
                </a:lnTo>
                <a:lnTo>
                  <a:pt x="462" y="1174"/>
                </a:lnTo>
                <a:lnTo>
                  <a:pt x="489" y="1157"/>
                </a:lnTo>
                <a:lnTo>
                  <a:pt x="515" y="1139"/>
                </a:lnTo>
                <a:lnTo>
                  <a:pt x="540" y="1119"/>
                </a:lnTo>
                <a:lnTo>
                  <a:pt x="564" y="1098"/>
                </a:lnTo>
                <a:lnTo>
                  <a:pt x="587" y="1076"/>
                </a:lnTo>
                <a:lnTo>
                  <a:pt x="609" y="1053"/>
                </a:lnTo>
                <a:lnTo>
                  <a:pt x="630" y="1029"/>
                </a:lnTo>
                <a:lnTo>
                  <a:pt x="649" y="1004"/>
                </a:lnTo>
                <a:lnTo>
                  <a:pt x="667" y="978"/>
                </a:lnTo>
                <a:lnTo>
                  <a:pt x="684" y="950"/>
                </a:lnTo>
                <a:lnTo>
                  <a:pt x="700" y="923"/>
                </a:lnTo>
                <a:lnTo>
                  <a:pt x="714" y="894"/>
                </a:lnTo>
                <a:lnTo>
                  <a:pt x="726" y="865"/>
                </a:lnTo>
                <a:lnTo>
                  <a:pt x="737" y="835"/>
                </a:lnTo>
                <a:lnTo>
                  <a:pt x="747" y="804"/>
                </a:lnTo>
                <a:lnTo>
                  <a:pt x="755" y="773"/>
                </a:lnTo>
                <a:lnTo>
                  <a:pt x="761" y="742"/>
                </a:lnTo>
                <a:lnTo>
                  <a:pt x="766" y="711"/>
                </a:lnTo>
                <a:lnTo>
                  <a:pt x="769" y="679"/>
                </a:lnTo>
                <a:lnTo>
                  <a:pt x="771" y="647"/>
                </a:lnTo>
                <a:lnTo>
                  <a:pt x="771" y="615"/>
                </a:lnTo>
                <a:lnTo>
                  <a:pt x="769" y="583"/>
                </a:lnTo>
                <a:lnTo>
                  <a:pt x="766" y="552"/>
                </a:lnTo>
                <a:lnTo>
                  <a:pt x="761" y="520"/>
                </a:lnTo>
                <a:lnTo>
                  <a:pt x="755" y="489"/>
                </a:lnTo>
                <a:lnTo>
                  <a:pt x="747" y="458"/>
                </a:lnTo>
                <a:lnTo>
                  <a:pt x="737" y="428"/>
                </a:lnTo>
                <a:lnTo>
                  <a:pt x="726" y="398"/>
                </a:lnTo>
                <a:lnTo>
                  <a:pt x="714" y="368"/>
                </a:lnTo>
                <a:lnTo>
                  <a:pt x="700" y="340"/>
                </a:lnTo>
                <a:lnTo>
                  <a:pt x="684" y="312"/>
                </a:lnTo>
                <a:lnTo>
                  <a:pt x="668" y="285"/>
                </a:lnTo>
                <a:lnTo>
                  <a:pt x="649" y="259"/>
                </a:lnTo>
                <a:lnTo>
                  <a:pt x="630" y="233"/>
                </a:lnTo>
                <a:lnTo>
                  <a:pt x="609" y="209"/>
                </a:lnTo>
                <a:lnTo>
                  <a:pt x="587" y="186"/>
                </a:lnTo>
                <a:lnTo>
                  <a:pt x="564" y="164"/>
                </a:lnTo>
                <a:lnTo>
                  <a:pt x="540" y="143"/>
                </a:lnTo>
                <a:lnTo>
                  <a:pt x="515" y="124"/>
                </a:lnTo>
                <a:lnTo>
                  <a:pt x="489" y="105"/>
                </a:lnTo>
                <a:lnTo>
                  <a:pt x="462" y="88"/>
                </a:lnTo>
                <a:lnTo>
                  <a:pt x="434" y="73"/>
                </a:lnTo>
                <a:lnTo>
                  <a:pt x="406" y="59"/>
                </a:lnTo>
                <a:lnTo>
                  <a:pt x="376" y="46"/>
                </a:lnTo>
                <a:lnTo>
                  <a:pt x="347" y="35"/>
                </a:lnTo>
                <a:lnTo>
                  <a:pt x="316" y="25"/>
                </a:lnTo>
                <a:lnTo>
                  <a:pt x="285" y="17"/>
                </a:lnTo>
                <a:lnTo>
                  <a:pt x="254" y="10"/>
                </a:lnTo>
                <a:lnTo>
                  <a:pt x="223" y="5"/>
                </a:lnTo>
                <a:lnTo>
                  <a:pt x="191" y="2"/>
                </a:lnTo>
                <a:lnTo>
                  <a:pt x="159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1" name="Line 8">
            <a:extLst>
              <a:ext uri="{FF2B5EF4-FFF2-40B4-BE49-F238E27FC236}">
                <a16:creationId xmlns:a16="http://schemas.microsoft.com/office/drawing/2014/main" id="{28545558-2A37-B973-C0B0-261E608E53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3713" y="1962150"/>
            <a:ext cx="2349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2" name="Line 9">
            <a:extLst>
              <a:ext uri="{FF2B5EF4-FFF2-40B4-BE49-F238E27FC236}">
                <a16:creationId xmlns:a16="http://schemas.microsoft.com/office/drawing/2014/main" id="{3FE48340-9A20-9E9C-81A6-686DA79DA2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3250" y="1962150"/>
            <a:ext cx="1651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3" name="Line 10">
            <a:extLst>
              <a:ext uri="{FF2B5EF4-FFF2-40B4-BE49-F238E27FC236}">
                <a16:creationId xmlns:a16="http://schemas.microsoft.com/office/drawing/2014/main" id="{E431C3A2-C357-29B0-F0A2-B9CADB744E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7650" y="1808163"/>
            <a:ext cx="611188" cy="155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4" name="Line 11">
            <a:extLst>
              <a:ext uri="{FF2B5EF4-FFF2-40B4-BE49-F238E27FC236}">
                <a16:creationId xmlns:a16="http://schemas.microsoft.com/office/drawing/2014/main" id="{8EDC16EA-1470-E738-C359-2F7DD0B36C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6425" y="1974850"/>
            <a:ext cx="611188" cy="155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5" name="Line 12">
            <a:extLst>
              <a:ext uri="{FF2B5EF4-FFF2-40B4-BE49-F238E27FC236}">
                <a16:creationId xmlns:a16="http://schemas.microsoft.com/office/drawing/2014/main" id="{C1E62992-7CDB-B449-C676-4D5453CC6E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3413" y="1809750"/>
            <a:ext cx="227012" cy="312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6" name="Text Box 13">
            <a:extLst>
              <a:ext uri="{FF2B5EF4-FFF2-40B4-BE49-F238E27FC236}">
                <a16:creationId xmlns:a16="http://schemas.microsoft.com/office/drawing/2014/main" id="{F88C188F-9766-2E27-FE5C-4E43C64B7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338" y="2152650"/>
            <a:ext cx="887412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Wireless</a:t>
            </a:r>
          </a:p>
        </p:txBody>
      </p:sp>
      <p:sp>
        <p:nvSpPr>
          <p:cNvPr id="64527" name="Text Box 14">
            <a:extLst>
              <a:ext uri="{FF2B5EF4-FFF2-40B4-BE49-F238E27FC236}">
                <a16:creationId xmlns:a16="http://schemas.microsoft.com/office/drawing/2014/main" id="{EF227C13-CF17-AD0D-C6F6-B239B9637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525" y="2971800"/>
            <a:ext cx="16494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Snooping agent</a:t>
            </a:r>
          </a:p>
        </p:txBody>
      </p:sp>
      <p:cxnSp>
        <p:nvCxnSpPr>
          <p:cNvPr id="64528" name="AutoShape 15">
            <a:extLst>
              <a:ext uri="{FF2B5EF4-FFF2-40B4-BE49-F238E27FC236}">
                <a16:creationId xmlns:a16="http://schemas.microsoft.com/office/drawing/2014/main" id="{55946520-5B80-329A-3E41-8223B445F704}"/>
              </a:ext>
            </a:extLst>
          </p:cNvPr>
          <p:cNvCxnSpPr>
            <a:cxnSpLocks noChangeShapeType="1"/>
            <a:stCxn id="64527" idx="0"/>
            <a:endCxn id="64517" idx="2"/>
          </p:cNvCxnSpPr>
          <p:nvPr/>
        </p:nvCxnSpPr>
        <p:spPr bwMode="auto">
          <a:xfrm flipH="1" flipV="1">
            <a:off x="4054475" y="2195513"/>
            <a:ext cx="207963" cy="776287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9" name="Text Box 16">
            <a:extLst>
              <a:ext uri="{FF2B5EF4-FFF2-40B4-BE49-F238E27FC236}">
                <a16:creationId xmlns:a16="http://schemas.microsoft.com/office/drawing/2014/main" id="{3044F671-94AD-CDA6-A1FF-A37E36E3B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3852863"/>
            <a:ext cx="7693025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Snooping agent </a:t>
            </a:r>
            <a:r>
              <a:rPr lang="en-GB" altLang="en-US" sz="2400" i="1">
                <a:solidFill>
                  <a:schemeClr val="tx1"/>
                </a:solidFill>
              </a:rPr>
              <a:t>caches  segments</a:t>
            </a:r>
            <a:r>
              <a:rPr lang="en-GB" altLang="en-US" sz="2400">
                <a:solidFill>
                  <a:schemeClr val="tx1"/>
                </a:solidFill>
              </a:rPr>
              <a:t> from fixed to mobile hosts and forwards it to mobile host with small timeout of its own. If agent does not see mobile host's ack, the </a:t>
            </a:r>
            <a:r>
              <a:rPr lang="en-GB" altLang="en-US" sz="2400" i="1">
                <a:solidFill>
                  <a:schemeClr val="tx1"/>
                </a:solidFill>
              </a:rPr>
              <a:t>agent retransmits </a:t>
            </a:r>
            <a:r>
              <a:rPr lang="en-GB" altLang="en-US" sz="2400">
                <a:solidFill>
                  <a:schemeClr val="tx1"/>
                </a:solidFill>
              </a:rPr>
              <a:t>the segment.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If agent sees two duplicates acks from mobile host (indicator of lost segment) it drops the acks (does not forwards to fixed host) and retransmits from cache.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Advantage: It is completely transparent to both hosts.</a:t>
            </a:r>
          </a:p>
        </p:txBody>
      </p:sp>
      <p:sp>
        <p:nvSpPr>
          <p:cNvPr id="64530" name="Text Box 17">
            <a:extLst>
              <a:ext uri="{FF2B5EF4-FFF2-40B4-BE49-F238E27FC236}">
                <a16:creationId xmlns:a16="http://schemas.microsoft.com/office/drawing/2014/main" id="{93E8D408-EC05-54AC-A792-31177666B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1360488"/>
            <a:ext cx="1077912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Fixed host</a:t>
            </a:r>
          </a:p>
        </p:txBody>
      </p:sp>
      <p:sp>
        <p:nvSpPr>
          <p:cNvPr id="64531" name="Text Box 18">
            <a:extLst>
              <a:ext uri="{FF2B5EF4-FFF2-40B4-BE49-F238E27FC236}">
                <a16:creationId xmlns:a16="http://schemas.microsoft.com/office/drawing/2014/main" id="{3117E354-1F35-A654-86B0-0578D45FA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3" y="1317625"/>
            <a:ext cx="1192212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Mobile host</a:t>
            </a:r>
          </a:p>
        </p:txBody>
      </p:sp>
      <p:sp>
        <p:nvSpPr>
          <p:cNvPr id="64532" name="Text Box 19">
            <a:extLst>
              <a:ext uri="{FF2B5EF4-FFF2-40B4-BE49-F238E27FC236}">
                <a16:creationId xmlns:a16="http://schemas.microsoft.com/office/drawing/2014/main" id="{8A5C8FEB-9E9F-5D65-6FBD-7CB135674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1360488"/>
            <a:ext cx="128746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Base station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">
            <a:extLst>
              <a:ext uri="{FF2B5EF4-FFF2-40B4-BE49-F238E27FC236}">
                <a16:creationId xmlns:a16="http://schemas.microsoft.com/office/drawing/2014/main" id="{7DEBC419-A1E5-E7CA-53EC-C3A3C4542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Transactional TCP</a:t>
            </a: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C8CC34C0-5018-0345-6307-5FE7BEC37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7800" y="5638800"/>
            <a:ext cx="6521450" cy="868363"/>
          </a:xfrm>
        </p:spPr>
        <p:txBody>
          <a:bodyPr lIns="90000" tIns="46800" rIns="90000" bIns="46800"/>
          <a:lstStyle/>
          <a:p>
            <a:pPr eaLnBrk="1" hangingPunct="1">
              <a:lnSpc>
                <a:spcPct val="81000"/>
              </a:lnSpc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>
                <a:solidFill>
                  <a:srgbClr val="3333CC"/>
                </a:solidFill>
              </a:rPr>
              <a:t>(a)</a:t>
            </a:r>
            <a:r>
              <a:rPr lang="en-GB" altLang="en-US" sz="2000"/>
              <a:t> Remote Procedure Call (RPC) using normal TPC.</a:t>
            </a:r>
          </a:p>
          <a:p>
            <a:pPr eaLnBrk="1" hangingPunct="1">
              <a:lnSpc>
                <a:spcPct val="81000"/>
              </a:lnSpc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>
                <a:solidFill>
                  <a:srgbClr val="3333CC"/>
                </a:solidFill>
              </a:rPr>
              <a:t>(b)</a:t>
            </a:r>
            <a:r>
              <a:rPr lang="en-GB" altLang="en-US" sz="2000"/>
              <a:t> RPC using T/TCP.</a:t>
            </a:r>
          </a:p>
        </p:txBody>
      </p:sp>
      <p:pic>
        <p:nvPicPr>
          <p:cNvPr id="66564" name="Picture 3">
            <a:extLst>
              <a:ext uri="{FF2B5EF4-FFF2-40B4-BE49-F238E27FC236}">
                <a16:creationId xmlns:a16="http://schemas.microsoft.com/office/drawing/2014/main" id="{A52082CE-806D-213E-15DE-C24C0853A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1343025"/>
            <a:ext cx="6619875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>
            <a:extLst>
              <a:ext uri="{FF2B5EF4-FFF2-40B4-BE49-F238E27FC236}">
                <a16:creationId xmlns:a16="http://schemas.microsoft.com/office/drawing/2014/main" id="{E075BBE4-167B-3B69-7682-7A6555809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Performance Issues</a:t>
            </a: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EE88BDEF-B77D-4428-5FF6-DBBA9C6DA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1950" y="1550988"/>
            <a:ext cx="8782050" cy="5002212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spcBef>
                <a:spcPts val="800"/>
              </a:spcBef>
              <a:buFont typeface="Times New Roman" panose="02020603050405020304" pitchFamily="18" charset="0"/>
              <a:buAutoNum type="alphaLcParenR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3200"/>
              <a:t>Performance Problems in Computer Networks</a:t>
            </a:r>
          </a:p>
          <a:p>
            <a:pPr eaLnBrk="1" hangingPunct="1">
              <a:spcBef>
                <a:spcPts val="800"/>
              </a:spcBef>
              <a:buFont typeface="Times New Roman" panose="02020603050405020304" pitchFamily="18" charset="0"/>
              <a:buAutoNum type="alphaLcParenR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3200"/>
              <a:t>Network Performance Measurement</a:t>
            </a:r>
          </a:p>
          <a:p>
            <a:pPr eaLnBrk="1" hangingPunct="1">
              <a:spcBef>
                <a:spcPts val="800"/>
              </a:spcBef>
              <a:buFont typeface="Times New Roman" panose="02020603050405020304" pitchFamily="18" charset="0"/>
              <a:buAutoNum type="alphaLcParenR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3200"/>
              <a:t>System Design for Better Performance</a:t>
            </a:r>
          </a:p>
          <a:p>
            <a:pPr eaLnBrk="1" hangingPunct="1">
              <a:spcBef>
                <a:spcPts val="800"/>
              </a:spcBef>
              <a:buFont typeface="Times New Roman" panose="02020603050405020304" pitchFamily="18" charset="0"/>
              <a:buAutoNum type="alphaLcParenR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3200"/>
              <a:t>Fast TPDU Processing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>
            <a:extLst>
              <a:ext uri="{FF2B5EF4-FFF2-40B4-BE49-F238E27FC236}">
                <a16:creationId xmlns:a16="http://schemas.microsoft.com/office/drawing/2014/main" id="{7B153CF0-9C78-6D51-1D38-396BE1428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600"/>
              <a:t>Performance Problems in Computer Networks</a:t>
            </a: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407B892F-1CDA-9FBA-95C9-3BCEAD543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763" y="1304925"/>
            <a:ext cx="3078162" cy="1817688"/>
          </a:xfrm>
        </p:spPr>
        <p:txBody>
          <a:bodyPr lIns="90000" tIns="46800" rIns="90000" bIns="46800"/>
          <a:lstStyle/>
          <a:p>
            <a:pPr eaLnBrk="1" hangingPunct="1">
              <a:lnSpc>
                <a:spcPct val="81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(a)</a:t>
            </a:r>
            <a:r>
              <a:rPr lang="en-GB" altLang="en-US"/>
              <a:t> At t = 0,   </a:t>
            </a:r>
          </a:p>
          <a:p>
            <a:pPr eaLnBrk="1" hangingPunct="1">
              <a:lnSpc>
                <a:spcPct val="81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(b)</a:t>
            </a:r>
            <a:r>
              <a:rPr lang="en-GB" altLang="en-US"/>
              <a:t> After 500 </a:t>
            </a:r>
            <a:r>
              <a:rPr lang="en-GB" altLang="en-US">
                <a:cs typeface="Times New Roman" panose="02020603050405020304" pitchFamily="18" charset="0"/>
              </a:rPr>
              <a:t>μsec, </a:t>
            </a:r>
          </a:p>
          <a:p>
            <a:pPr eaLnBrk="1" hangingPunct="1">
              <a:lnSpc>
                <a:spcPct val="81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  <a:cs typeface="Times New Roman" panose="02020603050405020304" pitchFamily="18" charset="0"/>
              </a:rPr>
              <a:t>(c)</a:t>
            </a:r>
            <a:r>
              <a:rPr lang="en-GB" altLang="en-US">
                <a:cs typeface="Times New Roman" panose="02020603050405020304" pitchFamily="18" charset="0"/>
              </a:rPr>
              <a:t> After 20 msec,  </a:t>
            </a:r>
          </a:p>
          <a:p>
            <a:pPr eaLnBrk="1" hangingPunct="1">
              <a:lnSpc>
                <a:spcPct val="81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  <a:cs typeface="Times New Roman" panose="02020603050405020304" pitchFamily="18" charset="0"/>
              </a:rPr>
              <a:t>(d)</a:t>
            </a:r>
            <a:r>
              <a:rPr lang="en-GB" altLang="en-US">
                <a:cs typeface="Times New Roman" panose="02020603050405020304" pitchFamily="18" charset="0"/>
              </a:rPr>
              <a:t> After 40 msec.</a:t>
            </a:r>
          </a:p>
        </p:txBody>
      </p:sp>
      <p:pic>
        <p:nvPicPr>
          <p:cNvPr id="70660" name="Picture 3">
            <a:extLst>
              <a:ext uri="{FF2B5EF4-FFF2-40B4-BE49-F238E27FC236}">
                <a16:creationId xmlns:a16="http://schemas.microsoft.com/office/drawing/2014/main" id="{1925B24A-5952-87BB-CF36-199BA040D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1128713"/>
            <a:ext cx="573087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Text Box 4">
            <a:extLst>
              <a:ext uri="{FF2B5EF4-FFF2-40B4-BE49-F238E27FC236}">
                <a16:creationId xmlns:a16="http://schemas.microsoft.com/office/drawing/2014/main" id="{1D4D6ACC-744F-7724-771B-F4E978189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849313"/>
            <a:ext cx="4592638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Transmitting 1MB from San Diego to Boston</a:t>
            </a:r>
          </a:p>
        </p:txBody>
      </p:sp>
      <p:sp>
        <p:nvSpPr>
          <p:cNvPr id="70662" name="Text Box 5">
            <a:extLst>
              <a:ext uri="{FF2B5EF4-FFF2-40B4-BE49-F238E27FC236}">
                <a16:creationId xmlns:a16="http://schemas.microsoft.com/office/drawing/2014/main" id="{6A3A244F-2A79-924E-5C58-6ED8277AA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475" y="4249738"/>
            <a:ext cx="1587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endParaRPr lang="en-IN" altLang="en-US"/>
          </a:p>
        </p:txBody>
      </p:sp>
      <p:sp>
        <p:nvSpPr>
          <p:cNvPr id="70663" name="Text Box 6">
            <a:extLst>
              <a:ext uri="{FF2B5EF4-FFF2-40B4-BE49-F238E27FC236}">
                <a16:creationId xmlns:a16="http://schemas.microsoft.com/office/drawing/2014/main" id="{0994A3E1-FCF2-86D9-399F-EC6D07964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480050"/>
            <a:ext cx="8308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Other network performance problem causes: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Synchronous overload:  Broadcast storm due to bad UDP broadcast </a:t>
            </a:r>
          </a:p>
          <a:p>
            <a:pPr eaLnBrk="1" hangingPunct="1">
              <a:lnSpc>
                <a:spcPct val="89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 sz="2400">
                <a:solidFill>
                  <a:schemeClr val="tx1"/>
                </a:solidFill>
              </a:rPr>
              <a:t>Segment. Power loss leading to DHCP/file server overload.</a:t>
            </a:r>
          </a:p>
        </p:txBody>
      </p:sp>
      <p:sp>
        <p:nvSpPr>
          <p:cNvPr id="70664" name="Text Box 7">
            <a:extLst>
              <a:ext uri="{FF2B5EF4-FFF2-40B4-BE49-F238E27FC236}">
                <a16:creationId xmlns:a16="http://schemas.microsoft.com/office/drawing/2014/main" id="{8F7B2715-5111-FB26-760D-B3897389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2713" y="703263"/>
            <a:ext cx="1587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>
            <a:extLst>
              <a:ext uri="{FF2B5EF4-FFF2-40B4-BE49-F238E27FC236}">
                <a16:creationId xmlns:a16="http://schemas.microsoft.com/office/drawing/2014/main" id="{4E3B41AE-856E-B80B-5DC6-8C3F41A25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Network Performance Measurement</a:t>
            </a: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4442424-3C77-805F-9E89-F0157821E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2093913"/>
            <a:ext cx="8747125" cy="4459287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The basic loop for improving network performance.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Measure relevant network parameters, performance.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Try to understand what is going on.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Change one parameter.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>
            <a:extLst>
              <a:ext uri="{FF2B5EF4-FFF2-40B4-BE49-F238E27FC236}">
                <a16:creationId xmlns:a16="http://schemas.microsoft.com/office/drawing/2014/main" id="{8DDDD76F-9073-46AA-1119-81223F8CA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Network Performance Measurement</a:t>
            </a:r>
          </a:p>
        </p:txBody>
      </p:sp>
      <p:sp>
        <p:nvSpPr>
          <p:cNvPr id="74755" name="Text Box 2">
            <a:extLst>
              <a:ext uri="{FF2B5EF4-FFF2-40B4-BE49-F238E27FC236}">
                <a16:creationId xmlns:a16="http://schemas.microsoft.com/office/drawing/2014/main" id="{3C307D72-1D38-8D6A-076C-9814DA20B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450975"/>
            <a:ext cx="73564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Times New Roman" panose="02020603050405020304" pitchFamily="18" charset="0"/>
                <a:cs typeface="Gothic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ts val="1425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Make sure that the sample size is large enough</a:t>
            </a:r>
          </a:p>
          <a:p>
            <a:pPr eaLnBrk="1" hangingPunct="1">
              <a:lnSpc>
                <a:spcPct val="89000"/>
              </a:lnSpc>
              <a:spcBef>
                <a:spcPts val="1425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Make sure that he samples are representatives</a:t>
            </a:r>
          </a:p>
          <a:p>
            <a:pPr eaLnBrk="1" hangingPunct="1">
              <a:lnSpc>
                <a:spcPct val="89000"/>
              </a:lnSpc>
              <a:spcBef>
                <a:spcPts val="1425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Be careful when using a coarse-grained clock</a:t>
            </a:r>
          </a:p>
          <a:p>
            <a:pPr eaLnBrk="1" hangingPunct="1">
              <a:lnSpc>
                <a:spcPct val="89000"/>
              </a:lnSpc>
              <a:spcBef>
                <a:spcPts val="1425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Be sure that nothing unexpected is going on during your tests.</a:t>
            </a:r>
          </a:p>
          <a:p>
            <a:pPr eaLnBrk="1" hangingPunct="1">
              <a:lnSpc>
                <a:spcPct val="89000"/>
              </a:lnSpc>
              <a:spcBef>
                <a:spcPts val="1425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Caching can wreak havoc with measurements.</a:t>
            </a:r>
          </a:p>
          <a:p>
            <a:pPr eaLnBrk="1" hangingPunct="1">
              <a:lnSpc>
                <a:spcPct val="89000"/>
              </a:lnSpc>
              <a:spcBef>
                <a:spcPts val="1425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Understand what you are measuring.</a:t>
            </a:r>
          </a:p>
          <a:p>
            <a:pPr eaLnBrk="1" hangingPunct="1">
              <a:lnSpc>
                <a:spcPct val="89000"/>
              </a:lnSpc>
              <a:spcBef>
                <a:spcPts val="1425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latin typeface="Arial" panose="020B0604020202020204" pitchFamily="34" charset="0"/>
              </a:rPr>
              <a:t>Be careful about extrapolating the results.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>
            <a:extLst>
              <a:ext uri="{FF2B5EF4-FFF2-40B4-BE49-F238E27FC236}">
                <a16:creationId xmlns:a16="http://schemas.microsoft.com/office/drawing/2014/main" id="{E5E4512B-6731-E5C4-18A4-843B20737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System Design for Better Performance</a:t>
            </a: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F913D11-582D-281D-BEEC-1AE279ED2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371600"/>
            <a:ext cx="8723312" cy="51816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Rules: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CPU speed is more important than network speed.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Reduce packet count to reduce software overhead.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Minimize context switches.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Minimize copying.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You can buy more bandwidth but not lower delay.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Avoiding congestion is better than recovering from it.</a:t>
            </a:r>
          </a:p>
          <a:p>
            <a:pPr eaLnBrk="1" hangingPunct="1">
              <a:spcBef>
                <a:spcPts val="700"/>
              </a:spcBef>
              <a:buFont typeface="StarSymbol" charset="0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/>
              <a:t>Avoid timeouts.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>
            <a:extLst>
              <a:ext uri="{FF2B5EF4-FFF2-40B4-BE49-F238E27FC236}">
                <a16:creationId xmlns:a16="http://schemas.microsoft.com/office/drawing/2014/main" id="{5FE654E7-725C-D084-8876-642220E72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Fast TPDU Processing</a:t>
            </a: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EAE1224-B55D-22BE-FE33-4E39A4D46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715000"/>
            <a:ext cx="9144000" cy="868363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81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The fast path from sender to receiver is shown with a heavy line.</a:t>
            </a:r>
          </a:p>
          <a:p>
            <a:pPr algn="ctr" eaLnBrk="1" hangingPunct="1">
              <a:lnSpc>
                <a:spcPct val="81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The processing steps on this path are shaded.</a:t>
            </a:r>
          </a:p>
        </p:txBody>
      </p:sp>
      <p:pic>
        <p:nvPicPr>
          <p:cNvPr id="78852" name="Picture 3">
            <a:extLst>
              <a:ext uri="{FF2B5EF4-FFF2-40B4-BE49-F238E27FC236}">
                <a16:creationId xmlns:a16="http://schemas.microsoft.com/office/drawing/2014/main" id="{7E79B326-4DA9-7C5B-7F1C-89A069A3C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65288"/>
            <a:ext cx="735965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>
            <a:extLst>
              <a:ext uri="{FF2B5EF4-FFF2-40B4-BE49-F238E27FC236}">
                <a16:creationId xmlns:a16="http://schemas.microsoft.com/office/drawing/2014/main" id="{AFEC78E1-DFD7-BE6A-C632-6ACB1F4C3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Fast TPDU Processing (2)</a:t>
            </a: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F3B4747B-66EB-A52A-5BF8-4F6534CE0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607050"/>
            <a:ext cx="9144000" cy="94615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93000"/>
              </a:lnSpc>
              <a:buFont typeface="StarSymbo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>
                <a:solidFill>
                  <a:srgbClr val="3333CC"/>
                </a:solidFill>
              </a:rPr>
              <a:t>(a)</a:t>
            </a:r>
            <a:r>
              <a:rPr lang="en-GB" altLang="en-US"/>
              <a:t> TCP header.  </a:t>
            </a:r>
            <a:r>
              <a:rPr lang="en-GB" altLang="en-US">
                <a:solidFill>
                  <a:srgbClr val="3333CC"/>
                </a:solidFill>
              </a:rPr>
              <a:t>(b)</a:t>
            </a:r>
            <a:r>
              <a:rPr lang="en-GB" altLang="en-US"/>
              <a:t> IP header. In both cases, the shaded fields are taken from the prototype without change.</a:t>
            </a:r>
          </a:p>
        </p:txBody>
      </p:sp>
      <p:pic>
        <p:nvPicPr>
          <p:cNvPr id="80900" name="Picture 3">
            <a:extLst>
              <a:ext uri="{FF2B5EF4-FFF2-40B4-BE49-F238E27FC236}">
                <a16:creationId xmlns:a16="http://schemas.microsoft.com/office/drawing/2014/main" id="{C30ACBA9-3D3D-B01D-55FB-CF81958D4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2289175"/>
            <a:ext cx="77470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>
            <a:extLst>
              <a:ext uri="{FF2B5EF4-FFF2-40B4-BE49-F238E27FC236}">
                <a16:creationId xmlns:a16="http://schemas.microsoft.com/office/drawing/2014/main" id="{6D0B7C8F-A18B-8BD4-8E8A-907CD0915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lIns="90000" tIns="46800" rIns="90000" bIns="46800"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Timing Wheel</a:t>
            </a: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25C9E3E-1BDA-9143-EAED-ACF4FE3F8C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019800"/>
            <a:ext cx="9144000" cy="838200"/>
          </a:xfrm>
        </p:spPr>
        <p:txBody>
          <a:bodyPr lIns="90000" tIns="46800" rIns="90000" bIns="46800"/>
          <a:lstStyle/>
          <a:p>
            <a:pPr algn="ctr" eaLnBrk="1" hangingPunct="1">
              <a:lnSpc>
                <a:spcPct val="93000"/>
              </a:lnSpc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A timing wheel.</a:t>
            </a:r>
          </a:p>
        </p:txBody>
      </p:sp>
      <p:pic>
        <p:nvPicPr>
          <p:cNvPr id="82948" name="Picture 3">
            <a:extLst>
              <a:ext uri="{FF2B5EF4-FFF2-40B4-BE49-F238E27FC236}">
                <a16:creationId xmlns:a16="http://schemas.microsoft.com/office/drawing/2014/main" id="{A59075D6-7727-2D74-737E-D48B0D180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036638"/>
            <a:ext cx="48387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Gothic"/>
        <a:cs typeface="Gothic"/>
      </a:majorFont>
      <a:minorFont>
        <a:latin typeface="Times New Roman"/>
        <a:ea typeface="Gothic"/>
        <a:cs typeface="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2754</Words>
  <Application>Microsoft Office PowerPoint</Application>
  <PresentationFormat>On-screen Show (4:3)</PresentationFormat>
  <Paragraphs>327</Paragraphs>
  <Slides>44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Times New Roman</vt:lpstr>
      <vt:lpstr>Gothic</vt:lpstr>
      <vt:lpstr>Arial</vt:lpstr>
      <vt:lpstr>StarSymbol</vt:lpstr>
      <vt:lpstr>Courier</vt:lpstr>
      <vt:lpstr>Arial Unicode MS</vt:lpstr>
      <vt:lpstr>Default Design</vt:lpstr>
      <vt:lpstr>Microsoft Equation 3.0</vt:lpstr>
      <vt:lpstr>The TCP Segment Header</vt:lpstr>
      <vt:lpstr>The TCP Segment Header (2)</vt:lpstr>
      <vt:lpstr>TCP Options</vt:lpstr>
      <vt:lpstr>TCP Connection Establishment</vt:lpstr>
      <vt:lpstr>TCP Connection Establishment</vt:lpstr>
      <vt:lpstr>TCP Connection Management Modeling</vt:lpstr>
      <vt:lpstr>TCP Connection Management Modeling (2)</vt:lpstr>
      <vt:lpstr>TCP Transmission Policy  Window Management in TCP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TCP Transmission Policy</vt:lpstr>
      <vt:lpstr>TCP Transmission Policy</vt:lpstr>
      <vt:lpstr>TCP Transmission Policy </vt:lpstr>
      <vt:lpstr>Nagle's algorithm</vt:lpstr>
      <vt:lpstr>TCP congestion control</vt:lpstr>
      <vt:lpstr>TCP Congestion Control</vt:lpstr>
      <vt:lpstr>TCP congestion control</vt:lpstr>
      <vt:lpstr>TCP Congestion Control – 4 Stages</vt:lpstr>
      <vt:lpstr>TCP Congestion Control – Slow start</vt:lpstr>
      <vt:lpstr>TCP Congestion Control – Congestion Avoidance</vt:lpstr>
      <vt:lpstr>TCP congestion control – Adjusting ssthresh</vt:lpstr>
      <vt:lpstr>TCP Congestion Control </vt:lpstr>
      <vt:lpstr>TCP congestion control – Fast Retransmit and Fast Recovery</vt:lpstr>
      <vt:lpstr>TCP Timer Management</vt:lpstr>
      <vt:lpstr>TCP Timer Management</vt:lpstr>
      <vt:lpstr>Maintaining RTO</vt:lpstr>
      <vt:lpstr>RTO exceptions</vt:lpstr>
      <vt:lpstr>Other timers</vt:lpstr>
      <vt:lpstr>Wireless TCP</vt:lpstr>
      <vt:lpstr>Split TCP</vt:lpstr>
      <vt:lpstr>Wireless TCP – Balakrishnan et. al</vt:lpstr>
      <vt:lpstr>Transactional TCP</vt:lpstr>
      <vt:lpstr>Performance Issues</vt:lpstr>
      <vt:lpstr>Performance Problems in Computer Networks</vt:lpstr>
      <vt:lpstr>Network Performance Measurement</vt:lpstr>
      <vt:lpstr>Network Performance Measurement</vt:lpstr>
      <vt:lpstr>System Design for Better Performance</vt:lpstr>
      <vt:lpstr>Fast TPDU Processing</vt:lpstr>
      <vt:lpstr>Fast TPDU Processing (2)</vt:lpstr>
      <vt:lpstr>Timing Wheel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TCP Segment Header</dc:title>
  <dc:creator>Balaji</dc:creator>
  <cp:lastModifiedBy>Raji R</cp:lastModifiedBy>
  <cp:revision>26</cp:revision>
  <dcterms:modified xsi:type="dcterms:W3CDTF">2025-12-29T10:15:39Z</dcterms:modified>
</cp:coreProperties>
</file>