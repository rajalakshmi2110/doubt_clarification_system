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8"/>
  </p:notesMasterIdLst>
  <p:handoutMasterIdLst>
    <p:handoutMasterId r:id="rId49"/>
  </p:handoutMasterIdLst>
  <p:sldIdLst>
    <p:sldId id="259" r:id="rId2"/>
    <p:sldId id="261" r:id="rId3"/>
    <p:sldId id="262" r:id="rId4"/>
    <p:sldId id="300" r:id="rId5"/>
    <p:sldId id="297" r:id="rId6"/>
    <p:sldId id="310" r:id="rId7"/>
    <p:sldId id="301" r:id="rId8"/>
    <p:sldId id="302" r:id="rId9"/>
    <p:sldId id="316" r:id="rId10"/>
    <p:sldId id="317" r:id="rId11"/>
    <p:sldId id="315" r:id="rId12"/>
    <p:sldId id="318" r:id="rId13"/>
    <p:sldId id="336" r:id="rId14"/>
    <p:sldId id="320" r:id="rId15"/>
    <p:sldId id="321" r:id="rId16"/>
    <p:sldId id="322" r:id="rId17"/>
    <p:sldId id="323" r:id="rId18"/>
    <p:sldId id="319" r:id="rId19"/>
    <p:sldId id="337" r:id="rId20"/>
    <p:sldId id="324" r:id="rId21"/>
    <p:sldId id="325" r:id="rId22"/>
    <p:sldId id="326" r:id="rId23"/>
    <p:sldId id="327" r:id="rId24"/>
    <p:sldId id="328" r:id="rId25"/>
    <p:sldId id="307" r:id="rId26"/>
    <p:sldId id="308" r:id="rId27"/>
    <p:sldId id="339" r:id="rId28"/>
    <p:sldId id="346" r:id="rId29"/>
    <p:sldId id="335" r:id="rId30"/>
    <p:sldId id="340" r:id="rId31"/>
    <p:sldId id="343" r:id="rId32"/>
    <p:sldId id="342" r:id="rId33"/>
    <p:sldId id="344" r:id="rId34"/>
    <p:sldId id="338" r:id="rId35"/>
    <p:sldId id="329" r:id="rId36"/>
    <p:sldId id="332" r:id="rId37"/>
    <p:sldId id="333" r:id="rId38"/>
    <p:sldId id="306" r:id="rId39"/>
    <p:sldId id="345" r:id="rId40"/>
    <p:sldId id="348" r:id="rId41"/>
    <p:sldId id="349" r:id="rId42"/>
    <p:sldId id="350" r:id="rId43"/>
    <p:sldId id="347" r:id="rId44"/>
    <p:sldId id="303" r:id="rId45"/>
    <p:sldId id="309" r:id="rId46"/>
    <p:sldId id="351" r:id="rId4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CC99"/>
    <a:srgbClr val="FF3300"/>
    <a:srgbClr val="CCFFFF"/>
    <a:srgbClr val="FFCC00"/>
    <a:srgbClr val="009900"/>
    <a:srgbClr val="0000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189" autoAdjust="0"/>
    <p:restoredTop sz="94609" autoAdjust="0"/>
  </p:normalViewPr>
  <p:slideViewPr>
    <p:cSldViewPr>
      <p:cViewPr varScale="1">
        <p:scale>
          <a:sx n="111" d="100"/>
          <a:sy n="111" d="100"/>
        </p:scale>
        <p:origin x="12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2526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2D19ED39-3D8C-8A13-9A85-370077C554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8B869B20-531A-868A-AE83-A5AB1B61F3C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9F6F60FA-6BF1-E51B-8BB3-9785ECCD33D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b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FB4882C8-28AA-FE3D-68B6-DF661C2E189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fld id="{AF662C9C-99A0-4D59-9E0B-F1D598EC70E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594C6F16-4F4D-BFE6-E828-F853CC2722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t" anchorCtr="0" compatLnSpc="1">
            <a:prstTxWarp prst="textNoShape">
              <a:avLst/>
            </a:prstTxWarp>
          </a:bodyPr>
          <a:lstStyle>
            <a:lvl1pPr algn="l" defTabSz="957263" eaLnBrk="1" hangingPunct="1">
              <a:defRPr sz="13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F4FE7234-3BEA-422E-9CFE-A261B13436F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t" anchorCtr="0" compatLnSpc="1">
            <a:prstTxWarp prst="textNoShape">
              <a:avLst/>
            </a:prstTxWarp>
          </a:bodyPr>
          <a:lstStyle>
            <a:lvl1pPr algn="r" defTabSz="957263" eaLnBrk="1" hangingPunct="1">
              <a:defRPr sz="13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471D135-E555-12D1-AF8B-79B83970DF8E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49844172-1091-18D1-5AD0-A9F71B2FB66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6134" name="Rectangle 6">
            <a:extLst>
              <a:ext uri="{FF2B5EF4-FFF2-40B4-BE49-F238E27FC236}">
                <a16:creationId xmlns:a16="http://schemas.microsoft.com/office/drawing/2014/main" id="{ABDFC6EF-E8BB-F7F7-1F44-B02C3CD37F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b" anchorCtr="0" compatLnSpc="1">
            <a:prstTxWarp prst="textNoShape">
              <a:avLst/>
            </a:prstTxWarp>
          </a:bodyPr>
          <a:lstStyle>
            <a:lvl1pPr algn="l" defTabSz="957263" eaLnBrk="1" hangingPunct="1">
              <a:defRPr sz="13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5" name="Rectangle 7">
            <a:extLst>
              <a:ext uri="{FF2B5EF4-FFF2-40B4-BE49-F238E27FC236}">
                <a16:creationId xmlns:a16="http://schemas.microsoft.com/office/drawing/2014/main" id="{44530FDB-8AAD-D0A6-C8C7-000203047A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b" anchorCtr="0" compatLnSpc="1">
            <a:prstTxWarp prst="textNoShape">
              <a:avLst/>
            </a:prstTxWarp>
          </a:bodyPr>
          <a:lstStyle>
            <a:lvl1pPr algn="r" defTabSz="957263" eaLnBrk="1" hangingPunct="1">
              <a:defRPr sz="1300" b="0">
                <a:latin typeface="Times New Roman" panose="02020603050405020304" pitchFamily="18" charset="0"/>
              </a:defRPr>
            </a:lvl1pPr>
          </a:lstStyle>
          <a:p>
            <a:fld id="{169F77CA-164F-49EC-B5E6-A30F74022ED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2AE9D091-9C74-D597-8EAB-E3F03AEFA5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051168-8186-43A4-9622-E2B93EB74396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F368F41-5DDD-C9D1-0C64-90A80A1DD5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31F8CCB-EE9F-3162-2D42-CD4442459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6B629229-4856-A765-4774-D33E9ED1E3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30D454-EACB-4D19-898F-4F04B8F08FE1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17B2269-C0D2-8595-438A-EEDC51F321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482DAFD0-B165-B8BA-BF55-583EA02A9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D3AFD5BE-91CF-611C-D39A-8488648182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26BEF2A-004D-4956-959F-56233126FE38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B5FD868-14E8-B20A-7E28-5B1EC5D920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95ABA1D-3544-225D-943F-EE2E81352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2258F55-466C-DFA1-82BF-E8E319F9EB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72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2B924D-E9CF-4F27-A9FF-1909C1302C4C}" type="slidenum">
              <a:rPr lang="en-US" altLang="en-US" sz="1300"/>
              <a:pPr>
                <a:spcBef>
                  <a:spcPct val="0"/>
                </a:spcBef>
              </a:pPr>
              <a:t>29</a:t>
            </a:fld>
            <a:endParaRPr lang="en-US" altLang="en-US" sz="13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4BC0E7A-B9AB-3199-BF1C-D569B56B72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D9FBAB6-4D51-A26F-F039-70740AD80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Application may get duplicates in the case of early timeouts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>
            <a:extLst>
              <a:ext uri="{FF2B5EF4-FFF2-40B4-BE49-F238E27FC236}">
                <a16:creationId xmlns:a16="http://schemas.microsoft.com/office/drawing/2014/main" id="{09E29218-7E48-6E97-7F9A-661281FFC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143000"/>
            <a:ext cx="883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C13916C2-E2F0-C0D7-BF8F-9BE47B1F1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1143000"/>
            <a:ext cx="0" cy="5562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" name="Picture 7" descr="pulogo">
            <a:extLst>
              <a:ext uri="{FF2B5EF4-FFF2-40B4-BE49-F238E27FC236}">
                <a16:creationId xmlns:a16="http://schemas.microsoft.com/office/drawing/2014/main" id="{A16C7B1B-B8D0-FBB0-3EC6-A9D1F784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63" y="317500"/>
            <a:ext cx="6413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8">
            <a:extLst>
              <a:ext uri="{FF2B5EF4-FFF2-40B4-BE49-F238E27FC236}">
                <a16:creationId xmlns:a16="http://schemas.microsoft.com/office/drawing/2014/main" id="{301B34DF-57AF-A2E7-14CA-1BC58FCDA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5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5C89C6B-4CAE-53C6-9B6D-DEE49F6AE1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97D26F3-7F6A-414E-A6D9-A3CAF086A6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54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8C193C-740A-AF48-172C-25D28282448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B1508-C044-442D-953F-5A7F5A5046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627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01C296-37F8-4D79-5055-7C801474E3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0CD13B-B51B-4095-BF67-DD8E892919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7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2192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BB6EA-4D68-0A5A-559C-4AC0C68FFE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99AFAA-9FAE-446F-9778-372A85AC81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165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96EF5CE-70C3-9D78-7808-8C97822E27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02E786-CC81-41A0-A75B-8390DBE8C8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76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A9EEFF-0E11-7AD7-5C8C-C9FBE369AE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A53465-F8E6-438A-86A6-7B92BD8151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10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F0C897E-4284-AF96-AAB7-BCA4FF16B6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77F96-95DB-4BFD-94E6-26A24ACECC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620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CFA76-8306-F3B0-57EF-EA6549B586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387ACA-3BF0-4DB6-9394-9D87D0CDD1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18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74309-28BA-9405-B24A-1D2DB407DB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D2DCE0-C7D2-4E8D-A7D0-9C9D2E80D7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9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964FD5-0102-E8E3-470F-0E385126DB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CD00B0-09FB-4E0F-AAAE-644057F945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8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381000"/>
            <a:ext cx="21526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3055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F20BD6-31CE-12CB-7D36-7547E5A4FC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38724C-748B-4E25-9D48-8CE522B204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635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1529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219200"/>
            <a:ext cx="41529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34905-B1D4-03E9-B943-12B2361A3E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661DC4-DA09-463D-B668-7BE1CB4D55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990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1529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1219200"/>
            <a:ext cx="41529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4038600"/>
            <a:ext cx="8458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A1ED7E5-E982-7B47-1D69-3DF564400E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BD16CA-5E5D-4BF3-8382-9F7D990C91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47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CF0FEB-0946-8449-5D9C-84EFAC6F7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89C56F9-EBD2-3DBA-079B-98B567C94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D2990DBA-B0CC-7929-3ED6-E2CD1619F8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Times New Roman" panose="02020603050405020304" pitchFamily="18" charset="0"/>
              </a:defRPr>
            </a:lvl1pPr>
          </a:lstStyle>
          <a:p>
            <a:fld id="{EE4F0D23-9DB3-4FB8-A585-2779092B99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AF73FD82-CA58-9956-6A8F-E2D091D66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143000"/>
            <a:ext cx="883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C2D60C6A-9334-3CD0-991A-985A69783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1143000"/>
            <a:ext cx="0" cy="5562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1" name="Picture 7" descr="pulogo">
            <a:extLst>
              <a:ext uri="{FF2B5EF4-FFF2-40B4-BE49-F238E27FC236}">
                <a16:creationId xmlns:a16="http://schemas.microsoft.com/office/drawing/2014/main" id="{1472E0B3-AC86-F5E0-087B-B6ACC75AD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63" y="317500"/>
            <a:ext cx="6413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AutoShape 8">
            <a:extLst>
              <a:ext uri="{FF2B5EF4-FFF2-40B4-BE49-F238E27FC236}">
                <a16:creationId xmlns:a16="http://schemas.microsoft.com/office/drawing/2014/main" id="{BCC6A784-5952-3746-38F0-9C339FC65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9pPr>
    </p:titleStyle>
    <p:bodyStyle>
      <a:lvl1pPr marL="223838" indent="-223838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rgbClr val="0000FF"/>
          </a:solidFill>
          <a:latin typeface="+mn-lt"/>
          <a:ea typeface="+mn-ea"/>
          <a:cs typeface="+mn-cs"/>
        </a:defRPr>
      </a:lvl1pPr>
      <a:lvl2pPr marL="563563" indent="-223838" algn="l" rtl="0" eaLnBrk="0" fontAlgn="base" hangingPunct="0">
        <a:spcBef>
          <a:spcPct val="10000"/>
        </a:spcBef>
        <a:spcAft>
          <a:spcPct val="0"/>
        </a:spcAft>
        <a:buFont typeface="Helvetica" panose="020B0604020202020204" pitchFamily="34" charset="0"/>
        <a:buChar char="–"/>
        <a:defRPr sz="2400">
          <a:solidFill>
            <a:schemeClr val="accent2"/>
          </a:solidFill>
          <a:latin typeface="+mn-lt"/>
          <a:cs typeface="+mn-cs"/>
        </a:defRPr>
      </a:lvl2pPr>
      <a:lvl3pPr marL="911225" indent="-233363" algn="l" rtl="0" eaLnBrk="0" fontAlgn="base" hangingPunct="0">
        <a:spcBef>
          <a:spcPct val="10000"/>
        </a:spcBef>
        <a:spcAft>
          <a:spcPct val="0"/>
        </a:spcAft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258888" indent="-233363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accent2"/>
          </a:solidFill>
          <a:latin typeface="+mj-lt"/>
          <a:cs typeface="+mn-cs"/>
        </a:defRPr>
      </a:lvl4pPr>
      <a:lvl5pPr marL="15970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5pPr>
      <a:lvl6pPr marL="20542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6pPr>
      <a:lvl7pPr marL="25114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7pPr>
      <a:lvl8pPr marL="29686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8pPr>
      <a:lvl9pPr marL="34258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8.bin"/><Relationship Id="rId3" Type="http://schemas.openxmlformats.org/officeDocument/2006/relationships/image" Target="../media/image2.wmf"/><Relationship Id="rId7" Type="http://schemas.openxmlformats.org/officeDocument/2006/relationships/oleObject" Target="../embeddings/oleObject4.bin"/><Relationship Id="rId12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>
            <a:extLst>
              <a:ext uri="{FF2B5EF4-FFF2-40B4-BE49-F238E27FC236}">
                <a16:creationId xmlns:a16="http://schemas.microsoft.com/office/drawing/2014/main" id="{062DAEDB-501E-D567-BB0E-E8A6E9AB0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65432A-A95B-45AB-A9EF-B4B533E9051F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10EF8CA-FEF4-5B36-F516-7E726F486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Role of Transport Layer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4148A37-D4DE-8967-1DF0-B6D7A23AB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Application layer</a:t>
            </a:r>
          </a:p>
          <a:p>
            <a:pPr lvl="1"/>
            <a:r>
              <a:rPr lang="en-US" altLang="en-US"/>
              <a:t>Communication for specific applications</a:t>
            </a:r>
          </a:p>
          <a:p>
            <a:pPr lvl="1"/>
            <a:r>
              <a:rPr lang="en-US" altLang="en-US"/>
              <a:t>E.g., HyperText Transfer Protocol (HTTP), File Transfer Protocol (FTP), Network News Transfer Protocol (NNTP)</a:t>
            </a:r>
          </a:p>
          <a:p>
            <a:r>
              <a:rPr lang="en-US" altLang="en-US"/>
              <a:t>Transport layer</a:t>
            </a:r>
          </a:p>
          <a:p>
            <a:pPr lvl="1"/>
            <a:r>
              <a:rPr lang="en-US" altLang="en-US"/>
              <a:t>Communication between processes (e.g., socket)</a:t>
            </a:r>
          </a:p>
          <a:p>
            <a:pPr lvl="1"/>
            <a:r>
              <a:rPr lang="en-US" altLang="en-US"/>
              <a:t>Relies on network layer and serves the application layer</a:t>
            </a:r>
          </a:p>
          <a:p>
            <a:pPr lvl="1"/>
            <a:r>
              <a:rPr lang="en-US" altLang="en-US"/>
              <a:t>E.g., TCP and UDP</a:t>
            </a:r>
          </a:p>
          <a:p>
            <a:r>
              <a:rPr lang="en-US" altLang="en-US"/>
              <a:t>Network layer</a:t>
            </a:r>
          </a:p>
          <a:p>
            <a:pPr lvl="1"/>
            <a:r>
              <a:rPr lang="en-US" altLang="en-US"/>
              <a:t>Logical communication between nodes</a:t>
            </a:r>
          </a:p>
          <a:p>
            <a:pPr lvl="1"/>
            <a:r>
              <a:rPr lang="en-US" altLang="en-US"/>
              <a:t>Hides details of the link technology</a:t>
            </a:r>
          </a:p>
          <a:p>
            <a:pPr lvl="1"/>
            <a:r>
              <a:rPr lang="en-US" altLang="en-US"/>
              <a:t>E.g., 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FED65B0F-48AD-40BB-BBE8-0EB448796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843B43-247F-409A-BDA8-3AF1FDBB566C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00D5C1A-DE2A-A58B-EE85-277CCA10D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Transport Protocols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87712CA-ADAD-1F52-279D-C0AA1D14367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4959350" cy="5486400"/>
          </a:xfrm>
        </p:spPr>
        <p:txBody>
          <a:bodyPr/>
          <a:lstStyle/>
          <a:p>
            <a:r>
              <a:rPr lang="en-US" altLang="en-US" sz="2400"/>
              <a:t>Provide</a:t>
            </a:r>
            <a:r>
              <a:rPr lang="en-US" altLang="en-US" sz="2400" i="1">
                <a:solidFill>
                  <a:srgbClr val="FF0000"/>
                </a:solidFill>
              </a:rPr>
              <a:t> logical communication</a:t>
            </a:r>
            <a:r>
              <a:rPr lang="en-US" altLang="en-US" sz="2400"/>
              <a:t> between application processes running on different hosts</a:t>
            </a:r>
          </a:p>
          <a:p>
            <a:r>
              <a:rPr lang="en-US" altLang="en-US" sz="2400"/>
              <a:t>Run on end hosts </a:t>
            </a:r>
          </a:p>
          <a:p>
            <a:pPr lvl="1"/>
            <a:r>
              <a:rPr lang="en-US" altLang="en-US"/>
              <a:t>Sender: breaks application messages into </a:t>
            </a:r>
            <a:r>
              <a:rPr lang="en-US" altLang="en-US">
                <a:solidFill>
                  <a:srgbClr val="FF0000"/>
                </a:solidFill>
              </a:rPr>
              <a:t>segments</a:t>
            </a:r>
            <a:r>
              <a:rPr lang="en-US" altLang="en-US"/>
              <a:t>, </a:t>
            </a:r>
            <a:br>
              <a:rPr lang="en-US" altLang="en-US"/>
            </a:br>
            <a:r>
              <a:rPr lang="en-US" altLang="en-US"/>
              <a:t>and passes to network layer</a:t>
            </a:r>
          </a:p>
          <a:p>
            <a:pPr lvl="1"/>
            <a:r>
              <a:rPr lang="en-US" altLang="en-US"/>
              <a:t>Receiver: reassembles segments into messages, passes to application layer</a:t>
            </a:r>
          </a:p>
          <a:p>
            <a:r>
              <a:rPr lang="en-US" altLang="en-US" sz="2400"/>
              <a:t>Multiple transport protocol available to applications</a:t>
            </a:r>
          </a:p>
          <a:p>
            <a:pPr lvl="1"/>
            <a:r>
              <a:rPr lang="en-US" altLang="en-US"/>
              <a:t>Internet: TCP and UDP</a:t>
            </a:r>
          </a:p>
        </p:txBody>
      </p:sp>
      <p:graphicFrame>
        <p:nvGraphicFramePr>
          <p:cNvPr id="6149" name="Object 57">
            <a:extLst>
              <a:ext uri="{FF2B5EF4-FFF2-40B4-BE49-F238E27FC236}">
                <a16:creationId xmlns:a16="http://schemas.microsoft.com/office/drawing/2014/main" id="{FB7A9033-2F4C-739E-87F6-01DA22E70B6B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6488113" y="3922713"/>
          <a:ext cx="13049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7263" imgH="1084139" progId="MS_ClipArt_Gallery.2">
                  <p:embed/>
                </p:oleObj>
              </mc:Choice>
              <mc:Fallback>
                <p:oleObj name="Clip" r:id="rId2" imgW="1307263" imgH="1084139" progId="MS_ClipArt_Gallery.2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13" y="3922713"/>
                        <a:ext cx="13049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Freeform 4">
            <a:extLst>
              <a:ext uri="{FF2B5EF4-FFF2-40B4-BE49-F238E27FC236}">
                <a16:creationId xmlns:a16="http://schemas.microsoft.com/office/drawing/2014/main" id="{E8CBB123-C0DA-4433-C9EC-9BE83AA35722}"/>
              </a:ext>
            </a:extLst>
          </p:cNvPr>
          <p:cNvSpPr>
            <a:spLocks/>
          </p:cNvSpPr>
          <p:nvPr/>
        </p:nvSpPr>
        <p:spPr bwMode="auto">
          <a:xfrm>
            <a:off x="7089775" y="2522538"/>
            <a:ext cx="1798638" cy="1674812"/>
          </a:xfrm>
          <a:custGeom>
            <a:avLst/>
            <a:gdLst>
              <a:gd name="T0" fmla="*/ 463191049 w 1292"/>
              <a:gd name="T1" fmla="*/ 12467007 h 1255"/>
              <a:gd name="T2" fmla="*/ 67831762 w 1292"/>
              <a:gd name="T3" fmla="*/ 279604192 h 1255"/>
              <a:gd name="T4" fmla="*/ 56203261 w 1292"/>
              <a:gd name="T5" fmla="*/ 931422339 h 1255"/>
              <a:gd name="T6" fmla="*/ 102715873 w 1292"/>
              <a:gd name="T7" fmla="*/ 1476383477 h 1255"/>
              <a:gd name="T8" fmla="*/ 474819550 w 1292"/>
              <a:gd name="T9" fmla="*/ 1551182850 h 1255"/>
              <a:gd name="T10" fmla="*/ 1253911015 w 1292"/>
              <a:gd name="T11" fmla="*/ 2010660516 h 1255"/>
              <a:gd name="T12" fmla="*/ 1928348756 w 1292"/>
              <a:gd name="T13" fmla="*/ 2147483646 h 1255"/>
              <a:gd name="T14" fmla="*/ 2147483646 w 1292"/>
              <a:gd name="T15" fmla="*/ 1818320034 h 1255"/>
              <a:gd name="T16" fmla="*/ 2147483646 w 1292"/>
              <a:gd name="T17" fmla="*/ 792510362 h 1255"/>
              <a:gd name="T18" fmla="*/ 2147483646 w 1292"/>
              <a:gd name="T19" fmla="*/ 375774432 h 1255"/>
              <a:gd name="T20" fmla="*/ 1451591355 w 1292"/>
              <a:gd name="T21" fmla="*/ 204806154 h 1255"/>
              <a:gd name="T22" fmla="*/ 463191049 w 1292"/>
              <a:gd name="T23" fmla="*/ 1246700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Freeform 5">
            <a:extLst>
              <a:ext uri="{FF2B5EF4-FFF2-40B4-BE49-F238E27FC236}">
                <a16:creationId xmlns:a16="http://schemas.microsoft.com/office/drawing/2014/main" id="{3416197D-37A3-3E78-51B2-E198855F0C07}"/>
              </a:ext>
            </a:extLst>
          </p:cNvPr>
          <p:cNvSpPr>
            <a:spLocks/>
          </p:cNvSpPr>
          <p:nvPr/>
        </p:nvSpPr>
        <p:spPr bwMode="auto">
          <a:xfrm>
            <a:off x="5210175" y="2379663"/>
            <a:ext cx="1866900" cy="1589087"/>
          </a:xfrm>
          <a:custGeom>
            <a:avLst/>
            <a:gdLst>
              <a:gd name="T0" fmla="*/ 1067567260 w 1340"/>
              <a:gd name="T1" fmla="*/ 74768478 h 1191"/>
              <a:gd name="T2" fmla="*/ 159164371 w 1340"/>
              <a:gd name="T3" fmla="*/ 106813064 h 1191"/>
              <a:gd name="T4" fmla="*/ 112579643 w 1340"/>
              <a:gd name="T5" fmla="*/ 715645531 h 1191"/>
              <a:gd name="T6" fmla="*/ 54349081 w 1340"/>
              <a:gd name="T7" fmla="*/ 1281752771 h 1191"/>
              <a:gd name="T8" fmla="*/ 217394932 w 1340"/>
              <a:gd name="T9" fmla="*/ 1548784765 h 1191"/>
              <a:gd name="T10" fmla="*/ 1044274200 w 1340"/>
              <a:gd name="T11" fmla="*/ 1559466739 h 1191"/>
              <a:gd name="T12" fmla="*/ 1242260338 w 1340"/>
              <a:gd name="T13" fmla="*/ 2008080275 h 1191"/>
              <a:gd name="T14" fmla="*/ 2147483646 w 1340"/>
              <a:gd name="T15" fmla="*/ 1954673076 h 1191"/>
              <a:gd name="T16" fmla="*/ 2147483646 w 1340"/>
              <a:gd name="T17" fmla="*/ 1014720777 h 1191"/>
              <a:gd name="T18" fmla="*/ 2147483646 w 1340"/>
              <a:gd name="T19" fmla="*/ 608832466 h 1191"/>
              <a:gd name="T20" fmla="*/ 1475183977 w 1340"/>
              <a:gd name="T21" fmla="*/ 512701375 h 1191"/>
              <a:gd name="T22" fmla="*/ 1067567260 w 1340"/>
              <a:gd name="T23" fmla="*/ 74768478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40"/>
              <a:gd name="T37" fmla="*/ 0 h 1191"/>
              <a:gd name="T38" fmla="*/ 1340 w 1340"/>
              <a:gd name="T39" fmla="*/ 1191 h 119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Freeform 6">
            <a:extLst>
              <a:ext uri="{FF2B5EF4-FFF2-40B4-BE49-F238E27FC236}">
                <a16:creationId xmlns:a16="http://schemas.microsoft.com/office/drawing/2014/main" id="{DFFC3442-57E5-31AD-6812-FC2D5979DF3B}"/>
              </a:ext>
            </a:extLst>
          </p:cNvPr>
          <p:cNvSpPr>
            <a:spLocks/>
          </p:cNvSpPr>
          <p:nvPr/>
        </p:nvSpPr>
        <p:spPr bwMode="auto">
          <a:xfrm>
            <a:off x="5578475" y="3830638"/>
            <a:ext cx="2974975" cy="2219325"/>
          </a:xfrm>
          <a:custGeom>
            <a:avLst/>
            <a:gdLst>
              <a:gd name="T0" fmla="*/ 52425051 w 2135"/>
              <a:gd name="T1" fmla="*/ 1162592467 h 1662"/>
              <a:gd name="T2" fmla="*/ 203872877 w 2135"/>
              <a:gd name="T3" fmla="*/ 135516364 h 1662"/>
              <a:gd name="T4" fmla="*/ 1275663706 w 2135"/>
              <a:gd name="T5" fmla="*/ 349490274 h 1662"/>
              <a:gd name="T6" fmla="*/ 2147483646 w 2135"/>
              <a:gd name="T7" fmla="*/ 178311146 h 1662"/>
              <a:gd name="T8" fmla="*/ 2147483646 w 2135"/>
              <a:gd name="T9" fmla="*/ 723945952 h 1662"/>
              <a:gd name="T10" fmla="*/ 2147483646 w 2135"/>
              <a:gd name="T11" fmla="*/ 2039885496 h 1662"/>
              <a:gd name="T12" fmla="*/ 2147483646 w 2135"/>
              <a:gd name="T13" fmla="*/ 2147483646 h 1662"/>
              <a:gd name="T14" fmla="*/ 1578560751 w 2135"/>
              <a:gd name="T15" fmla="*/ 2147483646 h 1662"/>
              <a:gd name="T16" fmla="*/ 972766661 w 2135"/>
              <a:gd name="T17" fmla="*/ 2147483646 h 1662"/>
              <a:gd name="T18" fmla="*/ 355322096 w 2135"/>
              <a:gd name="T19" fmla="*/ 1900802455 h 1662"/>
              <a:gd name="T20" fmla="*/ 52425051 w 2135"/>
              <a:gd name="T21" fmla="*/ 116259246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53" name="Group 7">
            <a:extLst>
              <a:ext uri="{FF2B5EF4-FFF2-40B4-BE49-F238E27FC236}">
                <a16:creationId xmlns:a16="http://schemas.microsoft.com/office/drawing/2014/main" id="{94F01376-70D5-FD28-2899-91AE54C59A9C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2514600"/>
            <a:ext cx="733425" cy="319088"/>
            <a:chOff x="3552" y="246"/>
            <a:chExt cx="527" cy="248"/>
          </a:xfrm>
        </p:grpSpPr>
        <p:graphicFrame>
          <p:nvGraphicFramePr>
            <p:cNvPr id="6416" name="Object 8">
              <a:extLst>
                <a:ext uri="{FF2B5EF4-FFF2-40B4-BE49-F238E27FC236}">
                  <a16:creationId xmlns:a16="http://schemas.microsoft.com/office/drawing/2014/main" id="{FB68B281-9DBF-909A-55FE-1461597B12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1307263" imgH="1084139" progId="MS_ClipArt_Gallery.2">
                    <p:embed/>
                  </p:oleObj>
                </mc:Choice>
                <mc:Fallback>
                  <p:oleObj name="Clip" r:id="rId4" imgW="1307263" imgH="1084139" progId="MS_ClipArt_Gallery.2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17" name="Object 9">
              <a:extLst>
                <a:ext uri="{FF2B5EF4-FFF2-40B4-BE49-F238E27FC236}">
                  <a16:creationId xmlns:a16="http://schemas.microsoft.com/office/drawing/2014/main" id="{FDC3377E-E2D2-2A1E-102C-2517043EF3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681706" imgH="480401" progId="MS_ClipArt_Gallery.2">
                    <p:embed/>
                  </p:oleObj>
                </mc:Choice>
                <mc:Fallback>
                  <p:oleObj name="Clip" r:id="rId5" imgW="681706" imgH="480401" progId="MS_ClipArt_Gallery.2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18" name="Line 10">
              <a:extLst>
                <a:ext uri="{FF2B5EF4-FFF2-40B4-BE49-F238E27FC236}">
                  <a16:creationId xmlns:a16="http://schemas.microsoft.com/office/drawing/2014/main" id="{A90BA807-C695-5135-4F4F-EA39AFE8FE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4" y="434"/>
              <a:ext cx="8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54" name="Group 11">
            <a:extLst>
              <a:ext uri="{FF2B5EF4-FFF2-40B4-BE49-F238E27FC236}">
                <a16:creationId xmlns:a16="http://schemas.microsoft.com/office/drawing/2014/main" id="{B2F00D7F-1DC2-CECC-2971-9BB7DE39E2A6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3109913"/>
            <a:ext cx="733425" cy="319087"/>
            <a:chOff x="3552" y="246"/>
            <a:chExt cx="527" cy="248"/>
          </a:xfrm>
        </p:grpSpPr>
        <p:graphicFrame>
          <p:nvGraphicFramePr>
            <p:cNvPr id="6413" name="Object 12">
              <a:extLst>
                <a:ext uri="{FF2B5EF4-FFF2-40B4-BE49-F238E27FC236}">
                  <a16:creationId xmlns:a16="http://schemas.microsoft.com/office/drawing/2014/main" id="{59DDA497-C1A5-54D9-4332-366F6F4243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1307263" imgH="1084139" progId="MS_ClipArt_Gallery.2">
                    <p:embed/>
                  </p:oleObj>
                </mc:Choice>
                <mc:Fallback>
                  <p:oleObj name="Clip" r:id="rId4" imgW="1307263" imgH="1084139" progId="MS_ClipArt_Gallery.2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14" name="Object 13">
              <a:extLst>
                <a:ext uri="{FF2B5EF4-FFF2-40B4-BE49-F238E27FC236}">
                  <a16:creationId xmlns:a16="http://schemas.microsoft.com/office/drawing/2014/main" id="{EEB4D068-9757-7CE0-02A0-764A4E45C7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681706" imgH="480401" progId="MS_ClipArt_Gallery.2">
                    <p:embed/>
                  </p:oleObj>
                </mc:Choice>
                <mc:Fallback>
                  <p:oleObj name="Clip" r:id="rId7" imgW="681706" imgH="480401" progId="MS_ClipArt_Gallery.2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15" name="Line 14">
              <a:extLst>
                <a:ext uri="{FF2B5EF4-FFF2-40B4-BE49-F238E27FC236}">
                  <a16:creationId xmlns:a16="http://schemas.microsoft.com/office/drawing/2014/main" id="{5DA4B496-2D37-8434-E30A-A508DDA93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4" y="434"/>
              <a:ext cx="8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55" name="Group 15">
            <a:extLst>
              <a:ext uri="{FF2B5EF4-FFF2-40B4-BE49-F238E27FC236}">
                <a16:creationId xmlns:a16="http://schemas.microsoft.com/office/drawing/2014/main" id="{577022EF-50E2-AA95-5C89-4254D0213280}"/>
              </a:ext>
            </a:extLst>
          </p:cNvPr>
          <p:cNvGrpSpPr>
            <a:grpSpLocks/>
          </p:cNvGrpSpPr>
          <p:nvPr/>
        </p:nvGrpSpPr>
        <p:grpSpPr bwMode="auto">
          <a:xfrm>
            <a:off x="5703888" y="2897188"/>
            <a:ext cx="69850" cy="214312"/>
            <a:chOff x="3842" y="406"/>
            <a:chExt cx="51" cy="167"/>
          </a:xfrm>
        </p:grpSpPr>
        <p:sp>
          <p:nvSpPr>
            <p:cNvPr id="6410" name="Oval 16">
              <a:extLst>
                <a:ext uri="{FF2B5EF4-FFF2-40B4-BE49-F238E27FC236}">
                  <a16:creationId xmlns:a16="http://schemas.microsoft.com/office/drawing/2014/main" id="{A520646A-9613-C1C1-0990-03A8F6D89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11" name="Oval 17">
              <a:extLst>
                <a:ext uri="{FF2B5EF4-FFF2-40B4-BE49-F238E27FC236}">
                  <a16:creationId xmlns:a16="http://schemas.microsoft.com/office/drawing/2014/main" id="{11FFB7F0-2EB6-A13D-06B3-8F84E6B27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12" name="Oval 18">
              <a:extLst>
                <a:ext uri="{FF2B5EF4-FFF2-40B4-BE49-F238E27FC236}">
                  <a16:creationId xmlns:a16="http://schemas.microsoft.com/office/drawing/2014/main" id="{5109C2EA-A572-F00A-1C44-507CE1417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6156" name="Group 19">
            <a:extLst>
              <a:ext uri="{FF2B5EF4-FFF2-40B4-BE49-F238E27FC236}">
                <a16:creationId xmlns:a16="http://schemas.microsoft.com/office/drawing/2014/main" id="{DDBD8BC4-14CD-4647-9E9F-CD4DCF8DDB19}"/>
              </a:ext>
            </a:extLst>
          </p:cNvPr>
          <p:cNvGrpSpPr>
            <a:grpSpLocks/>
          </p:cNvGrpSpPr>
          <p:nvPr/>
        </p:nvGrpSpPr>
        <p:grpSpPr bwMode="auto">
          <a:xfrm>
            <a:off x="6173788" y="3400425"/>
            <a:ext cx="209550" cy="395288"/>
            <a:chOff x="4180" y="783"/>
            <a:chExt cx="150" cy="307"/>
          </a:xfrm>
        </p:grpSpPr>
        <p:sp>
          <p:nvSpPr>
            <p:cNvPr id="6402" name="AutoShape 20">
              <a:extLst>
                <a:ext uri="{FF2B5EF4-FFF2-40B4-BE49-F238E27FC236}">
                  <a16:creationId xmlns:a16="http://schemas.microsoft.com/office/drawing/2014/main" id="{15BFD5DE-4554-2263-1CA8-31664A35F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03" name="Rectangle 21">
              <a:extLst>
                <a:ext uri="{FF2B5EF4-FFF2-40B4-BE49-F238E27FC236}">
                  <a16:creationId xmlns:a16="http://schemas.microsoft.com/office/drawing/2014/main" id="{6507BAD3-5638-A4DA-CDA5-90B6B4F83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04" name="Rectangle 22">
              <a:extLst>
                <a:ext uri="{FF2B5EF4-FFF2-40B4-BE49-F238E27FC236}">
                  <a16:creationId xmlns:a16="http://schemas.microsoft.com/office/drawing/2014/main" id="{625030CF-1FA0-97D3-74F0-D8785C9AC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05" name="AutoShape 23">
              <a:extLst>
                <a:ext uri="{FF2B5EF4-FFF2-40B4-BE49-F238E27FC236}">
                  <a16:creationId xmlns:a16="http://schemas.microsoft.com/office/drawing/2014/main" id="{A02FD4F9-F79E-3E16-997E-B9214C6B5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06" name="Line 24">
              <a:extLst>
                <a:ext uri="{FF2B5EF4-FFF2-40B4-BE49-F238E27FC236}">
                  <a16:creationId xmlns:a16="http://schemas.microsoft.com/office/drawing/2014/main" id="{91BC6847-FFC2-B168-4260-A779168FA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7" name="Line 25">
              <a:extLst>
                <a:ext uri="{FF2B5EF4-FFF2-40B4-BE49-F238E27FC236}">
                  <a16:creationId xmlns:a16="http://schemas.microsoft.com/office/drawing/2014/main" id="{FB9D631B-0693-2113-0D24-266773ACB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8" name="Rectangle 26">
              <a:extLst>
                <a:ext uri="{FF2B5EF4-FFF2-40B4-BE49-F238E27FC236}">
                  <a16:creationId xmlns:a16="http://schemas.microsoft.com/office/drawing/2014/main" id="{16508CC0-0228-AA0B-4434-E96C5B834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09" name="Rectangle 27">
              <a:extLst>
                <a:ext uri="{FF2B5EF4-FFF2-40B4-BE49-F238E27FC236}">
                  <a16:creationId xmlns:a16="http://schemas.microsoft.com/office/drawing/2014/main" id="{3C3C7BED-C5BD-E287-C9F8-783BCE1DD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6157" name="Group 28">
            <a:extLst>
              <a:ext uri="{FF2B5EF4-FFF2-40B4-BE49-F238E27FC236}">
                <a16:creationId xmlns:a16="http://schemas.microsoft.com/office/drawing/2014/main" id="{ADBB818C-EB7F-C754-7177-C2CB57CF7B0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486526" y="3478212"/>
            <a:ext cx="80962" cy="233363"/>
            <a:chOff x="3842" y="406"/>
            <a:chExt cx="51" cy="167"/>
          </a:xfrm>
        </p:grpSpPr>
        <p:sp>
          <p:nvSpPr>
            <p:cNvPr id="6399" name="Oval 29">
              <a:extLst>
                <a:ext uri="{FF2B5EF4-FFF2-40B4-BE49-F238E27FC236}">
                  <a16:creationId xmlns:a16="http://schemas.microsoft.com/office/drawing/2014/main" id="{889AEAFE-7526-4D3D-3D80-FDCC21E04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00" name="Oval 30">
              <a:extLst>
                <a:ext uri="{FF2B5EF4-FFF2-40B4-BE49-F238E27FC236}">
                  <a16:creationId xmlns:a16="http://schemas.microsoft.com/office/drawing/2014/main" id="{12BE0396-CFE2-7C28-E3E6-8025A19B6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401" name="Oval 31">
              <a:extLst>
                <a:ext uri="{FF2B5EF4-FFF2-40B4-BE49-F238E27FC236}">
                  <a16:creationId xmlns:a16="http://schemas.microsoft.com/office/drawing/2014/main" id="{9CE950F8-592D-8511-7EA9-448D55C0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6158" name="Line 32">
            <a:extLst>
              <a:ext uri="{FF2B5EF4-FFF2-40B4-BE49-F238E27FC236}">
                <a16:creationId xmlns:a16="http://schemas.microsoft.com/office/drawing/2014/main" id="{BB357564-500B-FDC4-729C-C61CACA7D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0313" y="3308350"/>
            <a:ext cx="4953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9" name="Line 33">
            <a:extLst>
              <a:ext uri="{FF2B5EF4-FFF2-40B4-BE49-F238E27FC236}">
                <a16:creationId xmlns:a16="http://schemas.microsoft.com/office/drawing/2014/main" id="{A33407EC-B77D-E017-1D9F-7DC280A5A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3488" y="3305175"/>
            <a:ext cx="1587" cy="95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0" name="Line 34">
            <a:extLst>
              <a:ext uri="{FF2B5EF4-FFF2-40B4-BE49-F238E27FC236}">
                <a16:creationId xmlns:a16="http://schemas.microsoft.com/office/drawing/2014/main" id="{D5A82B06-27BD-BD9F-9355-7219D4DB7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3303588"/>
            <a:ext cx="1587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1" name="Line 35">
            <a:extLst>
              <a:ext uri="{FF2B5EF4-FFF2-40B4-BE49-F238E27FC236}">
                <a16:creationId xmlns:a16="http://schemas.microsoft.com/office/drawing/2014/main" id="{034B0487-9725-F299-98E9-D1CCBAD7D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275" y="2768600"/>
            <a:ext cx="288925" cy="265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2" name="Line 36">
            <a:extLst>
              <a:ext uri="{FF2B5EF4-FFF2-40B4-BE49-F238E27FC236}">
                <a16:creationId xmlns:a16="http://schemas.microsoft.com/office/drawing/2014/main" id="{C9F0DF89-1A5E-A8A6-A29F-65C539B15D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2975" y="3054350"/>
            <a:ext cx="276225" cy="330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Line 37">
            <a:extLst>
              <a:ext uri="{FF2B5EF4-FFF2-40B4-BE49-F238E27FC236}">
                <a16:creationId xmlns:a16="http://schemas.microsoft.com/office/drawing/2014/main" id="{09F13C50-B893-4156-F2E4-239F81F824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0025" y="3140075"/>
            <a:ext cx="1588" cy="163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64" name="Group 38">
            <a:extLst>
              <a:ext uri="{FF2B5EF4-FFF2-40B4-BE49-F238E27FC236}">
                <a16:creationId xmlns:a16="http://schemas.microsoft.com/office/drawing/2014/main" id="{B6223181-4423-AA01-E961-2717EDB8D508}"/>
              </a:ext>
            </a:extLst>
          </p:cNvPr>
          <p:cNvGrpSpPr>
            <a:grpSpLocks/>
          </p:cNvGrpSpPr>
          <p:nvPr/>
        </p:nvGrpSpPr>
        <p:grpSpPr bwMode="auto">
          <a:xfrm>
            <a:off x="6669088" y="3378200"/>
            <a:ext cx="209550" cy="395288"/>
            <a:chOff x="4180" y="783"/>
            <a:chExt cx="150" cy="307"/>
          </a:xfrm>
        </p:grpSpPr>
        <p:sp>
          <p:nvSpPr>
            <p:cNvPr id="6391" name="AutoShape 39">
              <a:extLst>
                <a:ext uri="{FF2B5EF4-FFF2-40B4-BE49-F238E27FC236}">
                  <a16:creationId xmlns:a16="http://schemas.microsoft.com/office/drawing/2014/main" id="{3560F5D8-40C3-608F-7311-26CF6F3BC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92" name="Rectangle 40">
              <a:extLst>
                <a:ext uri="{FF2B5EF4-FFF2-40B4-BE49-F238E27FC236}">
                  <a16:creationId xmlns:a16="http://schemas.microsoft.com/office/drawing/2014/main" id="{7D72BBCA-95B2-5994-3F65-C759E7CB4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93" name="Rectangle 41">
              <a:extLst>
                <a:ext uri="{FF2B5EF4-FFF2-40B4-BE49-F238E27FC236}">
                  <a16:creationId xmlns:a16="http://schemas.microsoft.com/office/drawing/2014/main" id="{CBFFE5B5-EFB4-4C23-D3E3-B7A9ADA76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94" name="AutoShape 42">
              <a:extLst>
                <a:ext uri="{FF2B5EF4-FFF2-40B4-BE49-F238E27FC236}">
                  <a16:creationId xmlns:a16="http://schemas.microsoft.com/office/drawing/2014/main" id="{F81DAA2D-D65B-E1FD-59B5-4C0C4A5F7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95" name="Line 43">
              <a:extLst>
                <a:ext uri="{FF2B5EF4-FFF2-40B4-BE49-F238E27FC236}">
                  <a16:creationId xmlns:a16="http://schemas.microsoft.com/office/drawing/2014/main" id="{A03BB370-C84B-53B2-21A8-E2353698D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96" name="Line 44">
              <a:extLst>
                <a:ext uri="{FF2B5EF4-FFF2-40B4-BE49-F238E27FC236}">
                  <a16:creationId xmlns:a16="http://schemas.microsoft.com/office/drawing/2014/main" id="{931F7F6C-CF3C-0779-B844-BD2AFE92FB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97" name="Rectangle 45">
              <a:extLst>
                <a:ext uri="{FF2B5EF4-FFF2-40B4-BE49-F238E27FC236}">
                  <a16:creationId xmlns:a16="http://schemas.microsoft.com/office/drawing/2014/main" id="{9CCFFEFA-1D98-77A7-86C2-9C825E147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98" name="Rectangle 46">
              <a:extLst>
                <a:ext uri="{FF2B5EF4-FFF2-40B4-BE49-F238E27FC236}">
                  <a16:creationId xmlns:a16="http://schemas.microsoft.com/office/drawing/2014/main" id="{5A004C3E-1000-7BE7-B5A5-43D7E6FAA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6165" name="Group 47">
            <a:extLst>
              <a:ext uri="{FF2B5EF4-FFF2-40B4-BE49-F238E27FC236}">
                <a16:creationId xmlns:a16="http://schemas.microsoft.com/office/drawing/2014/main" id="{9DABBD76-78CA-EDFC-8655-745594176BAE}"/>
              </a:ext>
            </a:extLst>
          </p:cNvPr>
          <p:cNvGrpSpPr>
            <a:grpSpLocks/>
          </p:cNvGrpSpPr>
          <p:nvPr/>
        </p:nvGrpSpPr>
        <p:grpSpPr bwMode="auto">
          <a:xfrm>
            <a:off x="5711825" y="3997325"/>
            <a:ext cx="479425" cy="925513"/>
            <a:chOff x="3314" y="1248"/>
            <a:chExt cx="344" cy="694"/>
          </a:xfrm>
        </p:grpSpPr>
        <p:graphicFrame>
          <p:nvGraphicFramePr>
            <p:cNvPr id="6382" name="Object 48">
              <a:extLst>
                <a:ext uri="{FF2B5EF4-FFF2-40B4-BE49-F238E27FC236}">
                  <a16:creationId xmlns:a16="http://schemas.microsoft.com/office/drawing/2014/main" id="{62CFFCEA-AFFA-A7EA-672B-9DF66CDF41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4" y="1248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07263" imgH="1084139" progId="MS_ClipArt_Gallery.2">
                    <p:embed/>
                  </p:oleObj>
                </mc:Choice>
                <mc:Fallback>
                  <p:oleObj name="Clip" r:id="rId2" imgW="1307263" imgH="1084139" progId="MS_ClipArt_Gallery.2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4" y="1248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83" name="Line 49">
              <a:extLst>
                <a:ext uri="{FF2B5EF4-FFF2-40B4-BE49-F238E27FC236}">
                  <a16:creationId xmlns:a16="http://schemas.microsoft.com/office/drawing/2014/main" id="{5475E7C5-B8DE-1B91-C466-A270FDED3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1433"/>
              <a:ext cx="5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384" name="Object 50">
              <a:extLst>
                <a:ext uri="{FF2B5EF4-FFF2-40B4-BE49-F238E27FC236}">
                  <a16:creationId xmlns:a16="http://schemas.microsoft.com/office/drawing/2014/main" id="{5D12696D-5CB2-0E47-406F-98A492E4BC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4" y="1694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07263" imgH="1084139" progId="MS_ClipArt_Gallery.2">
                    <p:embed/>
                  </p:oleObj>
                </mc:Choice>
                <mc:Fallback>
                  <p:oleObj name="Clip" r:id="rId2" imgW="1307263" imgH="1084139" progId="MS_ClipArt_Gallery.2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4" y="1694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85" name="Line 51">
              <a:extLst>
                <a:ext uri="{FF2B5EF4-FFF2-40B4-BE49-F238E27FC236}">
                  <a16:creationId xmlns:a16="http://schemas.microsoft.com/office/drawing/2014/main" id="{86A32E98-D91D-5264-48AA-C23E398278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1882"/>
              <a:ext cx="5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386" name="Group 52">
              <a:extLst>
                <a:ext uri="{FF2B5EF4-FFF2-40B4-BE49-F238E27FC236}">
                  <a16:creationId xmlns:a16="http://schemas.microsoft.com/office/drawing/2014/main" id="{6CF53F95-DFA8-A423-1C6A-C850D11292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4" y="1504"/>
              <a:ext cx="51" cy="167"/>
              <a:chOff x="3842" y="406"/>
              <a:chExt cx="51" cy="167"/>
            </a:xfrm>
          </p:grpSpPr>
          <p:sp>
            <p:nvSpPr>
              <p:cNvPr id="6388" name="Oval 53">
                <a:extLst>
                  <a:ext uri="{FF2B5EF4-FFF2-40B4-BE49-F238E27FC236}">
                    <a16:creationId xmlns:a16="http://schemas.microsoft.com/office/drawing/2014/main" id="{E3A02599-E249-4A4F-304A-74934702D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buFont typeface="Helvetica" panose="020B0604020202020204" pitchFamily="34" charset="0"/>
                  <a:buChar char="–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10000"/>
                  </a:spcBef>
                  <a:buChar char="•"/>
                  <a:defRPr sz="2000">
                    <a:solidFill>
                      <a:schemeClr val="accent2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10000"/>
                  </a:spcBef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>
                  <a:solidFill>
                    <a:schemeClr val="tx1"/>
                  </a:solidFill>
                  <a:latin typeface="Courier New" panose="02070309020205020404" pitchFamily="49" charset="0"/>
                </a:endParaRPr>
              </a:p>
            </p:txBody>
          </p:sp>
          <p:sp>
            <p:nvSpPr>
              <p:cNvPr id="6389" name="Oval 54">
                <a:extLst>
                  <a:ext uri="{FF2B5EF4-FFF2-40B4-BE49-F238E27FC236}">
                    <a16:creationId xmlns:a16="http://schemas.microsoft.com/office/drawing/2014/main" id="{CA41A791-A7C9-726F-A6D8-673645D72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buFont typeface="Helvetica" panose="020B0604020202020204" pitchFamily="34" charset="0"/>
                  <a:buChar char="–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10000"/>
                  </a:spcBef>
                  <a:buChar char="•"/>
                  <a:defRPr sz="2000">
                    <a:solidFill>
                      <a:schemeClr val="accent2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10000"/>
                  </a:spcBef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>
                  <a:solidFill>
                    <a:schemeClr val="tx1"/>
                  </a:solidFill>
                  <a:latin typeface="Courier New" panose="02070309020205020404" pitchFamily="49" charset="0"/>
                </a:endParaRPr>
              </a:p>
            </p:txBody>
          </p:sp>
          <p:sp>
            <p:nvSpPr>
              <p:cNvPr id="6390" name="Oval 55">
                <a:extLst>
                  <a:ext uri="{FF2B5EF4-FFF2-40B4-BE49-F238E27FC236}">
                    <a16:creationId xmlns:a16="http://schemas.microsoft.com/office/drawing/2014/main" id="{E725E9F5-98C2-5148-8439-041A879BE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buFont typeface="Helvetica" panose="020B0604020202020204" pitchFamily="34" charset="0"/>
                  <a:buChar char="–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10000"/>
                  </a:spcBef>
                  <a:buChar char="•"/>
                  <a:defRPr sz="2000">
                    <a:solidFill>
                      <a:schemeClr val="accent2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10000"/>
                  </a:spcBef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1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>
                  <a:solidFill>
                    <a:schemeClr val="tx1"/>
                  </a:solidFill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6387" name="Line 56">
              <a:extLst>
                <a:ext uri="{FF2B5EF4-FFF2-40B4-BE49-F238E27FC236}">
                  <a16:creationId xmlns:a16="http://schemas.microsoft.com/office/drawing/2014/main" id="{466EC2A7-B70C-6DD4-E990-31BF28745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4" y="1431"/>
              <a:ext cx="0" cy="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6166" name="Object 58">
            <a:extLst>
              <a:ext uri="{FF2B5EF4-FFF2-40B4-BE49-F238E27FC236}">
                <a16:creationId xmlns:a16="http://schemas.microsoft.com/office/drawing/2014/main" id="{C3790FF0-727D-EE29-3C0E-22D76ABBC4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5825" y="4995863"/>
          <a:ext cx="4159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7263" imgH="1084139" progId="MS_ClipArt_Gallery.2">
                  <p:embed/>
                </p:oleObj>
              </mc:Choice>
              <mc:Fallback>
                <p:oleObj name="Clip" r:id="rId2" imgW="1307263" imgH="1084139" progId="MS_ClipArt_Gallery.2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4995863"/>
                        <a:ext cx="4159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7" name="Oval 59">
            <a:extLst>
              <a:ext uri="{FF2B5EF4-FFF2-40B4-BE49-F238E27FC236}">
                <a16:creationId xmlns:a16="http://schemas.microsoft.com/office/drawing/2014/main" id="{E0417EE5-6521-5085-543E-4060C185348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382544" y="5099844"/>
            <a:ext cx="63500" cy="65088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6168" name="Oval 60">
            <a:extLst>
              <a:ext uri="{FF2B5EF4-FFF2-40B4-BE49-F238E27FC236}">
                <a16:creationId xmlns:a16="http://schemas.microsoft.com/office/drawing/2014/main" id="{74464D40-93E8-7C00-9A4F-6D23906828A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467476" y="5097462"/>
            <a:ext cx="63500" cy="66675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6169" name="Oval 61">
            <a:extLst>
              <a:ext uri="{FF2B5EF4-FFF2-40B4-BE49-F238E27FC236}">
                <a16:creationId xmlns:a16="http://schemas.microsoft.com/office/drawing/2014/main" id="{7BB1F79D-FDD3-6458-6537-7EBB7E4EC20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545263" y="5102225"/>
            <a:ext cx="61912" cy="65088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6170" name="Line 62">
            <a:extLst>
              <a:ext uri="{FF2B5EF4-FFF2-40B4-BE49-F238E27FC236}">
                <a16:creationId xmlns:a16="http://schemas.microsoft.com/office/drawing/2014/main" id="{209C7CDB-05E9-742E-A26A-AE2900F7F255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804819" y="4982369"/>
            <a:ext cx="60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1" name="Line 63">
            <a:extLst>
              <a:ext uri="{FF2B5EF4-FFF2-40B4-BE49-F238E27FC236}">
                <a16:creationId xmlns:a16="http://schemas.microsoft.com/office/drawing/2014/main" id="{639C7A29-6B6F-4C47-77A6-E473BBB890BD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6178550" y="4973638"/>
            <a:ext cx="63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2" name="Line 64">
            <a:extLst>
              <a:ext uri="{FF2B5EF4-FFF2-40B4-BE49-F238E27FC236}">
                <a16:creationId xmlns:a16="http://schemas.microsoft.com/office/drawing/2014/main" id="{66A5C336-2C29-25EB-1B0D-04434BED9779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525419" y="4634707"/>
            <a:ext cx="0" cy="627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Line 65">
            <a:extLst>
              <a:ext uri="{FF2B5EF4-FFF2-40B4-BE49-F238E27FC236}">
                <a16:creationId xmlns:a16="http://schemas.microsoft.com/office/drawing/2014/main" id="{06811C61-3501-7652-7AF6-700FD98A13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1250" y="4573588"/>
            <a:ext cx="93663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" name="Line 66">
            <a:extLst>
              <a:ext uri="{FF2B5EF4-FFF2-40B4-BE49-F238E27FC236}">
                <a16:creationId xmlns:a16="http://schemas.microsoft.com/office/drawing/2014/main" id="{5F1B4BF4-AF15-AFD9-3073-026030199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913" y="4619625"/>
            <a:ext cx="303212" cy="385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5" name="Line 67">
            <a:extLst>
              <a:ext uri="{FF2B5EF4-FFF2-40B4-BE49-F238E27FC236}">
                <a16:creationId xmlns:a16="http://schemas.microsoft.com/office/drawing/2014/main" id="{FE70786C-6F38-8AE4-8822-8417F5D326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8250" y="4616450"/>
            <a:ext cx="279400" cy="392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76" name="Object 68">
            <a:extLst>
              <a:ext uri="{FF2B5EF4-FFF2-40B4-BE49-F238E27FC236}">
                <a16:creationId xmlns:a16="http://schemas.microsoft.com/office/drawing/2014/main" id="{65332E62-6CB1-1BC1-833F-A50B83C9F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6050" y="4168775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982811" imgH="1208363" progId="MS_ClipArt_Gallery.2">
                  <p:embed/>
                </p:oleObj>
              </mc:Choice>
              <mc:Fallback>
                <p:oleObj name="Clip" r:id="rId8" imgW="982811" imgH="1208363" progId="MS_ClipArt_Gallery.2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4168775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7" name="Object 69">
            <a:extLst>
              <a:ext uri="{FF2B5EF4-FFF2-40B4-BE49-F238E27FC236}">
                <a16:creationId xmlns:a16="http://schemas.microsoft.com/office/drawing/2014/main" id="{8615FE43-44DD-2CF6-B55B-03C00E982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75" y="4249738"/>
          <a:ext cx="203200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0" imgW="982811" imgH="1208363" progId="MS_ClipArt_Gallery.2">
                  <p:embed/>
                </p:oleObj>
              </mc:Choice>
              <mc:Fallback>
                <p:oleObj name="Clip" r:id="rId10" imgW="982811" imgH="1208363" progId="MS_ClipArt_Gallery.2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4249738"/>
                        <a:ext cx="203200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78" name="Group 70">
            <a:extLst>
              <a:ext uri="{FF2B5EF4-FFF2-40B4-BE49-F238E27FC236}">
                <a16:creationId xmlns:a16="http://schemas.microsoft.com/office/drawing/2014/main" id="{3175C59C-C310-8E94-482B-3D95DB012544}"/>
              </a:ext>
            </a:extLst>
          </p:cNvPr>
          <p:cNvGrpSpPr>
            <a:grpSpLocks/>
          </p:cNvGrpSpPr>
          <p:nvPr/>
        </p:nvGrpSpPr>
        <p:grpSpPr bwMode="auto">
          <a:xfrm>
            <a:off x="6777038" y="5446713"/>
            <a:ext cx="406400" cy="427037"/>
            <a:chOff x="2870" y="1518"/>
            <a:chExt cx="292" cy="320"/>
          </a:xfrm>
        </p:grpSpPr>
        <p:graphicFrame>
          <p:nvGraphicFramePr>
            <p:cNvPr id="6380" name="Object 71">
              <a:extLst>
                <a:ext uri="{FF2B5EF4-FFF2-40B4-BE49-F238E27FC236}">
                  <a16:creationId xmlns:a16="http://schemas.microsoft.com/office/drawing/2014/main" id="{CE23C7C2-4153-68A4-60FF-1686F0B3D9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1" imgW="826829" imgH="840406" progId="MS_ClipArt_Gallery.2">
                    <p:embed/>
                  </p:oleObj>
                </mc:Choice>
                <mc:Fallback>
                  <p:oleObj name="Clip" r:id="rId11" imgW="826829" imgH="840406" progId="MS_ClipArt_Gallery.2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81" name="Object 72">
              <a:extLst>
                <a:ext uri="{FF2B5EF4-FFF2-40B4-BE49-F238E27FC236}">
                  <a16:creationId xmlns:a16="http://schemas.microsoft.com/office/drawing/2014/main" id="{0C79DDE8-300B-8395-F523-DE61FB1C16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3" imgW="1268295" imgH="1199426" progId="MS_ClipArt_Gallery.2">
                    <p:embed/>
                  </p:oleObj>
                </mc:Choice>
                <mc:Fallback>
                  <p:oleObj name="Clip" r:id="rId13" imgW="1268295" imgH="1199426" progId="MS_ClipArt_Gallery.2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79" name="Group 73">
            <a:extLst>
              <a:ext uri="{FF2B5EF4-FFF2-40B4-BE49-F238E27FC236}">
                <a16:creationId xmlns:a16="http://schemas.microsoft.com/office/drawing/2014/main" id="{4DF0E0F9-E572-617C-F5B9-5AE9F5BF8C26}"/>
              </a:ext>
            </a:extLst>
          </p:cNvPr>
          <p:cNvGrpSpPr>
            <a:grpSpLocks/>
          </p:cNvGrpSpPr>
          <p:nvPr/>
        </p:nvGrpSpPr>
        <p:grpSpPr bwMode="auto">
          <a:xfrm>
            <a:off x="7554913" y="5478463"/>
            <a:ext cx="406400" cy="427037"/>
            <a:chOff x="2870" y="1518"/>
            <a:chExt cx="292" cy="320"/>
          </a:xfrm>
        </p:grpSpPr>
        <p:graphicFrame>
          <p:nvGraphicFramePr>
            <p:cNvPr id="6378" name="Object 74">
              <a:extLst>
                <a:ext uri="{FF2B5EF4-FFF2-40B4-BE49-F238E27FC236}">
                  <a16:creationId xmlns:a16="http://schemas.microsoft.com/office/drawing/2014/main" id="{4D10FD58-ADCC-3E09-67BD-C8757DE47B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1" imgW="826829" imgH="840406" progId="MS_ClipArt_Gallery.2">
                    <p:embed/>
                  </p:oleObj>
                </mc:Choice>
                <mc:Fallback>
                  <p:oleObj name="Clip" r:id="rId11" imgW="826829" imgH="840406" progId="MS_ClipArt_Gallery.2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79" name="Object 75">
              <a:extLst>
                <a:ext uri="{FF2B5EF4-FFF2-40B4-BE49-F238E27FC236}">
                  <a16:creationId xmlns:a16="http://schemas.microsoft.com/office/drawing/2014/main" id="{D73254C9-4843-2B1C-BB00-3FE0FABE33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3" imgW="1268295" imgH="1199426" progId="MS_ClipArt_Gallery.2">
                    <p:embed/>
                  </p:oleObj>
                </mc:Choice>
                <mc:Fallback>
                  <p:oleObj name="Clip" r:id="rId13" imgW="1268295" imgH="1199426" progId="MS_ClipArt_Gallery.2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80" name="Group 76">
            <a:extLst>
              <a:ext uri="{FF2B5EF4-FFF2-40B4-BE49-F238E27FC236}">
                <a16:creationId xmlns:a16="http://schemas.microsoft.com/office/drawing/2014/main" id="{46C40868-D86B-E27A-85C2-12950AD0874D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5194300"/>
            <a:ext cx="379413" cy="376238"/>
            <a:chOff x="4733" y="2082"/>
            <a:chExt cx="272" cy="282"/>
          </a:xfrm>
        </p:grpSpPr>
        <p:graphicFrame>
          <p:nvGraphicFramePr>
            <p:cNvPr id="6376" name="Object 77">
              <a:extLst>
                <a:ext uri="{FF2B5EF4-FFF2-40B4-BE49-F238E27FC236}">
                  <a16:creationId xmlns:a16="http://schemas.microsoft.com/office/drawing/2014/main" id="{99BB38AA-0A5A-9567-0F75-ED2D708189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3" y="2082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1" imgW="826829" imgH="840406" progId="MS_ClipArt_Gallery.2">
                    <p:embed/>
                  </p:oleObj>
                </mc:Choice>
                <mc:Fallback>
                  <p:oleObj name="Clip" r:id="rId11" imgW="826829" imgH="840406" progId="MS_ClipArt_Gallery.2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3" y="2082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77" name="Rectangle 78">
              <a:extLst>
                <a:ext uri="{FF2B5EF4-FFF2-40B4-BE49-F238E27FC236}">
                  <a16:creationId xmlns:a16="http://schemas.microsoft.com/office/drawing/2014/main" id="{DF7693B8-42BB-7A0B-4114-88D8884D5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2" y="2181"/>
              <a:ext cx="192" cy="183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6181" name="Line 79">
            <a:extLst>
              <a:ext uri="{FF2B5EF4-FFF2-40B4-BE49-F238E27FC236}">
                <a16:creationId xmlns:a16="http://schemas.microsoft.com/office/drawing/2014/main" id="{E6EDD270-39BA-ED47-AA15-90C7B0750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6963" y="5097463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82" name="Group 80">
            <a:extLst>
              <a:ext uri="{FF2B5EF4-FFF2-40B4-BE49-F238E27FC236}">
                <a16:creationId xmlns:a16="http://schemas.microsoft.com/office/drawing/2014/main" id="{682AFEF0-6DC5-C456-7EA6-7872A0DBA432}"/>
              </a:ext>
            </a:extLst>
          </p:cNvPr>
          <p:cNvGrpSpPr>
            <a:grpSpLocks/>
          </p:cNvGrpSpPr>
          <p:nvPr/>
        </p:nvGrpSpPr>
        <p:grpSpPr bwMode="auto">
          <a:xfrm>
            <a:off x="8167688" y="4521200"/>
            <a:ext cx="207962" cy="409575"/>
            <a:chOff x="4180" y="783"/>
            <a:chExt cx="150" cy="307"/>
          </a:xfrm>
        </p:grpSpPr>
        <p:sp>
          <p:nvSpPr>
            <p:cNvPr id="6368" name="AutoShape 81">
              <a:extLst>
                <a:ext uri="{FF2B5EF4-FFF2-40B4-BE49-F238E27FC236}">
                  <a16:creationId xmlns:a16="http://schemas.microsoft.com/office/drawing/2014/main" id="{92E8A8C5-736B-A1A6-D68F-666A8E8FE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69" name="Rectangle 82">
              <a:extLst>
                <a:ext uri="{FF2B5EF4-FFF2-40B4-BE49-F238E27FC236}">
                  <a16:creationId xmlns:a16="http://schemas.microsoft.com/office/drawing/2014/main" id="{B34949C6-02E8-3C80-B443-97A29CEB6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70" name="Rectangle 83">
              <a:extLst>
                <a:ext uri="{FF2B5EF4-FFF2-40B4-BE49-F238E27FC236}">
                  <a16:creationId xmlns:a16="http://schemas.microsoft.com/office/drawing/2014/main" id="{DCACD9C5-0985-403F-CB9D-2055A66C0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71" name="AutoShape 84">
              <a:extLst>
                <a:ext uri="{FF2B5EF4-FFF2-40B4-BE49-F238E27FC236}">
                  <a16:creationId xmlns:a16="http://schemas.microsoft.com/office/drawing/2014/main" id="{FB6CF2A8-E15D-4E41-7A03-E14AD0FC4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72" name="Line 85">
              <a:extLst>
                <a:ext uri="{FF2B5EF4-FFF2-40B4-BE49-F238E27FC236}">
                  <a16:creationId xmlns:a16="http://schemas.microsoft.com/office/drawing/2014/main" id="{E300C61F-749C-89D8-68FD-510B4D265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73" name="Line 86">
              <a:extLst>
                <a:ext uri="{FF2B5EF4-FFF2-40B4-BE49-F238E27FC236}">
                  <a16:creationId xmlns:a16="http://schemas.microsoft.com/office/drawing/2014/main" id="{6C572521-1580-18A3-5848-958614717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74" name="Rectangle 87">
              <a:extLst>
                <a:ext uri="{FF2B5EF4-FFF2-40B4-BE49-F238E27FC236}">
                  <a16:creationId xmlns:a16="http://schemas.microsoft.com/office/drawing/2014/main" id="{A946DFEF-986E-D1C3-731A-C807B8F0A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75" name="Rectangle 88">
              <a:extLst>
                <a:ext uri="{FF2B5EF4-FFF2-40B4-BE49-F238E27FC236}">
                  <a16:creationId xmlns:a16="http://schemas.microsoft.com/office/drawing/2014/main" id="{224CEEEE-DEC8-925D-D76A-A757B2ED3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6183" name="Group 89">
            <a:extLst>
              <a:ext uri="{FF2B5EF4-FFF2-40B4-BE49-F238E27FC236}">
                <a16:creationId xmlns:a16="http://schemas.microsoft.com/office/drawing/2014/main" id="{F6BDF4E9-1B6F-4671-C480-9657A5509649}"/>
              </a:ext>
            </a:extLst>
          </p:cNvPr>
          <p:cNvGrpSpPr>
            <a:grpSpLocks/>
          </p:cNvGrpSpPr>
          <p:nvPr/>
        </p:nvGrpSpPr>
        <p:grpSpPr bwMode="auto">
          <a:xfrm>
            <a:off x="8154988" y="4965700"/>
            <a:ext cx="207962" cy="409575"/>
            <a:chOff x="4180" y="783"/>
            <a:chExt cx="150" cy="307"/>
          </a:xfrm>
        </p:grpSpPr>
        <p:sp>
          <p:nvSpPr>
            <p:cNvPr id="6360" name="AutoShape 90">
              <a:extLst>
                <a:ext uri="{FF2B5EF4-FFF2-40B4-BE49-F238E27FC236}">
                  <a16:creationId xmlns:a16="http://schemas.microsoft.com/office/drawing/2014/main" id="{7F59E547-6A46-B30F-6E73-746973B1E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61" name="Rectangle 91">
              <a:extLst>
                <a:ext uri="{FF2B5EF4-FFF2-40B4-BE49-F238E27FC236}">
                  <a16:creationId xmlns:a16="http://schemas.microsoft.com/office/drawing/2014/main" id="{A9E415A8-8768-3EE0-0EC7-27545F374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62" name="Rectangle 92">
              <a:extLst>
                <a:ext uri="{FF2B5EF4-FFF2-40B4-BE49-F238E27FC236}">
                  <a16:creationId xmlns:a16="http://schemas.microsoft.com/office/drawing/2014/main" id="{935D58F5-261A-A26B-13E6-D9A3A0EDC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63" name="AutoShape 93">
              <a:extLst>
                <a:ext uri="{FF2B5EF4-FFF2-40B4-BE49-F238E27FC236}">
                  <a16:creationId xmlns:a16="http://schemas.microsoft.com/office/drawing/2014/main" id="{4D892BCA-AF39-7C6C-8F43-E804EB254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64" name="Line 94">
              <a:extLst>
                <a:ext uri="{FF2B5EF4-FFF2-40B4-BE49-F238E27FC236}">
                  <a16:creationId xmlns:a16="http://schemas.microsoft.com/office/drawing/2014/main" id="{6D5EC229-9AF5-85A6-1502-D78797107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65" name="Line 95">
              <a:extLst>
                <a:ext uri="{FF2B5EF4-FFF2-40B4-BE49-F238E27FC236}">
                  <a16:creationId xmlns:a16="http://schemas.microsoft.com/office/drawing/2014/main" id="{BB06CFD5-3837-E99F-038A-9DF8D39DAA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66" name="Rectangle 96">
              <a:extLst>
                <a:ext uri="{FF2B5EF4-FFF2-40B4-BE49-F238E27FC236}">
                  <a16:creationId xmlns:a16="http://schemas.microsoft.com/office/drawing/2014/main" id="{20952DFF-7E8A-B0B8-A5D4-F6B6D7212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67" name="Rectangle 97">
              <a:extLst>
                <a:ext uri="{FF2B5EF4-FFF2-40B4-BE49-F238E27FC236}">
                  <a16:creationId xmlns:a16="http://schemas.microsoft.com/office/drawing/2014/main" id="{805EE79E-1B62-8093-497F-2561CB63E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6184" name="Line 98">
            <a:extLst>
              <a:ext uri="{FF2B5EF4-FFF2-40B4-BE49-F238E27FC236}">
                <a16:creationId xmlns:a16="http://schemas.microsoft.com/office/drawing/2014/main" id="{5C8F6E4C-216D-3386-E0D4-7F2C097B2C8D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781131" y="4895057"/>
            <a:ext cx="6111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" name="Line 99">
            <a:extLst>
              <a:ext uri="{FF2B5EF4-FFF2-40B4-BE49-F238E27FC236}">
                <a16:creationId xmlns:a16="http://schemas.microsoft.com/office/drawing/2014/main" id="{1362F0E4-3A22-5BEE-8A89-6AFE7397136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135144" y="5147469"/>
            <a:ext cx="0" cy="103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6" name="Line 100">
            <a:extLst>
              <a:ext uri="{FF2B5EF4-FFF2-40B4-BE49-F238E27FC236}">
                <a16:creationId xmlns:a16="http://schemas.microsoft.com/office/drawing/2014/main" id="{1866E8C9-EFD5-C827-1A21-3FEE6250194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124825" y="4678363"/>
            <a:ext cx="0" cy="8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Line 101">
            <a:extLst>
              <a:ext uri="{FF2B5EF4-FFF2-40B4-BE49-F238E27FC236}">
                <a16:creationId xmlns:a16="http://schemas.microsoft.com/office/drawing/2014/main" id="{652A6F0C-FAA7-18F2-A526-29903F8DAE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2819400"/>
            <a:ext cx="458788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8" name="Line 102">
            <a:extLst>
              <a:ext uri="{FF2B5EF4-FFF2-40B4-BE49-F238E27FC236}">
                <a16:creationId xmlns:a16="http://schemas.microsoft.com/office/drawing/2014/main" id="{A311CD64-0A3B-3E9B-1A00-D478854E0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9063" y="2803525"/>
            <a:ext cx="485775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9" name="Line 103">
            <a:extLst>
              <a:ext uri="{FF2B5EF4-FFF2-40B4-BE49-F238E27FC236}">
                <a16:creationId xmlns:a16="http://schemas.microsoft.com/office/drawing/2014/main" id="{1B7CDAA4-2428-297B-59E7-BCC640BEE6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8175" y="3140075"/>
            <a:ext cx="241300" cy="681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0" name="Line 104">
            <a:extLst>
              <a:ext uri="{FF2B5EF4-FFF2-40B4-BE49-F238E27FC236}">
                <a16:creationId xmlns:a16="http://schemas.microsoft.com/office/drawing/2014/main" id="{5DF674DE-5C48-50B5-814D-5525152A3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8238" y="2916238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1" name="Line 105">
            <a:extLst>
              <a:ext uri="{FF2B5EF4-FFF2-40B4-BE49-F238E27FC236}">
                <a16:creationId xmlns:a16="http://schemas.microsoft.com/office/drawing/2014/main" id="{ED15E22E-F06F-D560-EBF5-DDD3ABC3A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3638" y="3563938"/>
            <a:ext cx="534987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2" name="Line 106">
            <a:extLst>
              <a:ext uri="{FF2B5EF4-FFF2-40B4-BE49-F238E27FC236}">
                <a16:creationId xmlns:a16="http://schemas.microsoft.com/office/drawing/2014/main" id="{9E334452-F843-FA87-3431-4D9616209B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74013" y="4029075"/>
            <a:ext cx="266700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3" name="Line 107">
            <a:extLst>
              <a:ext uri="{FF2B5EF4-FFF2-40B4-BE49-F238E27FC236}">
                <a16:creationId xmlns:a16="http://schemas.microsoft.com/office/drawing/2014/main" id="{06D13301-7267-6AC9-8D01-EB94E2A62A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7000" y="3108325"/>
            <a:ext cx="560388" cy="384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4" name="Line 108">
            <a:extLst>
              <a:ext uri="{FF2B5EF4-FFF2-40B4-BE49-F238E27FC236}">
                <a16:creationId xmlns:a16="http://schemas.microsoft.com/office/drawing/2014/main" id="{205D80C4-03DF-7A9D-3739-0921AB7EBC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6525" y="2547938"/>
            <a:ext cx="350838" cy="255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" name="Line 109">
            <a:extLst>
              <a:ext uri="{FF2B5EF4-FFF2-40B4-BE49-F238E27FC236}">
                <a16:creationId xmlns:a16="http://schemas.microsoft.com/office/drawing/2014/main" id="{27B9D44A-C241-E133-31A9-21C9AA0C8A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74075" y="2724150"/>
            <a:ext cx="201613" cy="176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96" name="Group 110">
            <a:extLst>
              <a:ext uri="{FF2B5EF4-FFF2-40B4-BE49-F238E27FC236}">
                <a16:creationId xmlns:a16="http://schemas.microsoft.com/office/drawing/2014/main" id="{B88534DF-5009-7F0B-6656-2460A244589B}"/>
              </a:ext>
            </a:extLst>
          </p:cNvPr>
          <p:cNvGrpSpPr>
            <a:grpSpLocks/>
          </p:cNvGrpSpPr>
          <p:nvPr/>
        </p:nvGrpSpPr>
        <p:grpSpPr bwMode="auto">
          <a:xfrm>
            <a:off x="6284913" y="2916238"/>
            <a:ext cx="501650" cy="233362"/>
            <a:chOff x="3600" y="219"/>
            <a:chExt cx="360" cy="175"/>
          </a:xfrm>
        </p:grpSpPr>
        <p:sp>
          <p:nvSpPr>
            <p:cNvPr id="6347" name="Oval 111">
              <a:extLst>
                <a:ext uri="{FF2B5EF4-FFF2-40B4-BE49-F238E27FC236}">
                  <a16:creationId xmlns:a16="http://schemas.microsoft.com/office/drawing/2014/main" id="{5CDF6EEA-EB3B-75A1-5C5E-80F87B88C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48" name="Line 112">
              <a:extLst>
                <a:ext uri="{FF2B5EF4-FFF2-40B4-BE49-F238E27FC236}">
                  <a16:creationId xmlns:a16="http://schemas.microsoft.com/office/drawing/2014/main" id="{D0973AE9-A70B-AB54-3F4D-F3BC8E548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49" name="Line 113">
              <a:extLst>
                <a:ext uri="{FF2B5EF4-FFF2-40B4-BE49-F238E27FC236}">
                  <a16:creationId xmlns:a16="http://schemas.microsoft.com/office/drawing/2014/main" id="{14B90799-683D-CA74-7B67-BDE1ED5F8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50" name="Rectangle 114">
              <a:extLst>
                <a:ext uri="{FF2B5EF4-FFF2-40B4-BE49-F238E27FC236}">
                  <a16:creationId xmlns:a16="http://schemas.microsoft.com/office/drawing/2014/main" id="{A0EB5A5B-8535-23E5-8346-5A8EA935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1" name="Oval 115">
              <a:extLst>
                <a:ext uri="{FF2B5EF4-FFF2-40B4-BE49-F238E27FC236}">
                  <a16:creationId xmlns:a16="http://schemas.microsoft.com/office/drawing/2014/main" id="{1D62135C-2789-0558-6463-237E6B346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352" name="Group 116">
              <a:extLst>
                <a:ext uri="{FF2B5EF4-FFF2-40B4-BE49-F238E27FC236}">
                  <a16:creationId xmlns:a16="http://schemas.microsoft.com/office/drawing/2014/main" id="{DF5200B2-28A7-40B0-8619-6362B8728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357" name="Line 117">
                <a:extLst>
                  <a:ext uri="{FF2B5EF4-FFF2-40B4-BE49-F238E27FC236}">
                    <a16:creationId xmlns:a16="http://schemas.microsoft.com/office/drawing/2014/main" id="{92D835F1-422B-9DAA-9B7C-13D7CA1F7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8" name="Line 118">
                <a:extLst>
                  <a:ext uri="{FF2B5EF4-FFF2-40B4-BE49-F238E27FC236}">
                    <a16:creationId xmlns:a16="http://schemas.microsoft.com/office/drawing/2014/main" id="{AEA8052F-CFD9-FF04-0056-21D8DD3D6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9" name="Line 119">
                <a:extLst>
                  <a:ext uri="{FF2B5EF4-FFF2-40B4-BE49-F238E27FC236}">
                    <a16:creationId xmlns:a16="http://schemas.microsoft.com/office/drawing/2014/main" id="{0FFD5294-D1CF-AF2D-F223-E7660B6BAC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353" name="Group 120">
              <a:extLst>
                <a:ext uri="{FF2B5EF4-FFF2-40B4-BE49-F238E27FC236}">
                  <a16:creationId xmlns:a16="http://schemas.microsoft.com/office/drawing/2014/main" id="{6C4A7522-3D72-8AB3-DF8E-61ABBCD68F7E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354" name="Line 121">
                <a:extLst>
                  <a:ext uri="{FF2B5EF4-FFF2-40B4-BE49-F238E27FC236}">
                    <a16:creationId xmlns:a16="http://schemas.microsoft.com/office/drawing/2014/main" id="{1536E76B-A9F1-F80F-1712-2C90D23350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5" name="Line 122">
                <a:extLst>
                  <a:ext uri="{FF2B5EF4-FFF2-40B4-BE49-F238E27FC236}">
                    <a16:creationId xmlns:a16="http://schemas.microsoft.com/office/drawing/2014/main" id="{724DFAEE-EE8D-1A0F-F5E9-6C86AC180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6" name="Line 123">
                <a:extLst>
                  <a:ext uri="{FF2B5EF4-FFF2-40B4-BE49-F238E27FC236}">
                    <a16:creationId xmlns:a16="http://schemas.microsoft.com/office/drawing/2014/main" id="{5368708E-F265-E00E-680B-388A6949E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197" name="Group 124">
            <a:extLst>
              <a:ext uri="{FF2B5EF4-FFF2-40B4-BE49-F238E27FC236}">
                <a16:creationId xmlns:a16="http://schemas.microsoft.com/office/drawing/2014/main" id="{605EF71F-A088-F85F-E78C-2ADE89471081}"/>
              </a:ext>
            </a:extLst>
          </p:cNvPr>
          <p:cNvGrpSpPr>
            <a:grpSpLocks/>
          </p:cNvGrpSpPr>
          <p:nvPr/>
        </p:nvGrpSpPr>
        <p:grpSpPr bwMode="auto">
          <a:xfrm>
            <a:off x="7237413" y="2687638"/>
            <a:ext cx="501650" cy="233362"/>
            <a:chOff x="3600" y="219"/>
            <a:chExt cx="360" cy="175"/>
          </a:xfrm>
        </p:grpSpPr>
        <p:sp>
          <p:nvSpPr>
            <p:cNvPr id="6334" name="Oval 125">
              <a:extLst>
                <a:ext uri="{FF2B5EF4-FFF2-40B4-BE49-F238E27FC236}">
                  <a16:creationId xmlns:a16="http://schemas.microsoft.com/office/drawing/2014/main" id="{2CD8BD8A-5F8C-9506-83B5-9759A7884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35" name="Line 126">
              <a:extLst>
                <a:ext uri="{FF2B5EF4-FFF2-40B4-BE49-F238E27FC236}">
                  <a16:creationId xmlns:a16="http://schemas.microsoft.com/office/drawing/2014/main" id="{6D6675D0-B0D0-A613-7BBA-A58A10345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36" name="Line 127">
              <a:extLst>
                <a:ext uri="{FF2B5EF4-FFF2-40B4-BE49-F238E27FC236}">
                  <a16:creationId xmlns:a16="http://schemas.microsoft.com/office/drawing/2014/main" id="{C3D64362-AADD-5CB0-3E57-B1675CE10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37" name="Rectangle 128">
              <a:extLst>
                <a:ext uri="{FF2B5EF4-FFF2-40B4-BE49-F238E27FC236}">
                  <a16:creationId xmlns:a16="http://schemas.microsoft.com/office/drawing/2014/main" id="{8644DBE0-06CC-BBA5-BEDB-0E4BFE543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38" name="Oval 129">
              <a:extLst>
                <a:ext uri="{FF2B5EF4-FFF2-40B4-BE49-F238E27FC236}">
                  <a16:creationId xmlns:a16="http://schemas.microsoft.com/office/drawing/2014/main" id="{5B3B31F1-25AF-18E3-5EE9-8830CE8C0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339" name="Group 130">
              <a:extLst>
                <a:ext uri="{FF2B5EF4-FFF2-40B4-BE49-F238E27FC236}">
                  <a16:creationId xmlns:a16="http://schemas.microsoft.com/office/drawing/2014/main" id="{56780560-D14C-CCCA-617F-38B709D82C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344" name="Line 131">
                <a:extLst>
                  <a:ext uri="{FF2B5EF4-FFF2-40B4-BE49-F238E27FC236}">
                    <a16:creationId xmlns:a16="http://schemas.microsoft.com/office/drawing/2014/main" id="{4FF930ED-8AAF-46BE-BDFA-3ABFCCBAE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45" name="Line 132">
                <a:extLst>
                  <a:ext uri="{FF2B5EF4-FFF2-40B4-BE49-F238E27FC236}">
                    <a16:creationId xmlns:a16="http://schemas.microsoft.com/office/drawing/2014/main" id="{F4D5C9A6-1C3A-F3AD-0953-E08E809E41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46" name="Line 133">
                <a:extLst>
                  <a:ext uri="{FF2B5EF4-FFF2-40B4-BE49-F238E27FC236}">
                    <a16:creationId xmlns:a16="http://schemas.microsoft.com/office/drawing/2014/main" id="{A950385E-7AE7-B76D-BB65-69AAE2AE9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340" name="Group 134">
              <a:extLst>
                <a:ext uri="{FF2B5EF4-FFF2-40B4-BE49-F238E27FC236}">
                  <a16:creationId xmlns:a16="http://schemas.microsoft.com/office/drawing/2014/main" id="{B427145B-BF32-F77B-E814-254C3E6F858B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341" name="Line 135">
                <a:extLst>
                  <a:ext uri="{FF2B5EF4-FFF2-40B4-BE49-F238E27FC236}">
                    <a16:creationId xmlns:a16="http://schemas.microsoft.com/office/drawing/2014/main" id="{F2CCA9A5-A679-6D29-10A0-F69BA6E68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42" name="Line 136">
                <a:extLst>
                  <a:ext uri="{FF2B5EF4-FFF2-40B4-BE49-F238E27FC236}">
                    <a16:creationId xmlns:a16="http://schemas.microsoft.com/office/drawing/2014/main" id="{2A1CC752-BDA1-1731-BBCE-64EADB939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43" name="Line 137">
                <a:extLst>
                  <a:ext uri="{FF2B5EF4-FFF2-40B4-BE49-F238E27FC236}">
                    <a16:creationId xmlns:a16="http://schemas.microsoft.com/office/drawing/2014/main" id="{9BB4743C-E8C4-1501-3BB0-633305ADD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198" name="Group 138">
            <a:extLst>
              <a:ext uri="{FF2B5EF4-FFF2-40B4-BE49-F238E27FC236}">
                <a16:creationId xmlns:a16="http://schemas.microsoft.com/office/drawing/2014/main" id="{668971E9-FFA6-77D6-E44E-8AEF61032946}"/>
              </a:ext>
            </a:extLst>
          </p:cNvPr>
          <p:cNvGrpSpPr>
            <a:grpSpLocks/>
          </p:cNvGrpSpPr>
          <p:nvPr/>
        </p:nvGrpSpPr>
        <p:grpSpPr bwMode="auto">
          <a:xfrm>
            <a:off x="7254875" y="3344863"/>
            <a:ext cx="501650" cy="233362"/>
            <a:chOff x="3600" y="219"/>
            <a:chExt cx="360" cy="175"/>
          </a:xfrm>
        </p:grpSpPr>
        <p:sp>
          <p:nvSpPr>
            <p:cNvPr id="6321" name="Oval 139">
              <a:extLst>
                <a:ext uri="{FF2B5EF4-FFF2-40B4-BE49-F238E27FC236}">
                  <a16:creationId xmlns:a16="http://schemas.microsoft.com/office/drawing/2014/main" id="{2B753CC8-02EC-0D18-4AB3-2C2DBEA2B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22" name="Line 140">
              <a:extLst>
                <a:ext uri="{FF2B5EF4-FFF2-40B4-BE49-F238E27FC236}">
                  <a16:creationId xmlns:a16="http://schemas.microsoft.com/office/drawing/2014/main" id="{DD8768B3-329D-E4E7-50BD-980521C82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23" name="Line 141">
              <a:extLst>
                <a:ext uri="{FF2B5EF4-FFF2-40B4-BE49-F238E27FC236}">
                  <a16:creationId xmlns:a16="http://schemas.microsoft.com/office/drawing/2014/main" id="{68F28A0C-055C-042A-2A5C-5FDEAB47B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24" name="Rectangle 142">
              <a:extLst>
                <a:ext uri="{FF2B5EF4-FFF2-40B4-BE49-F238E27FC236}">
                  <a16:creationId xmlns:a16="http://schemas.microsoft.com/office/drawing/2014/main" id="{51B5146C-F2AC-160A-6DCD-1B4DFA594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25" name="Oval 143">
              <a:extLst>
                <a:ext uri="{FF2B5EF4-FFF2-40B4-BE49-F238E27FC236}">
                  <a16:creationId xmlns:a16="http://schemas.microsoft.com/office/drawing/2014/main" id="{E8A0D18D-00A5-6604-4555-E22779915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326" name="Group 144">
              <a:extLst>
                <a:ext uri="{FF2B5EF4-FFF2-40B4-BE49-F238E27FC236}">
                  <a16:creationId xmlns:a16="http://schemas.microsoft.com/office/drawing/2014/main" id="{C45A2136-2036-E809-A308-9C7F1D334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331" name="Line 145">
                <a:extLst>
                  <a:ext uri="{FF2B5EF4-FFF2-40B4-BE49-F238E27FC236}">
                    <a16:creationId xmlns:a16="http://schemas.microsoft.com/office/drawing/2014/main" id="{0D9806C4-3249-AE8D-D07A-4036D6380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32" name="Line 146">
                <a:extLst>
                  <a:ext uri="{FF2B5EF4-FFF2-40B4-BE49-F238E27FC236}">
                    <a16:creationId xmlns:a16="http://schemas.microsoft.com/office/drawing/2014/main" id="{D9E4D9A5-F9BC-DFE9-877B-A9F71B566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33" name="Line 147">
                <a:extLst>
                  <a:ext uri="{FF2B5EF4-FFF2-40B4-BE49-F238E27FC236}">
                    <a16:creationId xmlns:a16="http://schemas.microsoft.com/office/drawing/2014/main" id="{4B1F425F-BAE7-B86B-0BF0-DED539434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327" name="Group 148">
              <a:extLst>
                <a:ext uri="{FF2B5EF4-FFF2-40B4-BE49-F238E27FC236}">
                  <a16:creationId xmlns:a16="http://schemas.microsoft.com/office/drawing/2014/main" id="{36FEBEA0-4615-00CB-8A59-C53758898EC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328" name="Line 149">
                <a:extLst>
                  <a:ext uri="{FF2B5EF4-FFF2-40B4-BE49-F238E27FC236}">
                    <a16:creationId xmlns:a16="http://schemas.microsoft.com/office/drawing/2014/main" id="{6CD6B374-A188-76EA-F3DA-DE6E7D128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29" name="Line 150">
                <a:extLst>
                  <a:ext uri="{FF2B5EF4-FFF2-40B4-BE49-F238E27FC236}">
                    <a16:creationId xmlns:a16="http://schemas.microsoft.com/office/drawing/2014/main" id="{FD2E9251-FCCE-8543-2577-59A0276BB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30" name="Line 151">
                <a:extLst>
                  <a:ext uri="{FF2B5EF4-FFF2-40B4-BE49-F238E27FC236}">
                    <a16:creationId xmlns:a16="http://schemas.microsoft.com/office/drawing/2014/main" id="{7630454F-55C0-FBD3-FC00-E28AA8FCB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199" name="Group 152">
            <a:extLst>
              <a:ext uri="{FF2B5EF4-FFF2-40B4-BE49-F238E27FC236}">
                <a16:creationId xmlns:a16="http://schemas.microsoft.com/office/drawing/2014/main" id="{8EC02108-5205-DA0D-3A01-E91E6C479F74}"/>
              </a:ext>
            </a:extLst>
          </p:cNvPr>
          <p:cNvGrpSpPr>
            <a:grpSpLocks/>
          </p:cNvGrpSpPr>
          <p:nvPr/>
        </p:nvGrpSpPr>
        <p:grpSpPr bwMode="auto">
          <a:xfrm>
            <a:off x="8224838" y="2895600"/>
            <a:ext cx="500062" cy="233363"/>
            <a:chOff x="3600" y="219"/>
            <a:chExt cx="360" cy="175"/>
          </a:xfrm>
        </p:grpSpPr>
        <p:sp>
          <p:nvSpPr>
            <p:cNvPr id="6308" name="Oval 153">
              <a:extLst>
                <a:ext uri="{FF2B5EF4-FFF2-40B4-BE49-F238E27FC236}">
                  <a16:creationId xmlns:a16="http://schemas.microsoft.com/office/drawing/2014/main" id="{2D8383CF-2E08-40C5-F77A-4875BCC6C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309" name="Line 154">
              <a:extLst>
                <a:ext uri="{FF2B5EF4-FFF2-40B4-BE49-F238E27FC236}">
                  <a16:creationId xmlns:a16="http://schemas.microsoft.com/office/drawing/2014/main" id="{83C4EBF1-213A-A4E2-37BC-520EC45F8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0" name="Line 155">
              <a:extLst>
                <a:ext uri="{FF2B5EF4-FFF2-40B4-BE49-F238E27FC236}">
                  <a16:creationId xmlns:a16="http://schemas.microsoft.com/office/drawing/2014/main" id="{44BFB879-B1A4-7193-3F58-2BD05F0EF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1" name="Rectangle 156">
              <a:extLst>
                <a:ext uri="{FF2B5EF4-FFF2-40B4-BE49-F238E27FC236}">
                  <a16:creationId xmlns:a16="http://schemas.microsoft.com/office/drawing/2014/main" id="{FA4BEEB2-4E40-88BA-4AAF-E5365830F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12" name="Oval 157">
              <a:extLst>
                <a:ext uri="{FF2B5EF4-FFF2-40B4-BE49-F238E27FC236}">
                  <a16:creationId xmlns:a16="http://schemas.microsoft.com/office/drawing/2014/main" id="{78A846CB-8AAC-E286-682E-2A641660E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313" name="Group 158">
              <a:extLst>
                <a:ext uri="{FF2B5EF4-FFF2-40B4-BE49-F238E27FC236}">
                  <a16:creationId xmlns:a16="http://schemas.microsoft.com/office/drawing/2014/main" id="{8ADAD073-3594-8144-E0DD-B854327ADC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318" name="Line 159">
                <a:extLst>
                  <a:ext uri="{FF2B5EF4-FFF2-40B4-BE49-F238E27FC236}">
                    <a16:creationId xmlns:a16="http://schemas.microsoft.com/office/drawing/2014/main" id="{01335599-1798-4B70-AD19-514F9B84B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19" name="Line 160">
                <a:extLst>
                  <a:ext uri="{FF2B5EF4-FFF2-40B4-BE49-F238E27FC236}">
                    <a16:creationId xmlns:a16="http://schemas.microsoft.com/office/drawing/2014/main" id="{B6D72018-FFC2-897D-5CEF-9692B78F3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20" name="Line 161">
                <a:extLst>
                  <a:ext uri="{FF2B5EF4-FFF2-40B4-BE49-F238E27FC236}">
                    <a16:creationId xmlns:a16="http://schemas.microsoft.com/office/drawing/2014/main" id="{8CB4E45F-504B-2300-638B-ADC467EB2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314" name="Group 162">
              <a:extLst>
                <a:ext uri="{FF2B5EF4-FFF2-40B4-BE49-F238E27FC236}">
                  <a16:creationId xmlns:a16="http://schemas.microsoft.com/office/drawing/2014/main" id="{C250085F-9970-36CC-0A48-40C572050DCB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315" name="Line 163">
                <a:extLst>
                  <a:ext uri="{FF2B5EF4-FFF2-40B4-BE49-F238E27FC236}">
                    <a16:creationId xmlns:a16="http://schemas.microsoft.com/office/drawing/2014/main" id="{F6807F06-9FE7-9F5E-D529-A063ABC5A5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16" name="Line 164">
                <a:extLst>
                  <a:ext uri="{FF2B5EF4-FFF2-40B4-BE49-F238E27FC236}">
                    <a16:creationId xmlns:a16="http://schemas.microsoft.com/office/drawing/2014/main" id="{B9EC2506-B835-A073-F761-3C8C69CD7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17" name="Line 165">
                <a:extLst>
                  <a:ext uri="{FF2B5EF4-FFF2-40B4-BE49-F238E27FC236}">
                    <a16:creationId xmlns:a16="http://schemas.microsoft.com/office/drawing/2014/main" id="{CE992BBF-F120-CC24-F07E-B84C44979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200" name="Group 166">
            <a:extLst>
              <a:ext uri="{FF2B5EF4-FFF2-40B4-BE49-F238E27FC236}">
                <a16:creationId xmlns:a16="http://schemas.microsoft.com/office/drawing/2014/main" id="{8C0AC8B0-8714-142B-D8D0-22B050DF90BD}"/>
              </a:ext>
            </a:extLst>
          </p:cNvPr>
          <p:cNvGrpSpPr>
            <a:grpSpLocks/>
          </p:cNvGrpSpPr>
          <p:nvPr/>
        </p:nvGrpSpPr>
        <p:grpSpPr bwMode="auto">
          <a:xfrm>
            <a:off x="8031163" y="3792538"/>
            <a:ext cx="501650" cy="233362"/>
            <a:chOff x="3600" y="219"/>
            <a:chExt cx="360" cy="175"/>
          </a:xfrm>
        </p:grpSpPr>
        <p:sp>
          <p:nvSpPr>
            <p:cNvPr id="6295" name="Oval 167">
              <a:extLst>
                <a:ext uri="{FF2B5EF4-FFF2-40B4-BE49-F238E27FC236}">
                  <a16:creationId xmlns:a16="http://schemas.microsoft.com/office/drawing/2014/main" id="{6706C9CF-FCFB-16E7-8242-EE5B8ABF8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96" name="Line 168">
              <a:extLst>
                <a:ext uri="{FF2B5EF4-FFF2-40B4-BE49-F238E27FC236}">
                  <a16:creationId xmlns:a16="http://schemas.microsoft.com/office/drawing/2014/main" id="{745E213F-1FF8-0128-B5CA-52669A9AF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97" name="Line 169">
              <a:extLst>
                <a:ext uri="{FF2B5EF4-FFF2-40B4-BE49-F238E27FC236}">
                  <a16:creationId xmlns:a16="http://schemas.microsoft.com/office/drawing/2014/main" id="{A1F56837-8CF5-634D-54C2-9859E578F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98" name="Rectangle 170">
              <a:extLst>
                <a:ext uri="{FF2B5EF4-FFF2-40B4-BE49-F238E27FC236}">
                  <a16:creationId xmlns:a16="http://schemas.microsoft.com/office/drawing/2014/main" id="{C83EBA3A-AD3F-26FE-D8F9-E8411B9F1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99" name="Oval 171">
              <a:extLst>
                <a:ext uri="{FF2B5EF4-FFF2-40B4-BE49-F238E27FC236}">
                  <a16:creationId xmlns:a16="http://schemas.microsoft.com/office/drawing/2014/main" id="{8C64D098-8F41-288A-3F30-6689457AC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300" name="Group 172">
              <a:extLst>
                <a:ext uri="{FF2B5EF4-FFF2-40B4-BE49-F238E27FC236}">
                  <a16:creationId xmlns:a16="http://schemas.microsoft.com/office/drawing/2014/main" id="{CF7ED796-3C6C-BA41-32B6-FCB6FB0A6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305" name="Line 173">
                <a:extLst>
                  <a:ext uri="{FF2B5EF4-FFF2-40B4-BE49-F238E27FC236}">
                    <a16:creationId xmlns:a16="http://schemas.microsoft.com/office/drawing/2014/main" id="{A0E1C4E8-7164-B064-E1ED-F7E87BFF98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6" name="Line 174">
                <a:extLst>
                  <a:ext uri="{FF2B5EF4-FFF2-40B4-BE49-F238E27FC236}">
                    <a16:creationId xmlns:a16="http://schemas.microsoft.com/office/drawing/2014/main" id="{A6BC2C60-29D7-D67D-CCB4-7DC678E3E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7" name="Line 175">
                <a:extLst>
                  <a:ext uri="{FF2B5EF4-FFF2-40B4-BE49-F238E27FC236}">
                    <a16:creationId xmlns:a16="http://schemas.microsoft.com/office/drawing/2014/main" id="{152EEA29-F92C-945B-AF3B-54250E94A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301" name="Group 176">
              <a:extLst>
                <a:ext uri="{FF2B5EF4-FFF2-40B4-BE49-F238E27FC236}">
                  <a16:creationId xmlns:a16="http://schemas.microsoft.com/office/drawing/2014/main" id="{41404D03-9F34-3DA2-9F7C-668350539DE8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302" name="Line 177">
                <a:extLst>
                  <a:ext uri="{FF2B5EF4-FFF2-40B4-BE49-F238E27FC236}">
                    <a16:creationId xmlns:a16="http://schemas.microsoft.com/office/drawing/2014/main" id="{418EC2DB-846C-2A13-3E76-9DCF31D6C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3" name="Line 178">
                <a:extLst>
                  <a:ext uri="{FF2B5EF4-FFF2-40B4-BE49-F238E27FC236}">
                    <a16:creationId xmlns:a16="http://schemas.microsoft.com/office/drawing/2014/main" id="{3F19F04F-798C-6BC9-1917-EA455C74C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4" name="Line 179">
                <a:extLst>
                  <a:ext uri="{FF2B5EF4-FFF2-40B4-BE49-F238E27FC236}">
                    <a16:creationId xmlns:a16="http://schemas.microsoft.com/office/drawing/2014/main" id="{8DD4B55D-00D1-651D-035F-8310F9A9F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201" name="Group 180">
            <a:extLst>
              <a:ext uri="{FF2B5EF4-FFF2-40B4-BE49-F238E27FC236}">
                <a16:creationId xmlns:a16="http://schemas.microsoft.com/office/drawing/2014/main" id="{03664273-0968-A984-1958-3F3B7484D17E}"/>
              </a:ext>
            </a:extLst>
          </p:cNvPr>
          <p:cNvGrpSpPr>
            <a:grpSpLocks/>
          </p:cNvGrpSpPr>
          <p:nvPr/>
        </p:nvGrpSpPr>
        <p:grpSpPr bwMode="auto">
          <a:xfrm>
            <a:off x="7697788" y="4376738"/>
            <a:ext cx="501650" cy="234950"/>
            <a:chOff x="3600" y="219"/>
            <a:chExt cx="360" cy="175"/>
          </a:xfrm>
        </p:grpSpPr>
        <p:sp>
          <p:nvSpPr>
            <p:cNvPr id="6282" name="Oval 181">
              <a:extLst>
                <a:ext uri="{FF2B5EF4-FFF2-40B4-BE49-F238E27FC236}">
                  <a16:creationId xmlns:a16="http://schemas.microsoft.com/office/drawing/2014/main" id="{48471FE3-2E71-8049-7300-D003DD847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83" name="Line 182">
              <a:extLst>
                <a:ext uri="{FF2B5EF4-FFF2-40B4-BE49-F238E27FC236}">
                  <a16:creationId xmlns:a16="http://schemas.microsoft.com/office/drawing/2014/main" id="{0BAA04BD-F4E7-89C6-4119-ED764CDA4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4" name="Line 183">
              <a:extLst>
                <a:ext uri="{FF2B5EF4-FFF2-40B4-BE49-F238E27FC236}">
                  <a16:creationId xmlns:a16="http://schemas.microsoft.com/office/drawing/2014/main" id="{B13085B5-4914-1D2E-3236-FB01928E0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5" name="Rectangle 184">
              <a:extLst>
                <a:ext uri="{FF2B5EF4-FFF2-40B4-BE49-F238E27FC236}">
                  <a16:creationId xmlns:a16="http://schemas.microsoft.com/office/drawing/2014/main" id="{86945FDE-B7C4-BF86-D369-6CEA9E8BF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86" name="Oval 185">
              <a:extLst>
                <a:ext uri="{FF2B5EF4-FFF2-40B4-BE49-F238E27FC236}">
                  <a16:creationId xmlns:a16="http://schemas.microsoft.com/office/drawing/2014/main" id="{9AEAC2A2-E0CD-D159-B04A-362D74726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287" name="Group 186">
              <a:extLst>
                <a:ext uri="{FF2B5EF4-FFF2-40B4-BE49-F238E27FC236}">
                  <a16:creationId xmlns:a16="http://schemas.microsoft.com/office/drawing/2014/main" id="{7D803571-111E-135D-68D4-920B6B53E6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92" name="Line 187">
                <a:extLst>
                  <a:ext uri="{FF2B5EF4-FFF2-40B4-BE49-F238E27FC236}">
                    <a16:creationId xmlns:a16="http://schemas.microsoft.com/office/drawing/2014/main" id="{8C042DE4-2446-B899-576F-90E4BB8A4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93" name="Line 188">
                <a:extLst>
                  <a:ext uri="{FF2B5EF4-FFF2-40B4-BE49-F238E27FC236}">
                    <a16:creationId xmlns:a16="http://schemas.microsoft.com/office/drawing/2014/main" id="{DDA35492-D0C3-213F-47FB-0684D268B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94" name="Line 189">
                <a:extLst>
                  <a:ext uri="{FF2B5EF4-FFF2-40B4-BE49-F238E27FC236}">
                    <a16:creationId xmlns:a16="http://schemas.microsoft.com/office/drawing/2014/main" id="{2ECD7675-986C-5958-9416-BFE58B021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88" name="Group 190">
              <a:extLst>
                <a:ext uri="{FF2B5EF4-FFF2-40B4-BE49-F238E27FC236}">
                  <a16:creationId xmlns:a16="http://schemas.microsoft.com/office/drawing/2014/main" id="{C41B39AB-1E8F-7F7F-94EC-F76B6FF1BD6D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89" name="Line 191">
                <a:extLst>
                  <a:ext uri="{FF2B5EF4-FFF2-40B4-BE49-F238E27FC236}">
                    <a16:creationId xmlns:a16="http://schemas.microsoft.com/office/drawing/2014/main" id="{7F72DA2F-CBC8-4FBA-7AD0-2F8B93F417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90" name="Line 192">
                <a:extLst>
                  <a:ext uri="{FF2B5EF4-FFF2-40B4-BE49-F238E27FC236}">
                    <a16:creationId xmlns:a16="http://schemas.microsoft.com/office/drawing/2014/main" id="{51E53255-F0CE-5864-CFAE-148C78FCC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91" name="Line 193">
                <a:extLst>
                  <a:ext uri="{FF2B5EF4-FFF2-40B4-BE49-F238E27FC236}">
                    <a16:creationId xmlns:a16="http://schemas.microsoft.com/office/drawing/2014/main" id="{4FBC0EED-B246-86FD-35B1-E0F656A8A4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202" name="Group 194">
            <a:extLst>
              <a:ext uri="{FF2B5EF4-FFF2-40B4-BE49-F238E27FC236}">
                <a16:creationId xmlns:a16="http://schemas.microsoft.com/office/drawing/2014/main" id="{4961641A-335E-B4C3-69DE-D40D83EB3A3B}"/>
              </a:ext>
            </a:extLst>
          </p:cNvPr>
          <p:cNvGrpSpPr>
            <a:grpSpLocks/>
          </p:cNvGrpSpPr>
          <p:nvPr/>
        </p:nvGrpSpPr>
        <p:grpSpPr bwMode="auto">
          <a:xfrm>
            <a:off x="7088188" y="4865688"/>
            <a:ext cx="500062" cy="233362"/>
            <a:chOff x="3600" y="219"/>
            <a:chExt cx="360" cy="175"/>
          </a:xfrm>
        </p:grpSpPr>
        <p:sp>
          <p:nvSpPr>
            <p:cNvPr id="6269" name="Oval 195">
              <a:extLst>
                <a:ext uri="{FF2B5EF4-FFF2-40B4-BE49-F238E27FC236}">
                  <a16:creationId xmlns:a16="http://schemas.microsoft.com/office/drawing/2014/main" id="{D4DC76A6-CE04-06E7-49F0-D9A89B8CB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70" name="Line 196">
              <a:extLst>
                <a:ext uri="{FF2B5EF4-FFF2-40B4-BE49-F238E27FC236}">
                  <a16:creationId xmlns:a16="http://schemas.microsoft.com/office/drawing/2014/main" id="{F8CB13C7-0AB5-4189-F8B7-18FB1497A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1" name="Line 197">
              <a:extLst>
                <a:ext uri="{FF2B5EF4-FFF2-40B4-BE49-F238E27FC236}">
                  <a16:creationId xmlns:a16="http://schemas.microsoft.com/office/drawing/2014/main" id="{2BB27300-54E8-7C27-B866-0C28647A3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2" name="Rectangle 198">
              <a:extLst>
                <a:ext uri="{FF2B5EF4-FFF2-40B4-BE49-F238E27FC236}">
                  <a16:creationId xmlns:a16="http://schemas.microsoft.com/office/drawing/2014/main" id="{CA24A5B6-7640-92D7-A168-E79903ECA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73" name="Oval 199">
              <a:extLst>
                <a:ext uri="{FF2B5EF4-FFF2-40B4-BE49-F238E27FC236}">
                  <a16:creationId xmlns:a16="http://schemas.microsoft.com/office/drawing/2014/main" id="{A5C992EA-9712-CC1A-2011-AB13D21E2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274" name="Group 200">
              <a:extLst>
                <a:ext uri="{FF2B5EF4-FFF2-40B4-BE49-F238E27FC236}">
                  <a16:creationId xmlns:a16="http://schemas.microsoft.com/office/drawing/2014/main" id="{5F70F344-85C0-FA93-43EA-BE86948C9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79" name="Line 201">
                <a:extLst>
                  <a:ext uri="{FF2B5EF4-FFF2-40B4-BE49-F238E27FC236}">
                    <a16:creationId xmlns:a16="http://schemas.microsoft.com/office/drawing/2014/main" id="{A6AF58A6-660C-77D1-F06D-59CE41E05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80" name="Line 202">
                <a:extLst>
                  <a:ext uri="{FF2B5EF4-FFF2-40B4-BE49-F238E27FC236}">
                    <a16:creationId xmlns:a16="http://schemas.microsoft.com/office/drawing/2014/main" id="{12A26916-C8D7-8617-0E62-731D8FF2FC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81" name="Line 203">
                <a:extLst>
                  <a:ext uri="{FF2B5EF4-FFF2-40B4-BE49-F238E27FC236}">
                    <a16:creationId xmlns:a16="http://schemas.microsoft.com/office/drawing/2014/main" id="{D599B7DA-25FD-50E7-0D1F-4E946E42B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75" name="Group 204">
              <a:extLst>
                <a:ext uri="{FF2B5EF4-FFF2-40B4-BE49-F238E27FC236}">
                  <a16:creationId xmlns:a16="http://schemas.microsoft.com/office/drawing/2014/main" id="{28E9A0B1-B6D3-1680-10E6-2CA452B342EA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76" name="Line 205">
                <a:extLst>
                  <a:ext uri="{FF2B5EF4-FFF2-40B4-BE49-F238E27FC236}">
                    <a16:creationId xmlns:a16="http://schemas.microsoft.com/office/drawing/2014/main" id="{E3F64F19-7F88-3F3D-4D00-4EF308F63C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77" name="Line 206">
                <a:extLst>
                  <a:ext uri="{FF2B5EF4-FFF2-40B4-BE49-F238E27FC236}">
                    <a16:creationId xmlns:a16="http://schemas.microsoft.com/office/drawing/2014/main" id="{C6BD9A1C-43AA-9C48-CA39-502726ED3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78" name="Line 207">
                <a:extLst>
                  <a:ext uri="{FF2B5EF4-FFF2-40B4-BE49-F238E27FC236}">
                    <a16:creationId xmlns:a16="http://schemas.microsoft.com/office/drawing/2014/main" id="{AFFE1262-A205-1E53-755B-D61C3B7F2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203" name="Group 208">
            <a:extLst>
              <a:ext uri="{FF2B5EF4-FFF2-40B4-BE49-F238E27FC236}">
                <a16:creationId xmlns:a16="http://schemas.microsoft.com/office/drawing/2014/main" id="{DB4DBD08-DB5C-AAF6-01BC-BC555C1FD99C}"/>
              </a:ext>
            </a:extLst>
          </p:cNvPr>
          <p:cNvGrpSpPr>
            <a:grpSpLocks/>
          </p:cNvGrpSpPr>
          <p:nvPr/>
        </p:nvGrpSpPr>
        <p:grpSpPr bwMode="auto">
          <a:xfrm>
            <a:off x="6284913" y="4489450"/>
            <a:ext cx="501650" cy="233363"/>
            <a:chOff x="3600" y="219"/>
            <a:chExt cx="360" cy="175"/>
          </a:xfrm>
        </p:grpSpPr>
        <p:sp>
          <p:nvSpPr>
            <p:cNvPr id="6256" name="Oval 209">
              <a:extLst>
                <a:ext uri="{FF2B5EF4-FFF2-40B4-BE49-F238E27FC236}">
                  <a16:creationId xmlns:a16="http://schemas.microsoft.com/office/drawing/2014/main" id="{6DBAFC47-10D2-F23D-0D13-907F5BB18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57" name="Line 210">
              <a:extLst>
                <a:ext uri="{FF2B5EF4-FFF2-40B4-BE49-F238E27FC236}">
                  <a16:creationId xmlns:a16="http://schemas.microsoft.com/office/drawing/2014/main" id="{66372EB3-EC29-423A-B84E-3097CA1B9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" name="Line 211">
              <a:extLst>
                <a:ext uri="{FF2B5EF4-FFF2-40B4-BE49-F238E27FC236}">
                  <a16:creationId xmlns:a16="http://schemas.microsoft.com/office/drawing/2014/main" id="{8771D55E-DEFA-213C-2043-C6F17CC60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9" name="Rectangle 212">
              <a:extLst>
                <a:ext uri="{FF2B5EF4-FFF2-40B4-BE49-F238E27FC236}">
                  <a16:creationId xmlns:a16="http://schemas.microsoft.com/office/drawing/2014/main" id="{9B80C15B-C214-1EE9-5250-3ACEA60AC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60" name="Oval 213">
              <a:extLst>
                <a:ext uri="{FF2B5EF4-FFF2-40B4-BE49-F238E27FC236}">
                  <a16:creationId xmlns:a16="http://schemas.microsoft.com/office/drawing/2014/main" id="{4ADBD130-E048-C2F1-E09B-5953B948B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6261" name="Group 214">
              <a:extLst>
                <a:ext uri="{FF2B5EF4-FFF2-40B4-BE49-F238E27FC236}">
                  <a16:creationId xmlns:a16="http://schemas.microsoft.com/office/drawing/2014/main" id="{C0B5B1D6-D5DC-EFB4-1B52-DEEF43A8E7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66" name="Line 215">
                <a:extLst>
                  <a:ext uri="{FF2B5EF4-FFF2-40B4-BE49-F238E27FC236}">
                    <a16:creationId xmlns:a16="http://schemas.microsoft.com/office/drawing/2014/main" id="{A22B1E87-2B2C-788D-10D7-44CB4B0E2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7" name="Line 216">
                <a:extLst>
                  <a:ext uri="{FF2B5EF4-FFF2-40B4-BE49-F238E27FC236}">
                    <a16:creationId xmlns:a16="http://schemas.microsoft.com/office/drawing/2014/main" id="{2C6ED58E-428E-A469-1BCE-2C19B8C25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8" name="Line 217">
                <a:extLst>
                  <a:ext uri="{FF2B5EF4-FFF2-40B4-BE49-F238E27FC236}">
                    <a16:creationId xmlns:a16="http://schemas.microsoft.com/office/drawing/2014/main" id="{C2D73843-CD4B-FEE2-E862-116616884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62" name="Group 218">
              <a:extLst>
                <a:ext uri="{FF2B5EF4-FFF2-40B4-BE49-F238E27FC236}">
                  <a16:creationId xmlns:a16="http://schemas.microsoft.com/office/drawing/2014/main" id="{D2F0D022-AAFB-0F4B-6B65-DB20D0D52E0D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63" name="Line 219">
                <a:extLst>
                  <a:ext uri="{FF2B5EF4-FFF2-40B4-BE49-F238E27FC236}">
                    <a16:creationId xmlns:a16="http://schemas.microsoft.com/office/drawing/2014/main" id="{476FA4F5-B7F7-0DE0-F021-44D280653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4" name="Line 220">
                <a:extLst>
                  <a:ext uri="{FF2B5EF4-FFF2-40B4-BE49-F238E27FC236}">
                    <a16:creationId xmlns:a16="http://schemas.microsoft.com/office/drawing/2014/main" id="{FC949F69-43C2-BDA5-FF65-733DBC5AC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5" name="Line 221">
                <a:extLst>
                  <a:ext uri="{FF2B5EF4-FFF2-40B4-BE49-F238E27FC236}">
                    <a16:creationId xmlns:a16="http://schemas.microsoft.com/office/drawing/2014/main" id="{697C0F75-79F6-BC33-8985-AFA297CEE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204" name="Line 222">
            <a:extLst>
              <a:ext uri="{FF2B5EF4-FFF2-40B4-BE49-F238E27FC236}">
                <a16:creationId xmlns:a16="http://schemas.microsoft.com/office/drawing/2014/main" id="{72A8F19F-8E4A-14F1-65BC-3F00D65A8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40500" y="4702175"/>
            <a:ext cx="1588" cy="249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05" name="Group 223">
            <a:extLst>
              <a:ext uri="{FF2B5EF4-FFF2-40B4-BE49-F238E27FC236}">
                <a16:creationId xmlns:a16="http://schemas.microsoft.com/office/drawing/2014/main" id="{7BA19F7F-1F3C-A9A0-91DB-E1A7D17D2D19}"/>
              </a:ext>
            </a:extLst>
          </p:cNvPr>
          <p:cNvGrpSpPr>
            <a:grpSpLocks/>
          </p:cNvGrpSpPr>
          <p:nvPr/>
        </p:nvGrpSpPr>
        <p:grpSpPr bwMode="auto">
          <a:xfrm>
            <a:off x="4994275" y="2036763"/>
            <a:ext cx="814388" cy="854075"/>
            <a:chOff x="4180" y="744"/>
            <a:chExt cx="513" cy="538"/>
          </a:xfrm>
        </p:grpSpPr>
        <p:sp>
          <p:nvSpPr>
            <p:cNvPr id="6249" name="Rectangle 224">
              <a:extLst>
                <a:ext uri="{FF2B5EF4-FFF2-40B4-BE49-F238E27FC236}">
                  <a16:creationId xmlns:a16="http://schemas.microsoft.com/office/drawing/2014/main" id="{C9C5FB5A-A87D-EDAC-4A46-A8E07D5B5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747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50" name="Rectangle 225">
              <a:extLst>
                <a:ext uri="{FF2B5EF4-FFF2-40B4-BE49-F238E27FC236}">
                  <a16:creationId xmlns:a16="http://schemas.microsoft.com/office/drawing/2014/main" id="{6B1AF1F7-FA79-D8DF-C151-B9B786D81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762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51" name="Rectangle 226">
              <a:extLst>
                <a:ext uri="{FF2B5EF4-FFF2-40B4-BE49-F238E27FC236}">
                  <a16:creationId xmlns:a16="http://schemas.microsoft.com/office/drawing/2014/main" id="{64ABEC15-967C-744D-A75C-84BB45C56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873"/>
              <a:ext cx="426" cy="1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52" name="Text Box 227">
              <a:extLst>
                <a:ext uri="{FF2B5EF4-FFF2-40B4-BE49-F238E27FC236}">
                  <a16:creationId xmlns:a16="http://schemas.microsoft.com/office/drawing/2014/main" id="{950E1BA8-61E4-FE98-E1CB-566EA20B1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74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application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bg1"/>
                  </a:solidFill>
                  <a:latin typeface="Comic Sans MS" panose="030F0702030302020204" pitchFamily="66" charset="0"/>
                </a:rPr>
                <a:t>transport</a:t>
              </a:r>
              <a:endParaRPr lang="en-US" altLang="en-US" sz="10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network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data link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physical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53" name="Line 228">
              <a:extLst>
                <a:ext uri="{FF2B5EF4-FFF2-40B4-BE49-F238E27FC236}">
                  <a16:creationId xmlns:a16="http://schemas.microsoft.com/office/drawing/2014/main" id="{ACD6CEDC-AFC2-C3DD-84B6-6AD30CF33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97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" name="Line 229">
              <a:extLst>
                <a:ext uri="{FF2B5EF4-FFF2-40B4-BE49-F238E27FC236}">
                  <a16:creationId xmlns:a16="http://schemas.microsoft.com/office/drawing/2014/main" id="{46BF4E65-20ED-0C2F-D647-6E84A2D80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06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5" name="Line 230">
              <a:extLst>
                <a:ext uri="{FF2B5EF4-FFF2-40B4-BE49-F238E27FC236}">
                  <a16:creationId xmlns:a16="http://schemas.microsoft.com/office/drawing/2014/main" id="{5A6CA4B2-62BF-19CF-D565-C8661D3F1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152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6" name="Group 231">
            <a:extLst>
              <a:ext uri="{FF2B5EF4-FFF2-40B4-BE49-F238E27FC236}">
                <a16:creationId xmlns:a16="http://schemas.microsoft.com/office/drawing/2014/main" id="{3D4F9536-1EEE-13A9-E59C-C7C3EBCB4B07}"/>
              </a:ext>
            </a:extLst>
          </p:cNvPr>
          <p:cNvGrpSpPr>
            <a:grpSpLocks/>
          </p:cNvGrpSpPr>
          <p:nvPr/>
        </p:nvGrpSpPr>
        <p:grpSpPr bwMode="auto">
          <a:xfrm>
            <a:off x="8118475" y="4922838"/>
            <a:ext cx="814388" cy="854075"/>
            <a:chOff x="4180" y="744"/>
            <a:chExt cx="513" cy="538"/>
          </a:xfrm>
        </p:grpSpPr>
        <p:sp>
          <p:nvSpPr>
            <p:cNvPr id="6242" name="Rectangle 232">
              <a:extLst>
                <a:ext uri="{FF2B5EF4-FFF2-40B4-BE49-F238E27FC236}">
                  <a16:creationId xmlns:a16="http://schemas.microsoft.com/office/drawing/2014/main" id="{A9C98C72-66F3-3DFA-CC62-C1DC77C53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747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43" name="Rectangle 233">
              <a:extLst>
                <a:ext uri="{FF2B5EF4-FFF2-40B4-BE49-F238E27FC236}">
                  <a16:creationId xmlns:a16="http://schemas.microsoft.com/office/drawing/2014/main" id="{52F15E22-D837-0C1E-64D5-B7F2E52E5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762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44" name="Rectangle 234">
              <a:extLst>
                <a:ext uri="{FF2B5EF4-FFF2-40B4-BE49-F238E27FC236}">
                  <a16:creationId xmlns:a16="http://schemas.microsoft.com/office/drawing/2014/main" id="{DD11A5E4-B424-7538-76C7-F6EDA6D3A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873"/>
              <a:ext cx="426" cy="1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45" name="Text Box 235">
              <a:extLst>
                <a:ext uri="{FF2B5EF4-FFF2-40B4-BE49-F238E27FC236}">
                  <a16:creationId xmlns:a16="http://schemas.microsoft.com/office/drawing/2014/main" id="{7239E82F-B071-626E-4267-47085F515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74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application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bg1"/>
                  </a:solidFill>
                  <a:latin typeface="Comic Sans MS" panose="030F0702030302020204" pitchFamily="66" charset="0"/>
                </a:rPr>
                <a:t>transport</a:t>
              </a:r>
              <a:endParaRPr lang="en-US" altLang="en-US" sz="10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network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data link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physical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6" name="Line 236">
              <a:extLst>
                <a:ext uri="{FF2B5EF4-FFF2-40B4-BE49-F238E27FC236}">
                  <a16:creationId xmlns:a16="http://schemas.microsoft.com/office/drawing/2014/main" id="{A7CE015D-54AD-91F8-11C6-5A2D5DDC1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97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" name="Line 237">
              <a:extLst>
                <a:ext uri="{FF2B5EF4-FFF2-40B4-BE49-F238E27FC236}">
                  <a16:creationId xmlns:a16="http://schemas.microsoft.com/office/drawing/2014/main" id="{CDCEC299-BFAD-977A-9850-4FBF99428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06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" name="Line 238">
              <a:extLst>
                <a:ext uri="{FF2B5EF4-FFF2-40B4-BE49-F238E27FC236}">
                  <a16:creationId xmlns:a16="http://schemas.microsoft.com/office/drawing/2014/main" id="{3AE05188-1DAB-CC43-0E7A-BD1D73CF3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152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7" name="Group 239">
            <a:extLst>
              <a:ext uri="{FF2B5EF4-FFF2-40B4-BE49-F238E27FC236}">
                <a16:creationId xmlns:a16="http://schemas.microsoft.com/office/drawing/2014/main" id="{E051C48D-1461-45B9-23FA-DF9864B44D80}"/>
              </a:ext>
            </a:extLst>
          </p:cNvPr>
          <p:cNvGrpSpPr>
            <a:grpSpLocks/>
          </p:cNvGrpSpPr>
          <p:nvPr/>
        </p:nvGrpSpPr>
        <p:grpSpPr bwMode="auto">
          <a:xfrm>
            <a:off x="7456488" y="4041775"/>
            <a:ext cx="814387" cy="701675"/>
            <a:chOff x="2923" y="3345"/>
            <a:chExt cx="513" cy="442"/>
          </a:xfrm>
        </p:grpSpPr>
        <p:sp>
          <p:nvSpPr>
            <p:cNvPr id="6237" name="Rectangle 240">
              <a:extLst>
                <a:ext uri="{FF2B5EF4-FFF2-40B4-BE49-F238E27FC236}">
                  <a16:creationId xmlns:a16="http://schemas.microsoft.com/office/drawing/2014/main" id="{A8CDEBD4-8108-A950-0224-3DE5E3F44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38" name="Rectangle 241">
              <a:extLst>
                <a:ext uri="{FF2B5EF4-FFF2-40B4-BE49-F238E27FC236}">
                  <a16:creationId xmlns:a16="http://schemas.microsoft.com/office/drawing/2014/main" id="{7DCC2E01-0C3B-B0BC-0034-AEF7B7D9A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39" name="Text Box 242">
              <a:extLst>
                <a:ext uri="{FF2B5EF4-FFF2-40B4-BE49-F238E27FC236}">
                  <a16:creationId xmlns:a16="http://schemas.microsoft.com/office/drawing/2014/main" id="{827F6420-552C-CFC0-1A1E-E497275A9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0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network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data link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physical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0" name="Line 243">
              <a:extLst>
                <a:ext uri="{FF2B5EF4-FFF2-40B4-BE49-F238E27FC236}">
                  <a16:creationId xmlns:a16="http://schemas.microsoft.com/office/drawing/2014/main" id="{911E2B2F-3D97-DD96-20B8-EB87B1132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1" name="Line 244">
              <a:extLst>
                <a:ext uri="{FF2B5EF4-FFF2-40B4-BE49-F238E27FC236}">
                  <a16:creationId xmlns:a16="http://schemas.microsoft.com/office/drawing/2014/main" id="{E04E19EB-1C26-DD6D-96C3-5A0AF0552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8" name="Group 245">
            <a:extLst>
              <a:ext uri="{FF2B5EF4-FFF2-40B4-BE49-F238E27FC236}">
                <a16:creationId xmlns:a16="http://schemas.microsoft.com/office/drawing/2014/main" id="{3C32FC95-4322-8DB0-968B-51860EAC6EF3}"/>
              </a:ext>
            </a:extLst>
          </p:cNvPr>
          <p:cNvGrpSpPr>
            <a:grpSpLocks/>
          </p:cNvGrpSpPr>
          <p:nvPr/>
        </p:nvGrpSpPr>
        <p:grpSpPr bwMode="auto">
          <a:xfrm>
            <a:off x="7989888" y="3460750"/>
            <a:ext cx="814387" cy="701675"/>
            <a:chOff x="2923" y="3345"/>
            <a:chExt cx="513" cy="442"/>
          </a:xfrm>
        </p:grpSpPr>
        <p:sp>
          <p:nvSpPr>
            <p:cNvPr id="6232" name="Rectangle 246">
              <a:extLst>
                <a:ext uri="{FF2B5EF4-FFF2-40B4-BE49-F238E27FC236}">
                  <a16:creationId xmlns:a16="http://schemas.microsoft.com/office/drawing/2014/main" id="{19931E22-EDC5-5A92-4E58-FA873F613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33" name="Rectangle 247">
              <a:extLst>
                <a:ext uri="{FF2B5EF4-FFF2-40B4-BE49-F238E27FC236}">
                  <a16:creationId xmlns:a16="http://schemas.microsoft.com/office/drawing/2014/main" id="{9865FAAD-4636-DFD8-AE66-035DF55CB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34" name="Text Box 248">
              <a:extLst>
                <a:ext uri="{FF2B5EF4-FFF2-40B4-BE49-F238E27FC236}">
                  <a16:creationId xmlns:a16="http://schemas.microsoft.com/office/drawing/2014/main" id="{642838CE-A2E8-3841-C996-C7AACA2F8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0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network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data link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physical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35" name="Line 249">
              <a:extLst>
                <a:ext uri="{FF2B5EF4-FFF2-40B4-BE49-F238E27FC236}">
                  <a16:creationId xmlns:a16="http://schemas.microsoft.com/office/drawing/2014/main" id="{8AEDE7FF-7119-E3ED-2A67-670B4A150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36" name="Line 250">
              <a:extLst>
                <a:ext uri="{FF2B5EF4-FFF2-40B4-BE49-F238E27FC236}">
                  <a16:creationId xmlns:a16="http://schemas.microsoft.com/office/drawing/2014/main" id="{A6DD7EED-B273-2C5B-C9A0-0F8A703B4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9" name="Group 251">
            <a:extLst>
              <a:ext uri="{FF2B5EF4-FFF2-40B4-BE49-F238E27FC236}">
                <a16:creationId xmlns:a16="http://schemas.microsoft.com/office/drawing/2014/main" id="{36938267-490D-DBE7-02FD-021A5FCB89B9}"/>
              </a:ext>
            </a:extLst>
          </p:cNvPr>
          <p:cNvGrpSpPr>
            <a:grpSpLocks/>
          </p:cNvGrpSpPr>
          <p:nvPr/>
        </p:nvGrpSpPr>
        <p:grpSpPr bwMode="auto">
          <a:xfrm>
            <a:off x="7104063" y="3155950"/>
            <a:ext cx="814387" cy="701675"/>
            <a:chOff x="2923" y="3345"/>
            <a:chExt cx="513" cy="442"/>
          </a:xfrm>
        </p:grpSpPr>
        <p:sp>
          <p:nvSpPr>
            <p:cNvPr id="6227" name="Rectangle 252">
              <a:extLst>
                <a:ext uri="{FF2B5EF4-FFF2-40B4-BE49-F238E27FC236}">
                  <a16:creationId xmlns:a16="http://schemas.microsoft.com/office/drawing/2014/main" id="{83E5062E-9A59-77FC-7AFC-68BC2EB75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28" name="Rectangle 253">
              <a:extLst>
                <a:ext uri="{FF2B5EF4-FFF2-40B4-BE49-F238E27FC236}">
                  <a16:creationId xmlns:a16="http://schemas.microsoft.com/office/drawing/2014/main" id="{92902F15-36C5-650F-8EF4-2968FC43A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29" name="Text Box 254">
              <a:extLst>
                <a:ext uri="{FF2B5EF4-FFF2-40B4-BE49-F238E27FC236}">
                  <a16:creationId xmlns:a16="http://schemas.microsoft.com/office/drawing/2014/main" id="{0FBC752A-2F7D-A610-C726-9509E25DB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0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network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data link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physical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30" name="Line 255">
              <a:extLst>
                <a:ext uri="{FF2B5EF4-FFF2-40B4-BE49-F238E27FC236}">
                  <a16:creationId xmlns:a16="http://schemas.microsoft.com/office/drawing/2014/main" id="{FE0F085B-7ACA-88CC-D6B0-2EEB39ADD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31" name="Line 256">
              <a:extLst>
                <a:ext uri="{FF2B5EF4-FFF2-40B4-BE49-F238E27FC236}">
                  <a16:creationId xmlns:a16="http://schemas.microsoft.com/office/drawing/2014/main" id="{8E1F0115-D4A8-2F78-BE40-2950FA45E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10" name="Group 257">
            <a:extLst>
              <a:ext uri="{FF2B5EF4-FFF2-40B4-BE49-F238E27FC236}">
                <a16:creationId xmlns:a16="http://schemas.microsoft.com/office/drawing/2014/main" id="{DB0E5588-7A00-BABD-2F68-96D15F7DB7D4}"/>
              </a:ext>
            </a:extLst>
          </p:cNvPr>
          <p:cNvGrpSpPr>
            <a:grpSpLocks/>
          </p:cNvGrpSpPr>
          <p:nvPr/>
        </p:nvGrpSpPr>
        <p:grpSpPr bwMode="auto">
          <a:xfrm>
            <a:off x="7037388" y="2384425"/>
            <a:ext cx="814387" cy="701675"/>
            <a:chOff x="2923" y="3345"/>
            <a:chExt cx="513" cy="442"/>
          </a:xfrm>
        </p:grpSpPr>
        <p:sp>
          <p:nvSpPr>
            <p:cNvPr id="6222" name="Rectangle 258">
              <a:extLst>
                <a:ext uri="{FF2B5EF4-FFF2-40B4-BE49-F238E27FC236}">
                  <a16:creationId xmlns:a16="http://schemas.microsoft.com/office/drawing/2014/main" id="{F231BC09-17A3-409E-15ED-830C01727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23" name="Rectangle 259">
              <a:extLst>
                <a:ext uri="{FF2B5EF4-FFF2-40B4-BE49-F238E27FC236}">
                  <a16:creationId xmlns:a16="http://schemas.microsoft.com/office/drawing/2014/main" id="{C3014723-4A89-1BBB-1C9F-0A97DF240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24" name="Text Box 260">
              <a:extLst>
                <a:ext uri="{FF2B5EF4-FFF2-40B4-BE49-F238E27FC236}">
                  <a16:creationId xmlns:a16="http://schemas.microsoft.com/office/drawing/2014/main" id="{AB4D1F3D-8235-8103-D951-5BEBC9B7A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0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network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data link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physical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25" name="Line 261">
              <a:extLst>
                <a:ext uri="{FF2B5EF4-FFF2-40B4-BE49-F238E27FC236}">
                  <a16:creationId xmlns:a16="http://schemas.microsoft.com/office/drawing/2014/main" id="{CDDE5690-3F5F-57C2-4C06-FFC5E27BB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26" name="Line 262">
              <a:extLst>
                <a:ext uri="{FF2B5EF4-FFF2-40B4-BE49-F238E27FC236}">
                  <a16:creationId xmlns:a16="http://schemas.microsoft.com/office/drawing/2014/main" id="{8E49A9F5-5904-7CB7-86F6-3EB396F53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11" name="Group 263">
            <a:extLst>
              <a:ext uri="{FF2B5EF4-FFF2-40B4-BE49-F238E27FC236}">
                <a16:creationId xmlns:a16="http://schemas.microsoft.com/office/drawing/2014/main" id="{5F618549-9098-E2C9-9FE1-B99DE1524440}"/>
              </a:ext>
            </a:extLst>
          </p:cNvPr>
          <p:cNvGrpSpPr>
            <a:grpSpLocks/>
          </p:cNvGrpSpPr>
          <p:nvPr/>
        </p:nvGrpSpPr>
        <p:grpSpPr bwMode="auto">
          <a:xfrm>
            <a:off x="6103938" y="2670175"/>
            <a:ext cx="814387" cy="701675"/>
            <a:chOff x="2923" y="3345"/>
            <a:chExt cx="513" cy="442"/>
          </a:xfrm>
        </p:grpSpPr>
        <p:sp>
          <p:nvSpPr>
            <p:cNvPr id="6217" name="Rectangle 264">
              <a:extLst>
                <a:ext uri="{FF2B5EF4-FFF2-40B4-BE49-F238E27FC236}">
                  <a16:creationId xmlns:a16="http://schemas.microsoft.com/office/drawing/2014/main" id="{AE8E280A-605B-9BC3-8AD5-91280661E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18" name="Rectangle 265">
              <a:extLst>
                <a:ext uri="{FF2B5EF4-FFF2-40B4-BE49-F238E27FC236}">
                  <a16:creationId xmlns:a16="http://schemas.microsoft.com/office/drawing/2014/main" id="{AAE942AD-2E0C-9ED0-EC5C-C69EF373D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19" name="Text Box 266">
              <a:extLst>
                <a:ext uri="{FF2B5EF4-FFF2-40B4-BE49-F238E27FC236}">
                  <a16:creationId xmlns:a16="http://schemas.microsoft.com/office/drawing/2014/main" id="{E9CDF874-1AC3-9CFF-8C0B-EC7484381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0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network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data link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000" b="0">
                  <a:solidFill>
                    <a:schemeClr val="tx1"/>
                  </a:solidFill>
                  <a:latin typeface="Comic Sans MS" panose="030F0702030302020204" pitchFamily="66" charset="0"/>
                </a:rPr>
                <a:t>physical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20" name="Line 267">
              <a:extLst>
                <a:ext uri="{FF2B5EF4-FFF2-40B4-BE49-F238E27FC236}">
                  <a16:creationId xmlns:a16="http://schemas.microsoft.com/office/drawing/2014/main" id="{68A4BB86-C8C6-0B6D-CE3E-6ECC98CF3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21" name="Line 268">
              <a:extLst>
                <a:ext uri="{FF2B5EF4-FFF2-40B4-BE49-F238E27FC236}">
                  <a16:creationId xmlns:a16="http://schemas.microsoft.com/office/drawing/2014/main" id="{1514535B-CC37-4D0D-902B-1888B0A44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12" name="Group 269">
            <a:extLst>
              <a:ext uri="{FF2B5EF4-FFF2-40B4-BE49-F238E27FC236}">
                <a16:creationId xmlns:a16="http://schemas.microsoft.com/office/drawing/2014/main" id="{FC9C0192-7F98-5636-7A45-01D5062C3C80}"/>
              </a:ext>
            </a:extLst>
          </p:cNvPr>
          <p:cNvGrpSpPr>
            <a:grpSpLocks/>
          </p:cNvGrpSpPr>
          <p:nvPr/>
        </p:nvGrpSpPr>
        <p:grpSpPr bwMode="auto">
          <a:xfrm rot="2937887">
            <a:off x="5049838" y="3489325"/>
            <a:ext cx="3781425" cy="434975"/>
            <a:chOff x="2937" y="3579"/>
            <a:chExt cx="2382" cy="274"/>
          </a:xfrm>
        </p:grpSpPr>
        <p:sp>
          <p:nvSpPr>
            <p:cNvPr id="6213" name="Rectangle 270">
              <a:extLst>
                <a:ext uri="{FF2B5EF4-FFF2-40B4-BE49-F238E27FC236}">
                  <a16:creationId xmlns:a16="http://schemas.microsoft.com/office/drawing/2014/main" id="{FBD081A9-A81B-90B3-C967-5AA5E1301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30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214" name="Text Box 271">
              <a:extLst>
                <a:ext uri="{FF2B5EF4-FFF2-40B4-BE49-F238E27FC236}">
                  <a16:creationId xmlns:a16="http://schemas.microsoft.com/office/drawing/2014/main" id="{68B63B0C-6DB3-2DEF-CEBC-7001E1117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3617"/>
              <a:ext cx="16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bg1"/>
                  </a:solidFill>
                  <a:latin typeface="Comic Sans MS" panose="030F0702030302020204" pitchFamily="66" charset="0"/>
                </a:rPr>
                <a:t>logical end-end transport</a:t>
              </a:r>
              <a:endParaRPr lang="en-US" altLang="en-US" sz="16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6215" name="Freeform 272">
              <a:extLst>
                <a:ext uri="{FF2B5EF4-FFF2-40B4-BE49-F238E27FC236}">
                  <a16:creationId xmlns:a16="http://schemas.microsoft.com/office/drawing/2014/main" id="{33F9EE9C-154C-5BE3-AC29-A050EAC73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16" name="Freeform 273">
              <a:extLst>
                <a:ext uri="{FF2B5EF4-FFF2-40B4-BE49-F238E27FC236}">
                  <a16:creationId xmlns:a16="http://schemas.microsoft.com/office/drawing/2014/main" id="{0554F827-A4EB-1D0C-F485-3405DEEDA7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B23A2C3D-C42F-6F45-5826-956BE3CE7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91BAD9-0614-4149-B130-4F135FEFDB9C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B2E54CB-7B25-0B0C-5100-FD66F0D46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Internet Transport Protocols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DAD2DA1-2C94-A822-1557-4317A4F6C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Datagram messaging service (UDP)</a:t>
            </a:r>
          </a:p>
          <a:p>
            <a:pPr lvl="1"/>
            <a:r>
              <a:rPr lang="en-US" altLang="en-US"/>
              <a:t>No-frills extension of “best-effort” IP</a:t>
            </a:r>
          </a:p>
          <a:p>
            <a:r>
              <a:rPr lang="en-US" altLang="en-US"/>
              <a:t>Reliable, in-order delivery (TCP)</a:t>
            </a:r>
          </a:p>
          <a:p>
            <a:pPr lvl="1"/>
            <a:r>
              <a:rPr lang="en-US" altLang="en-US"/>
              <a:t>Connection set-up</a:t>
            </a:r>
          </a:p>
          <a:p>
            <a:pPr lvl="1"/>
            <a:r>
              <a:rPr lang="en-US" altLang="en-US"/>
              <a:t>Discarding of corrupted packets</a:t>
            </a:r>
          </a:p>
          <a:p>
            <a:pPr lvl="1"/>
            <a:r>
              <a:rPr lang="en-US" altLang="en-US"/>
              <a:t>Retransmission of lost packets</a:t>
            </a:r>
          </a:p>
          <a:p>
            <a:pPr lvl="1"/>
            <a:r>
              <a:rPr lang="en-US" altLang="en-US"/>
              <a:t>Flow control</a:t>
            </a:r>
          </a:p>
          <a:p>
            <a:pPr lvl="1"/>
            <a:r>
              <a:rPr lang="en-US" altLang="en-US"/>
              <a:t>Congestion control (next lecture)</a:t>
            </a:r>
          </a:p>
          <a:p>
            <a:r>
              <a:rPr lang="en-US" altLang="en-US"/>
              <a:t>Other services not available</a:t>
            </a:r>
          </a:p>
          <a:p>
            <a:pPr lvl="1"/>
            <a:r>
              <a:rPr lang="en-US" altLang="en-US"/>
              <a:t>Delay guarantees</a:t>
            </a:r>
          </a:p>
          <a:p>
            <a:pPr lvl="1"/>
            <a:r>
              <a:rPr lang="en-US" altLang="en-US"/>
              <a:t>Bandwidth guarantees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2">
            <a:extLst>
              <a:ext uri="{FF2B5EF4-FFF2-40B4-BE49-F238E27FC236}">
                <a16:creationId xmlns:a16="http://schemas.microsoft.com/office/drawing/2014/main" id="{C0DD650C-D0EB-FC98-15FA-126CFE3FB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E80A6F-9F8D-495B-886B-DC84FC1F4F46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B4E84FC-05E6-7DDB-7606-0B56CE129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2000250"/>
            <a:ext cx="3324225" cy="32004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31143BE7-D007-48B7-2DEC-AE9B39CB6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2095500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2E48F1BB-B454-1959-DB05-35C2BA866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Multiplexing and Demultiplexing</a:t>
            </a:r>
            <a:endParaRPr lang="en-US" altLang="en-US"/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7734C0A1-44DE-69E8-1EC1-77A13F90B81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5763" y="1355725"/>
            <a:ext cx="4646612" cy="5030788"/>
          </a:xfrm>
        </p:spPr>
        <p:txBody>
          <a:bodyPr/>
          <a:lstStyle/>
          <a:p>
            <a:r>
              <a:rPr lang="en-US" altLang="en-US" sz="2400"/>
              <a:t>Host receives IP datagrams</a:t>
            </a:r>
          </a:p>
          <a:p>
            <a:pPr lvl="1"/>
            <a:r>
              <a:rPr lang="en-US" altLang="en-US"/>
              <a:t>Each datagram has source and destination IP address, </a:t>
            </a:r>
          </a:p>
          <a:p>
            <a:pPr lvl="1"/>
            <a:r>
              <a:rPr lang="en-US" altLang="en-US"/>
              <a:t>Each datagram carries one transport-layer segment</a:t>
            </a:r>
            <a:endParaRPr lang="en-US" altLang="en-US" sz="2000"/>
          </a:p>
          <a:p>
            <a:pPr lvl="1"/>
            <a:r>
              <a:rPr lang="en-US" altLang="en-US"/>
              <a:t>Each segment has source and destination port number </a:t>
            </a:r>
          </a:p>
          <a:p>
            <a:r>
              <a:rPr lang="en-US" altLang="en-US" sz="2400"/>
              <a:t>Host uses IP addresses and port numbers to direct the segment to appropriate socket</a:t>
            </a:r>
          </a:p>
        </p:txBody>
      </p:sp>
      <p:sp>
        <p:nvSpPr>
          <p:cNvPr id="8199" name="Text Box 6">
            <a:extLst>
              <a:ext uri="{FF2B5EF4-FFF2-40B4-BE49-F238E27FC236}">
                <a16:creationId xmlns:a16="http://schemas.microsoft.com/office/drawing/2014/main" id="{AF3AD049-F448-BDEA-5A41-0D79D78FE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1450" y="2117725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Comic Sans MS" panose="030F0702030302020204" pitchFamily="66" charset="0"/>
              </a:rPr>
              <a:t>source port #</a:t>
            </a:r>
            <a:endParaRPr lang="en-US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0" name="Text Box 7">
            <a:extLst>
              <a:ext uri="{FF2B5EF4-FFF2-40B4-BE49-F238E27FC236}">
                <a16:creationId xmlns:a16="http://schemas.microsoft.com/office/drawing/2014/main" id="{DFAE14D8-A7C0-6405-EDF4-8236744F3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038" y="2117725"/>
            <a:ext cx="1452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Comic Sans MS" panose="030F0702030302020204" pitchFamily="66" charset="0"/>
              </a:rPr>
              <a:t>dest port #</a:t>
            </a:r>
            <a:endParaRPr lang="en-US" altLang="en-US" sz="2400" b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1" name="Line 8">
            <a:extLst>
              <a:ext uri="{FF2B5EF4-FFF2-40B4-BE49-F238E27FC236}">
                <a16:creationId xmlns:a16="http://schemas.microsoft.com/office/drawing/2014/main" id="{001CC890-0455-05DC-D8BF-1AEAC40F5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495550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2" name="Line 9">
            <a:extLst>
              <a:ext uri="{FF2B5EF4-FFF2-40B4-BE49-F238E27FC236}">
                <a16:creationId xmlns:a16="http://schemas.microsoft.com/office/drawing/2014/main" id="{E44FA464-0456-899D-2310-4C93CA5FD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7325" y="3486150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Line 10">
            <a:extLst>
              <a:ext uri="{FF2B5EF4-FFF2-40B4-BE49-F238E27FC236}">
                <a16:creationId xmlns:a16="http://schemas.microsoft.com/office/drawing/2014/main" id="{3124A3FC-2752-D040-57A3-D03D61B214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05625" y="2095500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Text Box 11">
            <a:extLst>
              <a:ext uri="{FF2B5EF4-FFF2-40B4-BE49-F238E27FC236}">
                <a16:creationId xmlns:a16="http://schemas.microsoft.com/office/drawing/2014/main" id="{DB7CA3CA-7D1B-5D27-8AD0-7026E5A1A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1665288"/>
            <a:ext cx="949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32 bits</a:t>
            </a:r>
            <a:endParaRPr lang="en-US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5" name="Line 12">
            <a:extLst>
              <a:ext uri="{FF2B5EF4-FFF2-40B4-BE49-F238E27FC236}">
                <a16:creationId xmlns:a16="http://schemas.microsoft.com/office/drawing/2014/main" id="{96ABCE3A-E8CB-7D2D-8E5E-37D98D858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2825" y="1862138"/>
            <a:ext cx="1200150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6" name="Line 13">
            <a:extLst>
              <a:ext uri="{FF2B5EF4-FFF2-40B4-BE49-F238E27FC236}">
                <a16:creationId xmlns:a16="http://schemas.microsoft.com/office/drawing/2014/main" id="{3EADE029-2567-7262-63FE-DD35363D69A9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253038" y="1871663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Text Box 14">
            <a:extLst>
              <a:ext uri="{FF2B5EF4-FFF2-40B4-BE49-F238E27FC236}">
                <a16:creationId xmlns:a16="http://schemas.microsoft.com/office/drawing/2014/main" id="{F2766AF9-E5DE-84AB-09B2-FC508348B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563" y="3951288"/>
            <a:ext cx="14462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application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data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(message)</a:t>
            </a:r>
            <a:endParaRPr lang="en-US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8" name="Text Box 15">
            <a:extLst>
              <a:ext uri="{FF2B5EF4-FFF2-40B4-BE49-F238E27FC236}">
                <a16:creationId xmlns:a16="http://schemas.microsoft.com/office/drawing/2014/main" id="{550207B6-0178-38E5-30F1-4ACB10317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2860675"/>
            <a:ext cx="25066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other header fields</a:t>
            </a:r>
            <a:endParaRPr lang="en-US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9" name="Text Box 16">
            <a:extLst>
              <a:ext uri="{FF2B5EF4-FFF2-40B4-BE49-F238E27FC236}">
                <a16:creationId xmlns:a16="http://schemas.microsoft.com/office/drawing/2014/main" id="{0FB20334-2B0C-F895-A896-989AC4E9E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263" y="5518150"/>
            <a:ext cx="3243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TCP/UDP segment format</a:t>
            </a:r>
            <a:endParaRPr lang="en-US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D9FE9A18-B9DE-49F5-C60A-847928D67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D648B2-0C7A-4291-94F7-3344A87BCF05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D9E8420-7A29-19D1-6B37-4182EAD3C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Unreliable Message Delivery Service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26406F0-0B84-0BB0-967E-D677A38C1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Lightweight communication between processes</a:t>
            </a:r>
          </a:p>
          <a:p>
            <a:pPr lvl="1"/>
            <a:r>
              <a:rPr lang="en-US" altLang="en-US"/>
              <a:t>Avoid overhead and delays of ordered, reliable delivery</a:t>
            </a:r>
          </a:p>
          <a:p>
            <a:pPr lvl="1"/>
            <a:r>
              <a:rPr lang="en-US" altLang="en-US"/>
              <a:t>Send messages to and receive them from a socket</a:t>
            </a:r>
          </a:p>
          <a:p>
            <a:r>
              <a:rPr lang="en-US" altLang="en-US"/>
              <a:t>User Datagram Protocol (UDP)</a:t>
            </a:r>
          </a:p>
          <a:p>
            <a:pPr lvl="1"/>
            <a:r>
              <a:rPr lang="en-US" altLang="en-US"/>
              <a:t>IP plus port numbers to support (de)multiplexing</a:t>
            </a:r>
          </a:p>
          <a:p>
            <a:pPr lvl="1"/>
            <a:r>
              <a:rPr lang="en-US" altLang="en-US"/>
              <a:t>Optional error checking on the packet contents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EBA71C18-F718-6136-95FC-C6E4D4B17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4479925"/>
            <a:ext cx="1760538" cy="533400"/>
          </a:xfrm>
          <a:prstGeom prst="rect">
            <a:avLst/>
          </a:prstGeom>
          <a:solidFill>
            <a:srgbClr val="CC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7C23C5D7-20E5-B1BC-1250-542DDF9FF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4479925"/>
            <a:ext cx="1760537" cy="533400"/>
          </a:xfrm>
          <a:prstGeom prst="rect">
            <a:avLst/>
          </a:prstGeom>
          <a:solidFill>
            <a:srgbClr val="CC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61953DFD-D800-239D-1B9F-FED409BE2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5013325"/>
            <a:ext cx="1760538" cy="533400"/>
          </a:xfrm>
          <a:prstGeom prst="rect">
            <a:avLst/>
          </a:prstGeom>
          <a:solidFill>
            <a:srgbClr val="CC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87001D40-B1FC-0309-11D9-E5BF74CC0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5013325"/>
            <a:ext cx="1760537" cy="533400"/>
          </a:xfrm>
          <a:prstGeom prst="rect">
            <a:avLst/>
          </a:prstGeom>
          <a:solidFill>
            <a:srgbClr val="CC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225" name="Line 8">
            <a:extLst>
              <a:ext uri="{FF2B5EF4-FFF2-40B4-BE49-F238E27FC236}">
                <a16:creationId xmlns:a16="http://schemas.microsoft.com/office/drawing/2014/main" id="{E519E806-B326-9996-B7D8-30BF2EDCC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2425" y="5546725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Line 9">
            <a:extLst>
              <a:ext uri="{FF2B5EF4-FFF2-40B4-BE49-F238E27FC236}">
                <a16:creationId xmlns:a16="http://schemas.microsoft.com/office/drawing/2014/main" id="{C0BB0424-82A8-FADC-DD6F-13072ED76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5088" y="5546725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Text Box 10">
            <a:extLst>
              <a:ext uri="{FF2B5EF4-FFF2-40B4-BE49-F238E27FC236}">
                <a16:creationId xmlns:a16="http://schemas.microsoft.com/office/drawing/2014/main" id="{AE315D5E-2644-958A-6FF4-05E8692D7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4597400"/>
            <a:ext cx="12954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Pct val="150000"/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 SRC port</a:t>
            </a:r>
          </a:p>
        </p:txBody>
      </p:sp>
      <p:sp>
        <p:nvSpPr>
          <p:cNvPr id="9228" name="Text Box 11">
            <a:extLst>
              <a:ext uri="{FF2B5EF4-FFF2-40B4-BE49-F238E27FC236}">
                <a16:creationId xmlns:a16="http://schemas.microsoft.com/office/drawing/2014/main" id="{E6DF5646-69A4-0A40-7EED-185BF5E2F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4597400"/>
            <a:ext cx="12954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Pct val="150000"/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 DST port</a:t>
            </a:r>
          </a:p>
        </p:txBody>
      </p:sp>
      <p:sp>
        <p:nvSpPr>
          <p:cNvPr id="9229" name="Text Box 12">
            <a:extLst>
              <a:ext uri="{FF2B5EF4-FFF2-40B4-BE49-F238E27FC236}">
                <a16:creationId xmlns:a16="http://schemas.microsoft.com/office/drawing/2014/main" id="{3AFE7858-D224-3BDD-DC03-0414D9ADF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5103813"/>
            <a:ext cx="12954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Pct val="150000"/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checksum</a:t>
            </a:r>
          </a:p>
        </p:txBody>
      </p:sp>
      <p:sp>
        <p:nvSpPr>
          <p:cNvPr id="9230" name="Text Box 13">
            <a:extLst>
              <a:ext uri="{FF2B5EF4-FFF2-40B4-BE49-F238E27FC236}">
                <a16:creationId xmlns:a16="http://schemas.microsoft.com/office/drawing/2014/main" id="{A3A14421-C608-833E-39AA-7A0F2FFCB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5103813"/>
            <a:ext cx="895350" cy="3667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Pct val="150000"/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length</a:t>
            </a:r>
          </a:p>
        </p:txBody>
      </p:sp>
      <p:sp>
        <p:nvSpPr>
          <p:cNvPr id="9231" name="Text Box 14">
            <a:extLst>
              <a:ext uri="{FF2B5EF4-FFF2-40B4-BE49-F238E27FC236}">
                <a16:creationId xmlns:a16="http://schemas.microsoft.com/office/drawing/2014/main" id="{8F7629A2-46CB-6C58-318A-1D386E909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013" y="5775325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Pct val="150000"/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9F10D0BF-89CE-1B77-713F-3257A80F5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4C01B5-1805-40A5-B5F7-0169A431FEF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7F608E7-CFF2-877D-BF1E-2BD96E514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Would Anyone Use UDP?</a:t>
            </a:r>
          </a:p>
        </p:txBody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6C734141-B43D-5440-E4EF-F924F6BFF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Finer control over what data is sent and when</a:t>
            </a:r>
          </a:p>
          <a:p>
            <a:pPr lvl="1"/>
            <a:r>
              <a:rPr lang="en-US" altLang="en-US"/>
              <a:t>As soon as an application process writes into the socket</a:t>
            </a:r>
          </a:p>
          <a:p>
            <a:pPr lvl="1"/>
            <a:r>
              <a:rPr lang="en-US" altLang="en-US"/>
              <a:t>… UDP will package the data and send the packet</a:t>
            </a:r>
          </a:p>
          <a:p>
            <a:r>
              <a:rPr lang="en-US" altLang="en-US"/>
              <a:t>No delay for connection establishment </a:t>
            </a:r>
          </a:p>
          <a:p>
            <a:pPr lvl="1"/>
            <a:r>
              <a:rPr lang="en-US" altLang="en-US"/>
              <a:t>UDP just blasts away without any formal preliminaries</a:t>
            </a:r>
          </a:p>
          <a:p>
            <a:pPr lvl="1"/>
            <a:r>
              <a:rPr lang="en-US" altLang="en-US"/>
              <a:t>… which avoids introducing any unnecessary delays</a:t>
            </a:r>
          </a:p>
          <a:p>
            <a:r>
              <a:rPr lang="en-US" altLang="en-US"/>
              <a:t>No connection state</a:t>
            </a:r>
          </a:p>
          <a:p>
            <a:pPr lvl="1"/>
            <a:r>
              <a:rPr lang="en-US" altLang="en-US"/>
              <a:t>No allocation of buffers, parameters, sequence #s, etc.</a:t>
            </a:r>
          </a:p>
          <a:p>
            <a:pPr lvl="1"/>
            <a:r>
              <a:rPr lang="en-US" altLang="en-US"/>
              <a:t>… making it easier to handle many active clients at once</a:t>
            </a:r>
          </a:p>
          <a:p>
            <a:r>
              <a:rPr lang="en-US" altLang="en-US"/>
              <a:t>Small packet header overhead</a:t>
            </a:r>
          </a:p>
          <a:p>
            <a:pPr lvl="1"/>
            <a:r>
              <a:rPr lang="en-US" altLang="en-US"/>
              <a:t>UDP header is only eight-bytes long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958795E2-9745-844A-293B-71EF4336B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6412B9-1512-4F7E-8AF5-68B2BBFE529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796772C-83ED-E0AE-861D-0A94122B0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Popular Applications That Use UDP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3B443DD-167A-062D-B8FA-FCE6CC313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Multimedia streaming</a:t>
            </a:r>
          </a:p>
          <a:p>
            <a:pPr lvl="1"/>
            <a:r>
              <a:rPr lang="en-US" altLang="en-US"/>
              <a:t>Retransmitting lost/corrupted packets is not worthwhile</a:t>
            </a:r>
          </a:p>
          <a:p>
            <a:pPr lvl="1"/>
            <a:r>
              <a:rPr lang="en-US" altLang="en-US"/>
              <a:t>By the time the packet is retransmitted, it’s too late</a:t>
            </a:r>
          </a:p>
          <a:p>
            <a:pPr lvl="1"/>
            <a:r>
              <a:rPr lang="en-US" altLang="en-US"/>
              <a:t>E.g., telephone calls, video conferencing, gaming</a:t>
            </a:r>
          </a:p>
          <a:p>
            <a:r>
              <a:rPr lang="en-US" altLang="en-US"/>
              <a:t>Simple query protocols like Domain Name System</a:t>
            </a:r>
          </a:p>
          <a:p>
            <a:pPr lvl="1"/>
            <a:r>
              <a:rPr lang="en-US" altLang="en-US"/>
              <a:t>Overhead of connection establishment is overkill</a:t>
            </a:r>
          </a:p>
          <a:p>
            <a:pPr lvl="1"/>
            <a:r>
              <a:rPr lang="en-US" altLang="en-US"/>
              <a:t>Easier to have application retransmit if needed</a:t>
            </a:r>
          </a:p>
        </p:txBody>
      </p:sp>
      <p:pic>
        <p:nvPicPr>
          <p:cNvPr id="11269" name="Picture 4" descr="j0292020">
            <a:extLst>
              <a:ext uri="{FF2B5EF4-FFF2-40B4-BE49-F238E27FC236}">
                <a16:creationId xmlns:a16="http://schemas.microsoft.com/office/drawing/2014/main" id="{8B0AE914-A09C-4E42-189A-E5942A668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5102225"/>
            <a:ext cx="163671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5" descr="j0285750">
            <a:extLst>
              <a:ext uri="{FF2B5EF4-FFF2-40B4-BE49-F238E27FC236}">
                <a16:creationId xmlns:a16="http://schemas.microsoft.com/office/drawing/2014/main" id="{07A5CDF8-354C-0571-60AD-F4CF8CAE8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5524500"/>
            <a:ext cx="1730375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Freeform 6">
            <a:extLst>
              <a:ext uri="{FF2B5EF4-FFF2-40B4-BE49-F238E27FC236}">
                <a16:creationId xmlns:a16="http://schemas.microsoft.com/office/drawing/2014/main" id="{B876E117-4A91-35D2-4EE9-A0733BC6EDDE}"/>
              </a:ext>
            </a:extLst>
          </p:cNvPr>
          <p:cNvSpPr>
            <a:spLocks/>
          </p:cNvSpPr>
          <p:nvPr/>
        </p:nvSpPr>
        <p:spPr bwMode="auto">
          <a:xfrm>
            <a:off x="3035300" y="5210175"/>
            <a:ext cx="3687763" cy="430213"/>
          </a:xfrm>
          <a:custGeom>
            <a:avLst/>
            <a:gdLst>
              <a:gd name="T0" fmla="*/ 0 w 2323"/>
              <a:gd name="T1" fmla="*/ 682963931 h 271"/>
              <a:gd name="T2" fmla="*/ 2147483646 w 2323"/>
              <a:gd name="T3" fmla="*/ 10080637 h 271"/>
              <a:gd name="T4" fmla="*/ 2147483646 w 2323"/>
              <a:gd name="T5" fmla="*/ 619959158 h 271"/>
              <a:gd name="T6" fmla="*/ 0 60000 65536"/>
              <a:gd name="T7" fmla="*/ 0 60000 65536"/>
              <a:gd name="T8" fmla="*/ 0 60000 65536"/>
              <a:gd name="T9" fmla="*/ 0 w 2323"/>
              <a:gd name="T10" fmla="*/ 0 h 271"/>
              <a:gd name="T11" fmla="*/ 2323 w 2323"/>
              <a:gd name="T12" fmla="*/ 271 h 2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3" h="271">
                <a:moveTo>
                  <a:pt x="0" y="271"/>
                </a:moveTo>
                <a:cubicBezTo>
                  <a:pt x="302" y="139"/>
                  <a:pt x="605" y="8"/>
                  <a:pt x="992" y="4"/>
                </a:cubicBezTo>
                <a:cubicBezTo>
                  <a:pt x="1379" y="0"/>
                  <a:pt x="1851" y="123"/>
                  <a:pt x="2323" y="246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Freeform 7">
            <a:extLst>
              <a:ext uri="{FF2B5EF4-FFF2-40B4-BE49-F238E27FC236}">
                <a16:creationId xmlns:a16="http://schemas.microsoft.com/office/drawing/2014/main" id="{DCE2933F-ABB2-9C05-02EB-8AC27D8548BC}"/>
              </a:ext>
            </a:extLst>
          </p:cNvPr>
          <p:cNvSpPr>
            <a:spLocks/>
          </p:cNvSpPr>
          <p:nvPr/>
        </p:nvSpPr>
        <p:spPr bwMode="auto">
          <a:xfrm>
            <a:off x="3073400" y="6292850"/>
            <a:ext cx="3725863" cy="358775"/>
          </a:xfrm>
          <a:custGeom>
            <a:avLst/>
            <a:gdLst>
              <a:gd name="T0" fmla="*/ 2147483646 w 2347"/>
              <a:gd name="T1" fmla="*/ 120967500 h 226"/>
              <a:gd name="T2" fmla="*/ 2147483646 w 2347"/>
              <a:gd name="T3" fmla="*/ 549394063 h 226"/>
              <a:gd name="T4" fmla="*/ 0 w 2347"/>
              <a:gd name="T5" fmla="*/ 0 h 226"/>
              <a:gd name="T6" fmla="*/ 0 60000 65536"/>
              <a:gd name="T7" fmla="*/ 0 60000 65536"/>
              <a:gd name="T8" fmla="*/ 0 60000 65536"/>
              <a:gd name="T9" fmla="*/ 0 w 2347"/>
              <a:gd name="T10" fmla="*/ 0 h 226"/>
              <a:gd name="T11" fmla="*/ 2347 w 2347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7" h="226">
                <a:moveTo>
                  <a:pt x="2347" y="48"/>
                </a:moveTo>
                <a:cubicBezTo>
                  <a:pt x="1925" y="137"/>
                  <a:pt x="1504" y="226"/>
                  <a:pt x="1113" y="218"/>
                </a:cubicBezTo>
                <a:cubicBezTo>
                  <a:pt x="722" y="210"/>
                  <a:pt x="361" y="105"/>
                  <a:pt x="0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Text Box 8">
            <a:extLst>
              <a:ext uri="{FF2B5EF4-FFF2-40B4-BE49-F238E27FC236}">
                <a16:creationId xmlns:a16="http://schemas.microsoft.com/office/drawing/2014/main" id="{89921A20-DB5A-D8D8-AE43-C7645C3FD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3" y="4872038"/>
            <a:ext cx="414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</a:rPr>
              <a:t>“Address for www.cnn.com?”</a:t>
            </a:r>
          </a:p>
        </p:txBody>
      </p:sp>
      <p:sp>
        <p:nvSpPr>
          <p:cNvPr id="11274" name="Text Box 9">
            <a:extLst>
              <a:ext uri="{FF2B5EF4-FFF2-40B4-BE49-F238E27FC236}">
                <a16:creationId xmlns:a16="http://schemas.microsoft.com/office/drawing/2014/main" id="{0301F04A-37F8-EBC1-232A-0EE741F5C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538" y="6138863"/>
            <a:ext cx="186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</a:rPr>
              <a:t>“12.3.4.15”</a:t>
            </a:r>
          </a:p>
        </p:txBody>
      </p:sp>
      <p:pic>
        <p:nvPicPr>
          <p:cNvPr id="11275" name="Picture 10" descr="Click To Preview">
            <a:extLst>
              <a:ext uri="{FF2B5EF4-FFF2-40B4-BE49-F238E27FC236}">
                <a16:creationId xmlns:a16="http://schemas.microsoft.com/office/drawing/2014/main" id="{6DD376C8-AFA6-AC8D-1DB2-474A48FF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2276475"/>
            <a:ext cx="73183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A6ACB42A-7FC1-1DD5-F5AC-0DDBA3D00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059312-5876-4810-B1F8-EBA303906EEE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B7DC365-25D1-A181-1E09-9A16E8EDB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Transmission Control Protocol (TCP)</a:t>
            </a:r>
          </a:p>
        </p:txBody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CF7B2F2C-FF28-8DE4-8D4A-4609A9654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Connection oriented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Explicit set-up and tear-down of TCP session</a:t>
            </a:r>
          </a:p>
          <a:p>
            <a:pPr>
              <a:lnSpc>
                <a:spcPct val="90000"/>
              </a:lnSpc>
            </a:pPr>
            <a:r>
              <a:rPr lang="en-US" altLang="en-US"/>
              <a:t>Stream-of-bytes service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Sends and receives a stream of bytes, not messages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Reliable, in-order delivery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Checksums to detect corrupted data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Acknowledgments &amp; retransmissions for reliable delivery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Sequence numbers to detect losses and reorder data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en-US"/>
              <a:t>Flow control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altLang="en-US"/>
              <a:t>Prevent overflow of the receiver’s buffer space</a:t>
            </a:r>
          </a:p>
          <a:p>
            <a:pPr>
              <a:lnSpc>
                <a:spcPct val="90000"/>
              </a:lnSpc>
            </a:pPr>
            <a:r>
              <a:rPr lang="en-US" altLang="en-US"/>
              <a:t>Congestion control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US" altLang="en-US"/>
              <a:t>Adapt to network congestion for the greater good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17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45B82394-70D0-F1A5-C6DF-6A749991F2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8EC1F5-734A-44E8-96EE-49906358354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53B030A-4B82-0FB2-7268-712F14252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An Analogy: Talking on a Cell Phone</a:t>
            </a:r>
          </a:p>
        </p:txBody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00B38A81-32D6-D5C9-027F-CBD9D8FE4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Alice and Bob on their cell phones</a:t>
            </a:r>
          </a:p>
          <a:p>
            <a:pPr lvl="1"/>
            <a:r>
              <a:rPr lang="en-US" altLang="en-US"/>
              <a:t>Both Alice and Bob are talking</a:t>
            </a:r>
          </a:p>
          <a:p>
            <a:r>
              <a:rPr lang="en-US" altLang="en-US"/>
              <a:t>What if Alice couldn’t understand Bob?</a:t>
            </a:r>
          </a:p>
          <a:p>
            <a:pPr lvl="1"/>
            <a:r>
              <a:rPr lang="en-US" altLang="en-US"/>
              <a:t>Bob asks Alice to repeat what she said</a:t>
            </a:r>
          </a:p>
          <a:p>
            <a:r>
              <a:rPr lang="en-US" altLang="en-US"/>
              <a:t>What if Bob hasn’t heard Alice for a while?</a:t>
            </a:r>
          </a:p>
          <a:p>
            <a:pPr lvl="1"/>
            <a:r>
              <a:rPr lang="en-US" altLang="en-US"/>
              <a:t>Is Alice just being quiet?</a:t>
            </a:r>
          </a:p>
          <a:p>
            <a:pPr lvl="1"/>
            <a:r>
              <a:rPr lang="en-US" altLang="en-US"/>
              <a:t>Or, have Bob and Alice lost reception?</a:t>
            </a:r>
          </a:p>
          <a:p>
            <a:pPr lvl="1"/>
            <a:r>
              <a:rPr lang="en-US" altLang="en-US"/>
              <a:t>How long should Bob just keep on talking?</a:t>
            </a:r>
          </a:p>
          <a:p>
            <a:pPr lvl="1"/>
            <a:r>
              <a:rPr lang="en-US" altLang="en-US"/>
              <a:t>Maybe Alice should periodically say “uh huh”</a:t>
            </a:r>
          </a:p>
          <a:p>
            <a:pPr lvl="1"/>
            <a:r>
              <a:rPr lang="en-US" altLang="en-US"/>
              <a:t>… or Bob should ask “Can you hear me now?” </a:t>
            </a:r>
            <a:r>
              <a:rPr lang="en-US" altLang="en-US">
                <a:sym typeface="Wingdings" panose="05000000000000000000" pitchFamily="2" charset="2"/>
              </a:rPr>
              <a:t></a:t>
            </a:r>
            <a:r>
              <a:rPr lang="en-US" altLang="en-US"/>
              <a:t>  </a:t>
            </a:r>
          </a:p>
          <a:p>
            <a:pPr lvl="1"/>
            <a:endParaRPr lang="en-US" altLang="en-US"/>
          </a:p>
        </p:txBody>
      </p:sp>
      <p:pic>
        <p:nvPicPr>
          <p:cNvPr id="13317" name="Picture 4" descr="j0332268">
            <a:extLst>
              <a:ext uri="{FF2B5EF4-FFF2-40B4-BE49-F238E27FC236}">
                <a16:creationId xmlns:a16="http://schemas.microsoft.com/office/drawing/2014/main" id="{E19B8FBF-0E66-F443-B7B0-E4FEE27FE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438" y="1277938"/>
            <a:ext cx="1600200" cy="180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853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9DA530F4-D90E-9053-D5C1-7E606AB795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A7C221-EE8E-4B3B-80FA-EF00C23B4EEB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C801C193-D981-EA97-6214-5DFCD4A09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Some Take-Aways from the Example</a:t>
            </a:r>
          </a:p>
        </p:txBody>
      </p:sp>
      <p:sp>
        <p:nvSpPr>
          <p:cNvPr id="919555" name="Rectangle 3">
            <a:extLst>
              <a:ext uri="{FF2B5EF4-FFF2-40B4-BE49-F238E27FC236}">
                <a16:creationId xmlns:a16="http://schemas.microsoft.com/office/drawing/2014/main" id="{B51178C1-D806-0F7C-1CB2-6FADC7639C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Acknowledgments from receiver</a:t>
            </a:r>
          </a:p>
          <a:p>
            <a:pPr lvl="1"/>
            <a:r>
              <a:rPr lang="en-US" altLang="en-US"/>
              <a:t>Positive: “okay” or “ACK”</a:t>
            </a:r>
          </a:p>
          <a:p>
            <a:pPr lvl="1"/>
            <a:r>
              <a:rPr lang="en-US" altLang="en-US"/>
              <a:t>Negative: “please repeat that” or “NACK”</a:t>
            </a:r>
          </a:p>
          <a:p>
            <a:r>
              <a:rPr lang="en-US" altLang="en-US"/>
              <a:t>Timeout by the sender (“stop and wait”)</a:t>
            </a:r>
          </a:p>
          <a:p>
            <a:pPr lvl="1"/>
            <a:r>
              <a:rPr lang="en-US" altLang="en-US"/>
              <a:t>Don’t wait indefinitely without receiving some response</a:t>
            </a:r>
          </a:p>
          <a:p>
            <a:pPr lvl="1"/>
            <a:r>
              <a:rPr lang="en-US" altLang="en-US"/>
              <a:t>… whether a positive or a negative acknowledgment</a:t>
            </a:r>
          </a:p>
          <a:p>
            <a:r>
              <a:rPr lang="en-US" altLang="en-US"/>
              <a:t>Retransmission by the sender</a:t>
            </a:r>
          </a:p>
          <a:p>
            <a:pPr lvl="1"/>
            <a:r>
              <a:rPr lang="en-US" altLang="en-US"/>
              <a:t>After receiving a “NACK” from the receiver</a:t>
            </a:r>
          </a:p>
          <a:p>
            <a:pPr lvl="1"/>
            <a:r>
              <a:rPr lang="en-US" altLang="en-US"/>
              <a:t>After receiving no feedback from the receiver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955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8EEA918F-1EB5-E03A-F87D-A47CC50DD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5F9A4C-649C-4EAB-BDFE-7E6107013645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6F010D31-1D21-C014-D73D-FF2700BAA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Challenges of Reliable Data Transfer</a:t>
            </a:r>
          </a:p>
        </p:txBody>
      </p:sp>
      <p:sp>
        <p:nvSpPr>
          <p:cNvPr id="917507" name="Rectangle 3">
            <a:extLst>
              <a:ext uri="{FF2B5EF4-FFF2-40B4-BE49-F238E27FC236}">
                <a16:creationId xmlns:a16="http://schemas.microsoft.com/office/drawing/2014/main" id="{FFC6AFDA-F8D1-0504-072B-421FD0211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 a perfectly reliable channel</a:t>
            </a:r>
          </a:p>
          <a:p>
            <a:pPr lvl="1"/>
            <a:r>
              <a:rPr lang="en-US" altLang="en-US"/>
              <a:t>All of the data arrives in order, just as it was sent</a:t>
            </a:r>
          </a:p>
          <a:p>
            <a:pPr lvl="1"/>
            <a:r>
              <a:rPr lang="en-US" altLang="en-US"/>
              <a:t>Simple: sender sends data, and receiver receives data</a:t>
            </a:r>
          </a:p>
          <a:p>
            <a:r>
              <a:rPr lang="en-US" altLang="en-US"/>
              <a:t>Over a channel with bit errors</a:t>
            </a:r>
          </a:p>
          <a:p>
            <a:pPr lvl="1"/>
            <a:r>
              <a:rPr lang="en-US" altLang="en-US"/>
              <a:t>All of the data arrives in order, but some bits corrupted</a:t>
            </a:r>
          </a:p>
          <a:p>
            <a:pPr lvl="1"/>
            <a:r>
              <a:rPr lang="en-US" altLang="en-US"/>
              <a:t>Receiver detects errors and says “please repeat that”</a:t>
            </a:r>
          </a:p>
          <a:p>
            <a:pPr lvl="1"/>
            <a:r>
              <a:rPr lang="en-US" altLang="en-US"/>
              <a:t>Sender retransmits the data that were corrupted</a:t>
            </a:r>
          </a:p>
          <a:p>
            <a:r>
              <a:rPr lang="en-US" altLang="en-US"/>
              <a:t>Over a lossy channel with bit errors</a:t>
            </a:r>
          </a:p>
          <a:p>
            <a:pPr lvl="1"/>
            <a:r>
              <a:rPr lang="en-US" altLang="en-US"/>
              <a:t>Some data are missing, and some bits are corrupted</a:t>
            </a:r>
          </a:p>
          <a:p>
            <a:pPr lvl="1"/>
            <a:r>
              <a:rPr lang="en-US" altLang="en-US"/>
              <a:t>Receiver detects errors but cannot always detect loss</a:t>
            </a:r>
          </a:p>
          <a:p>
            <a:pPr lvl="1"/>
            <a:r>
              <a:rPr lang="en-US" altLang="en-US"/>
              <a:t>Sender must wait for acknowledgment (“ACK” or “OK”)</a:t>
            </a:r>
          </a:p>
          <a:p>
            <a:pPr lvl="1"/>
            <a:r>
              <a:rPr lang="en-US" altLang="en-US"/>
              <a:t>… and retransmit data after some time if no ACK arrives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0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8C92A243-6BEA-6349-6789-A4BCD367D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762AB8-7C91-41DB-92C4-C1789486395B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109B195-94CB-FEBD-73F5-D783B1A2C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 Support for Reliable Delivery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04D833A-F40E-5C5D-947F-7284075B8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SzPct val="75000"/>
            </a:pPr>
            <a:r>
              <a:rPr lang="en-US" altLang="en-US"/>
              <a:t>Checksum</a:t>
            </a:r>
          </a:p>
          <a:p>
            <a:pPr lvl="1">
              <a:buSzPct val="75000"/>
            </a:pPr>
            <a:r>
              <a:rPr lang="en-US" altLang="en-US"/>
              <a:t>Used to detect corrupted data at the receiver</a:t>
            </a:r>
          </a:p>
          <a:p>
            <a:pPr lvl="1">
              <a:buSzPct val="75000"/>
            </a:pPr>
            <a:r>
              <a:rPr lang="en-US" altLang="en-US"/>
              <a:t>…leading the receiver to drop the packet</a:t>
            </a:r>
          </a:p>
          <a:p>
            <a:pPr>
              <a:buSzPct val="75000"/>
            </a:pPr>
            <a:r>
              <a:rPr lang="en-US" altLang="en-US"/>
              <a:t>Sequence numbers</a:t>
            </a:r>
          </a:p>
          <a:p>
            <a:pPr lvl="1">
              <a:buSzPct val="75000"/>
            </a:pPr>
            <a:r>
              <a:rPr lang="en-US" altLang="en-US"/>
              <a:t>Used to detect missing data</a:t>
            </a:r>
          </a:p>
          <a:p>
            <a:pPr lvl="1">
              <a:buSzPct val="75000"/>
            </a:pPr>
            <a:r>
              <a:rPr lang="en-US" altLang="en-US"/>
              <a:t>... and for putting the data back in order</a:t>
            </a:r>
          </a:p>
          <a:p>
            <a:pPr>
              <a:buSzPct val="75000"/>
            </a:pPr>
            <a:r>
              <a:rPr lang="en-US" altLang="en-US"/>
              <a:t>Retransmission</a:t>
            </a:r>
          </a:p>
          <a:p>
            <a:pPr lvl="1">
              <a:buSzPct val="75000"/>
            </a:pPr>
            <a:r>
              <a:rPr lang="en-US" altLang="en-US"/>
              <a:t>Sender retransmits lost or corrupted data</a:t>
            </a:r>
          </a:p>
          <a:p>
            <a:pPr lvl="1">
              <a:buSzPct val="75000"/>
            </a:pPr>
            <a:r>
              <a:rPr lang="en-US" altLang="en-US"/>
              <a:t>Timeout based on estimates of round-trip time</a:t>
            </a:r>
          </a:p>
          <a:p>
            <a:pPr lvl="1">
              <a:buSzPct val="75000"/>
            </a:pPr>
            <a:r>
              <a:rPr lang="en-US" altLang="en-US"/>
              <a:t>Fast retransmit algorithm for rapid retransmission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33DFF542-3A4E-C222-CFD3-E3D0E6541D8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AA0469-C0D9-4490-9FA2-47A64ACF75D9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27ED0879-4D4B-672C-F177-EFA2CBA541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TCP Segments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774CD25E-71D4-BE41-553F-C9AF606994F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2">
            <a:extLst>
              <a:ext uri="{FF2B5EF4-FFF2-40B4-BE49-F238E27FC236}">
                <a16:creationId xmlns:a16="http://schemas.microsoft.com/office/drawing/2014/main" id="{16A8D644-6305-0956-86A9-28809821B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614C8D-7EEE-4273-8AA8-08C66EA182DC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5" name="Rectangle 104">
            <a:extLst>
              <a:ext uri="{FF2B5EF4-FFF2-40B4-BE49-F238E27FC236}">
                <a16:creationId xmlns:a16="http://schemas.microsoft.com/office/drawing/2014/main" id="{6E45B0FF-7A6C-005F-7A5E-D52B360E6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 “Stream of Bytes” Service</a:t>
            </a:r>
          </a:p>
        </p:txBody>
      </p:sp>
      <p:grpSp>
        <p:nvGrpSpPr>
          <p:cNvPr id="18436" name="Group 3">
            <a:extLst>
              <a:ext uri="{FF2B5EF4-FFF2-40B4-BE49-F238E27FC236}">
                <a16:creationId xmlns:a16="http://schemas.microsoft.com/office/drawing/2014/main" id="{1E57FE08-EE28-7BB5-8075-43C6EEB34FB5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2122488"/>
            <a:ext cx="5029200" cy="609600"/>
            <a:chOff x="912" y="1104"/>
            <a:chExt cx="3648" cy="384"/>
          </a:xfrm>
        </p:grpSpPr>
        <p:sp>
          <p:nvSpPr>
            <p:cNvPr id="18533" name="Line 4">
              <a:extLst>
                <a:ext uri="{FF2B5EF4-FFF2-40B4-BE49-F238E27FC236}">
                  <a16:creationId xmlns:a16="http://schemas.microsoft.com/office/drawing/2014/main" id="{A0051DEF-7F90-F09D-5163-0D63B5D9D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Line 5">
              <a:extLst>
                <a:ext uri="{FF2B5EF4-FFF2-40B4-BE49-F238E27FC236}">
                  <a16:creationId xmlns:a16="http://schemas.microsoft.com/office/drawing/2014/main" id="{115C4B2A-43AF-2AD0-4BE4-440A7B83E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Line 6">
              <a:extLst>
                <a:ext uri="{FF2B5EF4-FFF2-40B4-BE49-F238E27FC236}">
                  <a16:creationId xmlns:a16="http://schemas.microsoft.com/office/drawing/2014/main" id="{5C192DD1-8B32-72F4-43D2-7EBF10FEF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" name="Line 7">
              <a:extLst>
                <a:ext uri="{FF2B5EF4-FFF2-40B4-BE49-F238E27FC236}">
                  <a16:creationId xmlns:a16="http://schemas.microsoft.com/office/drawing/2014/main" id="{D0DE40C7-CECD-92F2-9D81-7BC8A9BE36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37" name="Line 8">
            <a:extLst>
              <a:ext uri="{FF2B5EF4-FFF2-40B4-BE49-F238E27FC236}">
                <a16:creationId xmlns:a16="http://schemas.microsoft.com/office/drawing/2014/main" id="{6F3FA47E-DF62-C13F-9038-1591183E2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Line 9">
            <a:extLst>
              <a:ext uri="{FF2B5EF4-FFF2-40B4-BE49-F238E27FC236}">
                <a16:creationId xmlns:a16="http://schemas.microsoft.com/office/drawing/2014/main" id="{64C36601-F7F9-1DC9-C8D1-EFDD4430B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9" name="Line 10">
            <a:extLst>
              <a:ext uri="{FF2B5EF4-FFF2-40B4-BE49-F238E27FC236}">
                <a16:creationId xmlns:a16="http://schemas.microsoft.com/office/drawing/2014/main" id="{FADF3597-D80B-3A9B-7449-D1549D4F4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Line 11">
            <a:extLst>
              <a:ext uri="{FF2B5EF4-FFF2-40B4-BE49-F238E27FC236}">
                <a16:creationId xmlns:a16="http://schemas.microsoft.com/office/drawing/2014/main" id="{B532525C-A63B-74A1-38C3-4B19D7C13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Line 12">
            <a:extLst>
              <a:ext uri="{FF2B5EF4-FFF2-40B4-BE49-F238E27FC236}">
                <a16:creationId xmlns:a16="http://schemas.microsoft.com/office/drawing/2014/main" id="{B3CC6790-3E24-61E7-6200-A65FBFB63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3">
            <a:extLst>
              <a:ext uri="{FF2B5EF4-FFF2-40B4-BE49-F238E27FC236}">
                <a16:creationId xmlns:a16="http://schemas.microsoft.com/office/drawing/2014/main" id="{C56E5FB7-A5EB-535A-088A-780BE41F1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4">
            <a:extLst>
              <a:ext uri="{FF2B5EF4-FFF2-40B4-BE49-F238E27FC236}">
                <a16:creationId xmlns:a16="http://schemas.microsoft.com/office/drawing/2014/main" id="{77B4F71E-A42C-6160-E29B-F89CE8D89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5">
            <a:extLst>
              <a:ext uri="{FF2B5EF4-FFF2-40B4-BE49-F238E27FC236}">
                <a16:creationId xmlns:a16="http://schemas.microsoft.com/office/drawing/2014/main" id="{BC82144F-48C2-E071-9252-BDBEC9F15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16">
            <a:extLst>
              <a:ext uri="{FF2B5EF4-FFF2-40B4-BE49-F238E27FC236}">
                <a16:creationId xmlns:a16="http://schemas.microsoft.com/office/drawing/2014/main" id="{DF577C8F-817E-A32E-9982-D4C20938A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17">
            <a:extLst>
              <a:ext uri="{FF2B5EF4-FFF2-40B4-BE49-F238E27FC236}">
                <a16:creationId xmlns:a16="http://schemas.microsoft.com/office/drawing/2014/main" id="{BEC35C85-07C6-9984-6972-E45C8418B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Line 18">
            <a:extLst>
              <a:ext uri="{FF2B5EF4-FFF2-40B4-BE49-F238E27FC236}">
                <a16:creationId xmlns:a16="http://schemas.microsoft.com/office/drawing/2014/main" id="{E4C4933C-5A62-9E8F-286A-A7B5C3179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Line 19">
            <a:extLst>
              <a:ext uri="{FF2B5EF4-FFF2-40B4-BE49-F238E27FC236}">
                <a16:creationId xmlns:a16="http://schemas.microsoft.com/office/drawing/2014/main" id="{83C9DEB3-1C1E-D39D-DEE3-976B5B564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Line 20">
            <a:extLst>
              <a:ext uri="{FF2B5EF4-FFF2-40B4-BE49-F238E27FC236}">
                <a16:creationId xmlns:a16="http://schemas.microsoft.com/office/drawing/2014/main" id="{E7DFEBB9-3E46-DE92-B704-A96EA72D3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0" name="Line 21">
            <a:extLst>
              <a:ext uri="{FF2B5EF4-FFF2-40B4-BE49-F238E27FC236}">
                <a16:creationId xmlns:a16="http://schemas.microsoft.com/office/drawing/2014/main" id="{2A3F7A71-DEB6-B961-7648-82A799443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1" name="Line 22">
            <a:extLst>
              <a:ext uri="{FF2B5EF4-FFF2-40B4-BE49-F238E27FC236}">
                <a16:creationId xmlns:a16="http://schemas.microsoft.com/office/drawing/2014/main" id="{F96BC36D-57DF-5AD2-4D7A-93524B53A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2" name="Line 23">
            <a:extLst>
              <a:ext uri="{FF2B5EF4-FFF2-40B4-BE49-F238E27FC236}">
                <a16:creationId xmlns:a16="http://schemas.microsoft.com/office/drawing/2014/main" id="{DDE271E1-1B1C-804C-F93A-8E2903EA7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3" name="Line 24">
            <a:extLst>
              <a:ext uri="{FF2B5EF4-FFF2-40B4-BE49-F238E27FC236}">
                <a16:creationId xmlns:a16="http://schemas.microsoft.com/office/drawing/2014/main" id="{38C90F4C-022F-59F8-0CFE-B4A3D75F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4" name="Line 25">
            <a:extLst>
              <a:ext uri="{FF2B5EF4-FFF2-40B4-BE49-F238E27FC236}">
                <a16:creationId xmlns:a16="http://schemas.microsoft.com/office/drawing/2014/main" id="{5EB2C4A7-4A8C-0239-344A-E0BF1C4C6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5" name="Line 26">
            <a:extLst>
              <a:ext uri="{FF2B5EF4-FFF2-40B4-BE49-F238E27FC236}">
                <a16:creationId xmlns:a16="http://schemas.microsoft.com/office/drawing/2014/main" id="{DACE115B-6757-6A6B-95C0-8FA7B28DB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Line 27">
            <a:extLst>
              <a:ext uri="{FF2B5EF4-FFF2-40B4-BE49-F238E27FC236}">
                <a16:creationId xmlns:a16="http://schemas.microsoft.com/office/drawing/2014/main" id="{7CF782FE-665F-EBB1-DEDD-7E8297600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Line 28">
            <a:extLst>
              <a:ext uri="{FF2B5EF4-FFF2-40B4-BE49-F238E27FC236}">
                <a16:creationId xmlns:a16="http://schemas.microsoft.com/office/drawing/2014/main" id="{D92AC4EB-329B-06DE-F63E-74BF0E6DF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8" name="Line 29">
            <a:extLst>
              <a:ext uri="{FF2B5EF4-FFF2-40B4-BE49-F238E27FC236}">
                <a16:creationId xmlns:a16="http://schemas.microsoft.com/office/drawing/2014/main" id="{02D61B0D-A146-C27A-6B55-7423892D7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9" name="Line 30">
            <a:extLst>
              <a:ext uri="{FF2B5EF4-FFF2-40B4-BE49-F238E27FC236}">
                <a16:creationId xmlns:a16="http://schemas.microsoft.com/office/drawing/2014/main" id="{D4005880-EDA3-B88C-9CF4-855AA49E6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0" name="Line 31">
            <a:extLst>
              <a:ext uri="{FF2B5EF4-FFF2-40B4-BE49-F238E27FC236}">
                <a16:creationId xmlns:a16="http://schemas.microsoft.com/office/drawing/2014/main" id="{3FA53D47-4DE1-50EF-B891-8D9E53676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1" name="Line 32">
            <a:extLst>
              <a:ext uri="{FF2B5EF4-FFF2-40B4-BE49-F238E27FC236}">
                <a16:creationId xmlns:a16="http://schemas.microsoft.com/office/drawing/2014/main" id="{A12076FF-5D18-92D2-90A3-BA9C1BF8B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2" name="Line 33">
            <a:extLst>
              <a:ext uri="{FF2B5EF4-FFF2-40B4-BE49-F238E27FC236}">
                <a16:creationId xmlns:a16="http://schemas.microsoft.com/office/drawing/2014/main" id="{D6718E2F-A7D3-C6FD-86EA-D1F2C8DBB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3" name="Line 34">
            <a:extLst>
              <a:ext uri="{FF2B5EF4-FFF2-40B4-BE49-F238E27FC236}">
                <a16:creationId xmlns:a16="http://schemas.microsoft.com/office/drawing/2014/main" id="{18739DA2-2BA9-C740-AFAE-3AAD54E58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Line 35">
            <a:extLst>
              <a:ext uri="{FF2B5EF4-FFF2-40B4-BE49-F238E27FC236}">
                <a16:creationId xmlns:a16="http://schemas.microsoft.com/office/drawing/2014/main" id="{3FAFD4DE-CAF8-44A7-D670-E0E6BAD8A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5" name="Line 36">
            <a:extLst>
              <a:ext uri="{FF2B5EF4-FFF2-40B4-BE49-F238E27FC236}">
                <a16:creationId xmlns:a16="http://schemas.microsoft.com/office/drawing/2014/main" id="{CA0564F6-9D40-8F4D-EB97-691B7CB1A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6" name="Line 37">
            <a:extLst>
              <a:ext uri="{FF2B5EF4-FFF2-40B4-BE49-F238E27FC236}">
                <a16:creationId xmlns:a16="http://schemas.microsoft.com/office/drawing/2014/main" id="{3BC58D03-C6C4-48AF-6F54-41CC79446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7" name="Line 38">
            <a:extLst>
              <a:ext uri="{FF2B5EF4-FFF2-40B4-BE49-F238E27FC236}">
                <a16:creationId xmlns:a16="http://schemas.microsoft.com/office/drawing/2014/main" id="{B37A7029-3807-00A3-2A3A-991697248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8" name="Line 39">
            <a:extLst>
              <a:ext uri="{FF2B5EF4-FFF2-40B4-BE49-F238E27FC236}">
                <a16:creationId xmlns:a16="http://schemas.microsoft.com/office/drawing/2014/main" id="{6236F6A3-C780-7985-4C1D-673000F9C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9" name="Line 40">
            <a:extLst>
              <a:ext uri="{FF2B5EF4-FFF2-40B4-BE49-F238E27FC236}">
                <a16:creationId xmlns:a16="http://schemas.microsoft.com/office/drawing/2014/main" id="{C07FB5AF-CE52-DD1E-E558-46A22A534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0" name="Text Box 41">
            <a:extLst>
              <a:ext uri="{FF2B5EF4-FFF2-40B4-BE49-F238E27FC236}">
                <a16:creationId xmlns:a16="http://schemas.microsoft.com/office/drawing/2014/main" id="{C0517BDE-2006-66FF-4CFD-0848D450F5CF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243806" y="2283619"/>
            <a:ext cx="5873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0</a:t>
            </a:r>
          </a:p>
        </p:txBody>
      </p:sp>
      <p:sp>
        <p:nvSpPr>
          <p:cNvPr id="18471" name="Text Box 42">
            <a:extLst>
              <a:ext uri="{FF2B5EF4-FFF2-40B4-BE49-F238E27FC236}">
                <a16:creationId xmlns:a16="http://schemas.microsoft.com/office/drawing/2014/main" id="{DCC44D96-4799-C5BA-471A-7F67D3096EC8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396206" y="2283619"/>
            <a:ext cx="5873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1</a:t>
            </a:r>
          </a:p>
        </p:txBody>
      </p:sp>
      <p:sp>
        <p:nvSpPr>
          <p:cNvPr id="18472" name="Text Box 43">
            <a:extLst>
              <a:ext uri="{FF2B5EF4-FFF2-40B4-BE49-F238E27FC236}">
                <a16:creationId xmlns:a16="http://schemas.microsoft.com/office/drawing/2014/main" id="{6FF07146-2D7A-F283-2DA2-4F27B62C14EF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550194" y="2285207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2</a:t>
            </a:r>
          </a:p>
        </p:txBody>
      </p:sp>
      <p:sp>
        <p:nvSpPr>
          <p:cNvPr id="18473" name="Text Box 44">
            <a:extLst>
              <a:ext uri="{FF2B5EF4-FFF2-40B4-BE49-F238E27FC236}">
                <a16:creationId xmlns:a16="http://schemas.microsoft.com/office/drawing/2014/main" id="{4A9FDAE6-61F0-AA6D-6EE5-C12B56B1CEE5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702594" y="2285207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3</a:t>
            </a:r>
          </a:p>
        </p:txBody>
      </p:sp>
      <p:sp>
        <p:nvSpPr>
          <p:cNvPr id="18474" name="Line 45">
            <a:extLst>
              <a:ext uri="{FF2B5EF4-FFF2-40B4-BE49-F238E27FC236}">
                <a16:creationId xmlns:a16="http://schemas.microsoft.com/office/drawing/2014/main" id="{05C37BD2-68CB-E96F-AB36-9E313C621C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475" name="Group 46">
            <a:extLst>
              <a:ext uri="{FF2B5EF4-FFF2-40B4-BE49-F238E27FC236}">
                <a16:creationId xmlns:a16="http://schemas.microsoft.com/office/drawing/2014/main" id="{052E147A-249F-5185-98ED-5664861E2B3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18529" name="Line 47">
              <a:extLst>
                <a:ext uri="{FF2B5EF4-FFF2-40B4-BE49-F238E27FC236}">
                  <a16:creationId xmlns:a16="http://schemas.microsoft.com/office/drawing/2014/main" id="{3F0B5332-9807-C029-F10D-00A89F507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0" name="Line 48">
              <a:extLst>
                <a:ext uri="{FF2B5EF4-FFF2-40B4-BE49-F238E27FC236}">
                  <a16:creationId xmlns:a16="http://schemas.microsoft.com/office/drawing/2014/main" id="{E1380E51-7F9E-C827-21C9-2AC88E945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1" name="Line 49">
              <a:extLst>
                <a:ext uri="{FF2B5EF4-FFF2-40B4-BE49-F238E27FC236}">
                  <a16:creationId xmlns:a16="http://schemas.microsoft.com/office/drawing/2014/main" id="{2266F888-89A2-D4BD-9216-4C327AEC7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Line 50">
              <a:extLst>
                <a:ext uri="{FF2B5EF4-FFF2-40B4-BE49-F238E27FC236}">
                  <a16:creationId xmlns:a16="http://schemas.microsoft.com/office/drawing/2014/main" id="{1481CB74-1CE3-2157-CB49-C4DF7675FE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76" name="Line 51">
            <a:extLst>
              <a:ext uri="{FF2B5EF4-FFF2-40B4-BE49-F238E27FC236}">
                <a16:creationId xmlns:a16="http://schemas.microsoft.com/office/drawing/2014/main" id="{89081C67-B50A-3207-48FA-A88BA973C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7" name="Line 52">
            <a:extLst>
              <a:ext uri="{FF2B5EF4-FFF2-40B4-BE49-F238E27FC236}">
                <a16:creationId xmlns:a16="http://schemas.microsoft.com/office/drawing/2014/main" id="{29BE69B7-EE86-A22E-ECA2-523D842EB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8" name="Line 53">
            <a:extLst>
              <a:ext uri="{FF2B5EF4-FFF2-40B4-BE49-F238E27FC236}">
                <a16:creationId xmlns:a16="http://schemas.microsoft.com/office/drawing/2014/main" id="{2DD6AC6A-53B7-A4E8-074C-36BCA46EB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9" name="Line 54">
            <a:extLst>
              <a:ext uri="{FF2B5EF4-FFF2-40B4-BE49-F238E27FC236}">
                <a16:creationId xmlns:a16="http://schemas.microsoft.com/office/drawing/2014/main" id="{05862D3B-D859-6D2A-3808-76D9136BF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0" name="Line 55">
            <a:extLst>
              <a:ext uri="{FF2B5EF4-FFF2-40B4-BE49-F238E27FC236}">
                <a16:creationId xmlns:a16="http://schemas.microsoft.com/office/drawing/2014/main" id="{34F3646D-68E1-CD82-5F1E-073989364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1" name="Line 56">
            <a:extLst>
              <a:ext uri="{FF2B5EF4-FFF2-40B4-BE49-F238E27FC236}">
                <a16:creationId xmlns:a16="http://schemas.microsoft.com/office/drawing/2014/main" id="{BE1C3CB1-F21E-F02F-9F69-30EB81CA7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2" name="Line 57">
            <a:extLst>
              <a:ext uri="{FF2B5EF4-FFF2-40B4-BE49-F238E27FC236}">
                <a16:creationId xmlns:a16="http://schemas.microsoft.com/office/drawing/2014/main" id="{D2BE3C3F-B8D9-4BF1-28DB-A41487A7D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3" name="Line 58">
            <a:extLst>
              <a:ext uri="{FF2B5EF4-FFF2-40B4-BE49-F238E27FC236}">
                <a16:creationId xmlns:a16="http://schemas.microsoft.com/office/drawing/2014/main" id="{5DB6EBC7-4257-900C-609A-B5795CA8F6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4" name="Line 59">
            <a:extLst>
              <a:ext uri="{FF2B5EF4-FFF2-40B4-BE49-F238E27FC236}">
                <a16:creationId xmlns:a16="http://schemas.microsoft.com/office/drawing/2014/main" id="{3B71712F-B9BD-6AAE-D6B5-E28BFA906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5" name="Line 60">
            <a:extLst>
              <a:ext uri="{FF2B5EF4-FFF2-40B4-BE49-F238E27FC236}">
                <a16:creationId xmlns:a16="http://schemas.microsoft.com/office/drawing/2014/main" id="{0F08888C-9580-2D97-0CE8-979BD888C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6" name="Line 61">
            <a:extLst>
              <a:ext uri="{FF2B5EF4-FFF2-40B4-BE49-F238E27FC236}">
                <a16:creationId xmlns:a16="http://schemas.microsoft.com/office/drawing/2014/main" id="{2C9F0EE2-43DD-FBE2-9E6E-53381CD2A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7" name="Line 62">
            <a:extLst>
              <a:ext uri="{FF2B5EF4-FFF2-40B4-BE49-F238E27FC236}">
                <a16:creationId xmlns:a16="http://schemas.microsoft.com/office/drawing/2014/main" id="{F89956F1-3903-F09E-795C-92E3EFD75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8" name="Line 63">
            <a:extLst>
              <a:ext uri="{FF2B5EF4-FFF2-40B4-BE49-F238E27FC236}">
                <a16:creationId xmlns:a16="http://schemas.microsoft.com/office/drawing/2014/main" id="{82748B6D-B6EA-BB15-5DB4-7AEA839FC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9" name="Line 64">
            <a:extLst>
              <a:ext uri="{FF2B5EF4-FFF2-40B4-BE49-F238E27FC236}">
                <a16:creationId xmlns:a16="http://schemas.microsoft.com/office/drawing/2014/main" id="{1E2400BC-0F61-64CC-8827-E1DAC109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0" name="Line 65">
            <a:extLst>
              <a:ext uri="{FF2B5EF4-FFF2-40B4-BE49-F238E27FC236}">
                <a16:creationId xmlns:a16="http://schemas.microsoft.com/office/drawing/2014/main" id="{93F825A2-0706-53B2-1CD8-29E1F41AC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1" name="Line 66">
            <a:extLst>
              <a:ext uri="{FF2B5EF4-FFF2-40B4-BE49-F238E27FC236}">
                <a16:creationId xmlns:a16="http://schemas.microsoft.com/office/drawing/2014/main" id="{6BC66173-3CEF-7360-C542-938055C24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2" name="Line 67">
            <a:extLst>
              <a:ext uri="{FF2B5EF4-FFF2-40B4-BE49-F238E27FC236}">
                <a16:creationId xmlns:a16="http://schemas.microsoft.com/office/drawing/2014/main" id="{A39D34B6-8992-3164-D684-4D78A4328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3" name="Line 68">
            <a:extLst>
              <a:ext uri="{FF2B5EF4-FFF2-40B4-BE49-F238E27FC236}">
                <a16:creationId xmlns:a16="http://schemas.microsoft.com/office/drawing/2014/main" id="{57070D43-C308-8F87-A442-AF2B872A53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4" name="Line 69">
            <a:extLst>
              <a:ext uri="{FF2B5EF4-FFF2-40B4-BE49-F238E27FC236}">
                <a16:creationId xmlns:a16="http://schemas.microsoft.com/office/drawing/2014/main" id="{547BD5B9-5E85-C329-103F-BCDD20841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5" name="Line 70">
            <a:extLst>
              <a:ext uri="{FF2B5EF4-FFF2-40B4-BE49-F238E27FC236}">
                <a16:creationId xmlns:a16="http://schemas.microsoft.com/office/drawing/2014/main" id="{43DD64D1-A868-5CE5-B3F6-C26A57DFE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6" name="Line 71">
            <a:extLst>
              <a:ext uri="{FF2B5EF4-FFF2-40B4-BE49-F238E27FC236}">
                <a16:creationId xmlns:a16="http://schemas.microsoft.com/office/drawing/2014/main" id="{2167BE62-E6D2-72AA-7484-D61157AA3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7" name="Line 72">
            <a:extLst>
              <a:ext uri="{FF2B5EF4-FFF2-40B4-BE49-F238E27FC236}">
                <a16:creationId xmlns:a16="http://schemas.microsoft.com/office/drawing/2014/main" id="{5D087C32-FD4C-0B26-DD75-D32C380FD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8" name="Line 73">
            <a:extLst>
              <a:ext uri="{FF2B5EF4-FFF2-40B4-BE49-F238E27FC236}">
                <a16:creationId xmlns:a16="http://schemas.microsoft.com/office/drawing/2014/main" id="{2768CBD4-35D9-3D60-8A88-700D6F8A1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9" name="Line 74">
            <a:extLst>
              <a:ext uri="{FF2B5EF4-FFF2-40B4-BE49-F238E27FC236}">
                <a16:creationId xmlns:a16="http://schemas.microsoft.com/office/drawing/2014/main" id="{5E91AB87-ADC9-BD76-9ABF-2999CD5C8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0" name="Line 75">
            <a:extLst>
              <a:ext uri="{FF2B5EF4-FFF2-40B4-BE49-F238E27FC236}">
                <a16:creationId xmlns:a16="http://schemas.microsoft.com/office/drawing/2014/main" id="{8DDF2BBA-623A-C280-F08F-B31142EF9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1" name="Line 76">
            <a:extLst>
              <a:ext uri="{FF2B5EF4-FFF2-40B4-BE49-F238E27FC236}">
                <a16:creationId xmlns:a16="http://schemas.microsoft.com/office/drawing/2014/main" id="{8A68820F-E646-B70E-A742-C69AB14A3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2" name="Line 77">
            <a:extLst>
              <a:ext uri="{FF2B5EF4-FFF2-40B4-BE49-F238E27FC236}">
                <a16:creationId xmlns:a16="http://schemas.microsoft.com/office/drawing/2014/main" id="{8F034F99-EE00-C007-2AFC-8E2E882A6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3" name="Line 78">
            <a:extLst>
              <a:ext uri="{FF2B5EF4-FFF2-40B4-BE49-F238E27FC236}">
                <a16:creationId xmlns:a16="http://schemas.microsoft.com/office/drawing/2014/main" id="{33B79BF3-C206-696E-52C9-FFD5F33D2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4" name="Line 79">
            <a:extLst>
              <a:ext uri="{FF2B5EF4-FFF2-40B4-BE49-F238E27FC236}">
                <a16:creationId xmlns:a16="http://schemas.microsoft.com/office/drawing/2014/main" id="{7EDF42C4-7CCC-D133-350E-73E2B67F4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5" name="Line 80">
            <a:extLst>
              <a:ext uri="{FF2B5EF4-FFF2-40B4-BE49-F238E27FC236}">
                <a16:creationId xmlns:a16="http://schemas.microsoft.com/office/drawing/2014/main" id="{A4F3EDBC-F3EA-91BB-277C-F1E43C184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6" name="Line 81">
            <a:extLst>
              <a:ext uri="{FF2B5EF4-FFF2-40B4-BE49-F238E27FC236}">
                <a16:creationId xmlns:a16="http://schemas.microsoft.com/office/drawing/2014/main" id="{65655E87-AE48-A28B-4E4B-328629809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7" name="Line 82">
            <a:extLst>
              <a:ext uri="{FF2B5EF4-FFF2-40B4-BE49-F238E27FC236}">
                <a16:creationId xmlns:a16="http://schemas.microsoft.com/office/drawing/2014/main" id="{189AD8F5-0BF1-7B39-6C3A-385D6AD54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8" name="Line 83">
            <a:extLst>
              <a:ext uri="{FF2B5EF4-FFF2-40B4-BE49-F238E27FC236}">
                <a16:creationId xmlns:a16="http://schemas.microsoft.com/office/drawing/2014/main" id="{71FF1B2C-8915-CF50-F7BB-EBCF3E34D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09" name="Text Box 84">
            <a:extLst>
              <a:ext uri="{FF2B5EF4-FFF2-40B4-BE49-F238E27FC236}">
                <a16:creationId xmlns:a16="http://schemas.microsoft.com/office/drawing/2014/main" id="{88CBEAC9-9C24-FD9E-1F1E-252F4C74AEC0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5407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0</a:t>
            </a:r>
          </a:p>
        </p:txBody>
      </p:sp>
      <p:sp>
        <p:nvSpPr>
          <p:cNvPr id="18510" name="Text Box 85">
            <a:extLst>
              <a:ext uri="{FF2B5EF4-FFF2-40B4-BE49-F238E27FC236}">
                <a16:creationId xmlns:a16="http://schemas.microsoft.com/office/drawing/2014/main" id="{74871F1C-63F3-3A2A-1772-AD1DDFAC5E74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6931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1</a:t>
            </a:r>
          </a:p>
        </p:txBody>
      </p:sp>
      <p:sp>
        <p:nvSpPr>
          <p:cNvPr id="18511" name="Text Box 86">
            <a:extLst>
              <a:ext uri="{FF2B5EF4-FFF2-40B4-BE49-F238E27FC236}">
                <a16:creationId xmlns:a16="http://schemas.microsoft.com/office/drawing/2014/main" id="{38A430BF-DA01-6FB9-4EED-F7B74432EF95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8455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2</a:t>
            </a:r>
          </a:p>
        </p:txBody>
      </p:sp>
      <p:sp>
        <p:nvSpPr>
          <p:cNvPr id="18512" name="Text Box 87">
            <a:extLst>
              <a:ext uri="{FF2B5EF4-FFF2-40B4-BE49-F238E27FC236}">
                <a16:creationId xmlns:a16="http://schemas.microsoft.com/office/drawing/2014/main" id="{8E83AA0F-4DDA-CA41-931F-2A4D5B88A255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9979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3</a:t>
            </a:r>
          </a:p>
        </p:txBody>
      </p:sp>
      <p:sp>
        <p:nvSpPr>
          <p:cNvPr id="18513" name="Line 88">
            <a:extLst>
              <a:ext uri="{FF2B5EF4-FFF2-40B4-BE49-F238E27FC236}">
                <a16:creationId xmlns:a16="http://schemas.microsoft.com/office/drawing/2014/main" id="{CD7526E2-21DD-5646-4926-A1B923F72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14" name="Line 89">
            <a:extLst>
              <a:ext uri="{FF2B5EF4-FFF2-40B4-BE49-F238E27FC236}">
                <a16:creationId xmlns:a16="http://schemas.microsoft.com/office/drawing/2014/main" id="{6E56C28D-C966-4C2C-EBFB-6FC9946F6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15" name="Text Box 90">
            <a:extLst>
              <a:ext uri="{FF2B5EF4-FFF2-40B4-BE49-F238E27FC236}">
                <a16:creationId xmlns:a16="http://schemas.microsoft.com/office/drawing/2014/main" id="{2E9035E7-AB38-5B11-5C2D-F77BDD31B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00200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Comic Sans MS" panose="030F0702030302020204" pitchFamily="66" charset="0"/>
              </a:rPr>
              <a:t>Host A</a:t>
            </a:r>
          </a:p>
        </p:txBody>
      </p:sp>
      <p:sp>
        <p:nvSpPr>
          <p:cNvPr id="18516" name="Text Box 91">
            <a:extLst>
              <a:ext uri="{FF2B5EF4-FFF2-40B4-BE49-F238E27FC236}">
                <a16:creationId xmlns:a16="http://schemas.microsoft.com/office/drawing/2014/main" id="{B783982B-DCC1-FB41-C253-836656086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05363"/>
            <a:ext cx="115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Comic Sans MS" panose="030F0702030302020204" pitchFamily="66" charset="0"/>
              </a:rPr>
              <a:t>Host B</a:t>
            </a:r>
          </a:p>
        </p:txBody>
      </p:sp>
      <p:sp>
        <p:nvSpPr>
          <p:cNvPr id="18517" name="Text Box 92">
            <a:extLst>
              <a:ext uri="{FF2B5EF4-FFF2-40B4-BE49-F238E27FC236}">
                <a16:creationId xmlns:a16="http://schemas.microsoft.com/office/drawing/2014/main" id="{A485440F-093A-5E79-BA6A-3B5C42153423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272506" y="2348707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80</a:t>
            </a:r>
          </a:p>
        </p:txBody>
      </p:sp>
      <p:sp>
        <p:nvSpPr>
          <p:cNvPr id="18518" name="Line 93">
            <a:extLst>
              <a:ext uri="{FF2B5EF4-FFF2-40B4-BE49-F238E27FC236}">
                <a16:creationId xmlns:a16="http://schemas.microsoft.com/office/drawing/2014/main" id="{5313EDEF-4206-FC5E-39DD-BE4147E69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19" name="Text Box 94">
            <a:extLst>
              <a:ext uri="{FF2B5EF4-FFF2-40B4-BE49-F238E27FC236}">
                <a16:creationId xmlns:a16="http://schemas.microsoft.com/office/drawing/2014/main" id="{A22A0F1E-BCA6-A46E-351E-F53EA2556515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3569494" y="5550694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80</a:t>
            </a:r>
          </a:p>
        </p:txBody>
      </p:sp>
      <p:sp>
        <p:nvSpPr>
          <p:cNvPr id="18520" name="Line 95">
            <a:extLst>
              <a:ext uri="{FF2B5EF4-FFF2-40B4-BE49-F238E27FC236}">
                <a16:creationId xmlns:a16="http://schemas.microsoft.com/office/drawing/2014/main" id="{5C6A3796-93A7-8B01-80D7-C1D649189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5900" y="28178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1" name="Line 96">
            <a:extLst>
              <a:ext uri="{FF2B5EF4-FFF2-40B4-BE49-F238E27FC236}">
                <a16:creationId xmlns:a16="http://schemas.microsoft.com/office/drawing/2014/main" id="{20D5CA25-42B2-7DB4-C68F-919C3EE76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81940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2" name="Line 97">
            <a:extLst>
              <a:ext uri="{FF2B5EF4-FFF2-40B4-BE49-F238E27FC236}">
                <a16:creationId xmlns:a16="http://schemas.microsoft.com/office/drawing/2014/main" id="{1B8545CD-33F4-5ED6-88BA-DFBF753AC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282098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3" name="Line 98">
            <a:extLst>
              <a:ext uri="{FF2B5EF4-FFF2-40B4-BE49-F238E27FC236}">
                <a16:creationId xmlns:a16="http://schemas.microsoft.com/office/drawing/2014/main" id="{344E0202-B7C4-D547-6DB7-1AEAE9EE1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82257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4" name="Line 99">
            <a:extLst>
              <a:ext uri="{FF2B5EF4-FFF2-40B4-BE49-F238E27FC236}">
                <a16:creationId xmlns:a16="http://schemas.microsoft.com/office/drawing/2014/main" id="{181FFAD8-C91F-2929-80A7-F5CB43DAE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82416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5" name="Line 100">
            <a:extLst>
              <a:ext uri="{FF2B5EF4-FFF2-40B4-BE49-F238E27FC236}">
                <a16:creationId xmlns:a16="http://schemas.microsoft.com/office/drawing/2014/main" id="{0C5D92D0-2FCA-40D8-6CCD-7176E3FFA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82575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6" name="Line 101">
            <a:extLst>
              <a:ext uri="{FF2B5EF4-FFF2-40B4-BE49-F238E27FC236}">
                <a16:creationId xmlns:a16="http://schemas.microsoft.com/office/drawing/2014/main" id="{AF29611C-8A77-6491-C288-9A310F0A6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282733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7" name="Line 102">
            <a:extLst>
              <a:ext uri="{FF2B5EF4-FFF2-40B4-BE49-F238E27FC236}">
                <a16:creationId xmlns:a16="http://schemas.microsoft.com/office/drawing/2014/main" id="{B3E006B1-58AA-53CD-05A6-3A16226D0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82892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8" name="Line 103">
            <a:extLst>
              <a:ext uri="{FF2B5EF4-FFF2-40B4-BE49-F238E27FC236}">
                <a16:creationId xmlns:a16="http://schemas.microsoft.com/office/drawing/2014/main" id="{1ED88CE1-F284-8C86-6E1B-13B036C1C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28305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2">
            <a:extLst>
              <a:ext uri="{FF2B5EF4-FFF2-40B4-BE49-F238E27FC236}">
                <a16:creationId xmlns:a16="http://schemas.microsoft.com/office/drawing/2014/main" id="{431A0E02-615F-61DF-457A-BCC6FFC90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9DEEEB-98CB-42BE-8F9B-3AC25FE19F6F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3" name="Rectangle 114">
            <a:extLst>
              <a:ext uri="{FF2B5EF4-FFF2-40B4-BE49-F238E27FC236}">
                <a16:creationId xmlns:a16="http://schemas.microsoft.com/office/drawing/2014/main" id="{1012833A-031B-324C-6E17-A2DEA1E2F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…Emulated Using TCP “Segments”</a:t>
            </a:r>
          </a:p>
        </p:txBody>
      </p:sp>
      <p:grpSp>
        <p:nvGrpSpPr>
          <p:cNvPr id="20484" name="Group 3">
            <a:extLst>
              <a:ext uri="{FF2B5EF4-FFF2-40B4-BE49-F238E27FC236}">
                <a16:creationId xmlns:a16="http://schemas.microsoft.com/office/drawing/2014/main" id="{8427D8C7-DC4E-C069-354D-555F916AB05F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128838"/>
            <a:ext cx="5029200" cy="609600"/>
            <a:chOff x="912" y="1104"/>
            <a:chExt cx="3648" cy="384"/>
          </a:xfrm>
        </p:grpSpPr>
        <p:sp>
          <p:nvSpPr>
            <p:cNvPr id="20591" name="Line 4">
              <a:extLst>
                <a:ext uri="{FF2B5EF4-FFF2-40B4-BE49-F238E27FC236}">
                  <a16:creationId xmlns:a16="http://schemas.microsoft.com/office/drawing/2014/main" id="{4E454260-97F9-84DF-9115-E91D7305A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Line 5">
              <a:extLst>
                <a:ext uri="{FF2B5EF4-FFF2-40B4-BE49-F238E27FC236}">
                  <a16:creationId xmlns:a16="http://schemas.microsoft.com/office/drawing/2014/main" id="{CADB50E1-A9A8-7C3F-23FA-8AAA72D1F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" name="Line 6">
              <a:extLst>
                <a:ext uri="{FF2B5EF4-FFF2-40B4-BE49-F238E27FC236}">
                  <a16:creationId xmlns:a16="http://schemas.microsoft.com/office/drawing/2014/main" id="{F54E6B7B-C4E5-079A-B270-28EE015F7B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4" name="Line 7">
              <a:extLst>
                <a:ext uri="{FF2B5EF4-FFF2-40B4-BE49-F238E27FC236}">
                  <a16:creationId xmlns:a16="http://schemas.microsoft.com/office/drawing/2014/main" id="{17CE4045-73E9-A879-2CC3-10F9FD280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5" name="Line 8">
            <a:extLst>
              <a:ext uri="{FF2B5EF4-FFF2-40B4-BE49-F238E27FC236}">
                <a16:creationId xmlns:a16="http://schemas.microsoft.com/office/drawing/2014/main" id="{99BAB150-9DB6-45CB-7F60-BBBA1B418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9">
            <a:extLst>
              <a:ext uri="{FF2B5EF4-FFF2-40B4-BE49-F238E27FC236}">
                <a16:creationId xmlns:a16="http://schemas.microsoft.com/office/drawing/2014/main" id="{00785D22-6470-B130-E138-9BCD01FCB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10">
            <a:extLst>
              <a:ext uri="{FF2B5EF4-FFF2-40B4-BE49-F238E27FC236}">
                <a16:creationId xmlns:a16="http://schemas.microsoft.com/office/drawing/2014/main" id="{A80BAADB-2185-97CA-DF90-7DAC39E2D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11">
            <a:extLst>
              <a:ext uri="{FF2B5EF4-FFF2-40B4-BE49-F238E27FC236}">
                <a16:creationId xmlns:a16="http://schemas.microsoft.com/office/drawing/2014/main" id="{49755415-F906-B74C-E34D-332151EE4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12">
            <a:extLst>
              <a:ext uri="{FF2B5EF4-FFF2-40B4-BE49-F238E27FC236}">
                <a16:creationId xmlns:a16="http://schemas.microsoft.com/office/drawing/2014/main" id="{3CFBC5D6-0BE7-5E90-26D7-ECCC8C116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13">
            <a:extLst>
              <a:ext uri="{FF2B5EF4-FFF2-40B4-BE49-F238E27FC236}">
                <a16:creationId xmlns:a16="http://schemas.microsoft.com/office/drawing/2014/main" id="{EFDDE3B9-B8FD-D2F6-81BA-93DD0CE37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14">
            <a:extLst>
              <a:ext uri="{FF2B5EF4-FFF2-40B4-BE49-F238E27FC236}">
                <a16:creationId xmlns:a16="http://schemas.microsoft.com/office/drawing/2014/main" id="{CAB42FCF-CC03-1A19-F475-E06BCEB0B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15">
            <a:extLst>
              <a:ext uri="{FF2B5EF4-FFF2-40B4-BE49-F238E27FC236}">
                <a16:creationId xmlns:a16="http://schemas.microsoft.com/office/drawing/2014/main" id="{F60BD07C-23D6-2EDA-F96E-D279DF276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16">
            <a:extLst>
              <a:ext uri="{FF2B5EF4-FFF2-40B4-BE49-F238E27FC236}">
                <a16:creationId xmlns:a16="http://schemas.microsoft.com/office/drawing/2014/main" id="{A74D4041-5C6B-4FFA-47AC-E07720CF6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4" name="Line 17">
            <a:extLst>
              <a:ext uri="{FF2B5EF4-FFF2-40B4-BE49-F238E27FC236}">
                <a16:creationId xmlns:a16="http://schemas.microsoft.com/office/drawing/2014/main" id="{F6D4DA89-9C0C-0604-A8BE-BBDE55B63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5" name="Line 18">
            <a:extLst>
              <a:ext uri="{FF2B5EF4-FFF2-40B4-BE49-F238E27FC236}">
                <a16:creationId xmlns:a16="http://schemas.microsoft.com/office/drawing/2014/main" id="{34A6304E-29EA-5D85-159B-718F1C042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6" name="Line 19">
            <a:extLst>
              <a:ext uri="{FF2B5EF4-FFF2-40B4-BE49-F238E27FC236}">
                <a16:creationId xmlns:a16="http://schemas.microsoft.com/office/drawing/2014/main" id="{A69497CF-9916-C45F-9E5C-FE58D6B17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Line 20">
            <a:extLst>
              <a:ext uri="{FF2B5EF4-FFF2-40B4-BE49-F238E27FC236}">
                <a16:creationId xmlns:a16="http://schemas.microsoft.com/office/drawing/2014/main" id="{F83690A3-35E7-DA76-8686-D9467DC6F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Line 21">
            <a:extLst>
              <a:ext uri="{FF2B5EF4-FFF2-40B4-BE49-F238E27FC236}">
                <a16:creationId xmlns:a16="http://schemas.microsoft.com/office/drawing/2014/main" id="{CE02705E-C33D-CA36-F4CC-1857B940A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Line 22">
            <a:extLst>
              <a:ext uri="{FF2B5EF4-FFF2-40B4-BE49-F238E27FC236}">
                <a16:creationId xmlns:a16="http://schemas.microsoft.com/office/drawing/2014/main" id="{9179005F-4259-204C-7AE9-05DDBF079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Line 23">
            <a:extLst>
              <a:ext uri="{FF2B5EF4-FFF2-40B4-BE49-F238E27FC236}">
                <a16:creationId xmlns:a16="http://schemas.microsoft.com/office/drawing/2014/main" id="{4CACD5AA-016D-5334-1AF7-FEFF1DDB0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Line 24">
            <a:extLst>
              <a:ext uri="{FF2B5EF4-FFF2-40B4-BE49-F238E27FC236}">
                <a16:creationId xmlns:a16="http://schemas.microsoft.com/office/drawing/2014/main" id="{D9E06D94-CDF1-9BB4-81DD-D48C17AC8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2" name="Line 25">
            <a:extLst>
              <a:ext uri="{FF2B5EF4-FFF2-40B4-BE49-F238E27FC236}">
                <a16:creationId xmlns:a16="http://schemas.microsoft.com/office/drawing/2014/main" id="{C7B97646-2CFF-65FC-1F72-A57649170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3" name="Line 26">
            <a:extLst>
              <a:ext uri="{FF2B5EF4-FFF2-40B4-BE49-F238E27FC236}">
                <a16:creationId xmlns:a16="http://schemas.microsoft.com/office/drawing/2014/main" id="{829FB6E0-F59C-3CBD-EB71-1F06D8754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4" name="Line 27">
            <a:extLst>
              <a:ext uri="{FF2B5EF4-FFF2-40B4-BE49-F238E27FC236}">
                <a16:creationId xmlns:a16="http://schemas.microsoft.com/office/drawing/2014/main" id="{3C091006-F84E-C678-4A02-9E8FC3D41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5" name="Line 28">
            <a:extLst>
              <a:ext uri="{FF2B5EF4-FFF2-40B4-BE49-F238E27FC236}">
                <a16:creationId xmlns:a16="http://schemas.microsoft.com/office/drawing/2014/main" id="{F52DBF0F-10FF-2520-7B5C-02FDCC2E7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6" name="Line 29">
            <a:extLst>
              <a:ext uri="{FF2B5EF4-FFF2-40B4-BE49-F238E27FC236}">
                <a16:creationId xmlns:a16="http://schemas.microsoft.com/office/drawing/2014/main" id="{E9D138CD-FAE0-58AA-B960-57FCB3745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7" name="Line 30">
            <a:extLst>
              <a:ext uri="{FF2B5EF4-FFF2-40B4-BE49-F238E27FC236}">
                <a16:creationId xmlns:a16="http://schemas.microsoft.com/office/drawing/2014/main" id="{FB19EEA0-899A-A78B-4DA6-17FDEE2A5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8" name="Line 31">
            <a:extLst>
              <a:ext uri="{FF2B5EF4-FFF2-40B4-BE49-F238E27FC236}">
                <a16:creationId xmlns:a16="http://schemas.microsoft.com/office/drawing/2014/main" id="{CE38CA62-2398-629E-300D-BC934B6CCC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9" name="Line 32">
            <a:extLst>
              <a:ext uri="{FF2B5EF4-FFF2-40B4-BE49-F238E27FC236}">
                <a16:creationId xmlns:a16="http://schemas.microsoft.com/office/drawing/2014/main" id="{A56543CA-7DF4-3F12-5201-B80AB1E4B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0" name="Line 33">
            <a:extLst>
              <a:ext uri="{FF2B5EF4-FFF2-40B4-BE49-F238E27FC236}">
                <a16:creationId xmlns:a16="http://schemas.microsoft.com/office/drawing/2014/main" id="{45869395-92CB-4A3B-E207-C08EB6774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1" name="Line 34">
            <a:extLst>
              <a:ext uri="{FF2B5EF4-FFF2-40B4-BE49-F238E27FC236}">
                <a16:creationId xmlns:a16="http://schemas.microsoft.com/office/drawing/2014/main" id="{C2C59EF2-5325-C0E6-CA5A-865413B40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2" name="Line 35">
            <a:extLst>
              <a:ext uri="{FF2B5EF4-FFF2-40B4-BE49-F238E27FC236}">
                <a16:creationId xmlns:a16="http://schemas.microsoft.com/office/drawing/2014/main" id="{269AC9BF-26D3-4EC4-50B8-3B42AC9DC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3" name="Line 36">
            <a:extLst>
              <a:ext uri="{FF2B5EF4-FFF2-40B4-BE49-F238E27FC236}">
                <a16:creationId xmlns:a16="http://schemas.microsoft.com/office/drawing/2014/main" id="{8A2A1735-DCD4-B292-E86F-7A0A5D29F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4" name="Line 37">
            <a:extLst>
              <a:ext uri="{FF2B5EF4-FFF2-40B4-BE49-F238E27FC236}">
                <a16:creationId xmlns:a16="http://schemas.microsoft.com/office/drawing/2014/main" id="{974A573A-9EFA-B611-4CB2-7810E1CC4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5" name="Line 38">
            <a:extLst>
              <a:ext uri="{FF2B5EF4-FFF2-40B4-BE49-F238E27FC236}">
                <a16:creationId xmlns:a16="http://schemas.microsoft.com/office/drawing/2014/main" id="{97D228B2-B617-8DF9-633E-C91216EBF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6" name="Line 39">
            <a:extLst>
              <a:ext uri="{FF2B5EF4-FFF2-40B4-BE49-F238E27FC236}">
                <a16:creationId xmlns:a16="http://schemas.microsoft.com/office/drawing/2014/main" id="{834C05B8-2AB8-A622-F57A-7B6898457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7" name="Line 40">
            <a:extLst>
              <a:ext uri="{FF2B5EF4-FFF2-40B4-BE49-F238E27FC236}">
                <a16:creationId xmlns:a16="http://schemas.microsoft.com/office/drawing/2014/main" id="{8325DD0D-5DD0-BB08-06BB-6DAC4EA2B1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8" name="Text Box 41">
            <a:extLst>
              <a:ext uri="{FF2B5EF4-FFF2-40B4-BE49-F238E27FC236}">
                <a16:creationId xmlns:a16="http://schemas.microsoft.com/office/drawing/2014/main" id="{8A63ECD7-A3A3-C1FA-F278-3E89FF1B8E49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243806" y="2283619"/>
            <a:ext cx="5873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0</a:t>
            </a:r>
          </a:p>
        </p:txBody>
      </p:sp>
      <p:sp>
        <p:nvSpPr>
          <p:cNvPr id="20519" name="Text Box 42">
            <a:extLst>
              <a:ext uri="{FF2B5EF4-FFF2-40B4-BE49-F238E27FC236}">
                <a16:creationId xmlns:a16="http://schemas.microsoft.com/office/drawing/2014/main" id="{998A3948-1409-5555-09AB-5787FDB9B512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396206" y="2283619"/>
            <a:ext cx="5873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1</a:t>
            </a:r>
          </a:p>
        </p:txBody>
      </p:sp>
      <p:sp>
        <p:nvSpPr>
          <p:cNvPr id="20520" name="Text Box 43">
            <a:extLst>
              <a:ext uri="{FF2B5EF4-FFF2-40B4-BE49-F238E27FC236}">
                <a16:creationId xmlns:a16="http://schemas.microsoft.com/office/drawing/2014/main" id="{4C229362-9BFF-60DD-0D57-0AA78D04AE1D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550194" y="2285207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2</a:t>
            </a:r>
          </a:p>
        </p:txBody>
      </p:sp>
      <p:sp>
        <p:nvSpPr>
          <p:cNvPr id="20521" name="Text Box 44">
            <a:extLst>
              <a:ext uri="{FF2B5EF4-FFF2-40B4-BE49-F238E27FC236}">
                <a16:creationId xmlns:a16="http://schemas.microsoft.com/office/drawing/2014/main" id="{ECC0D8A1-B1C9-5E38-41DF-FFF47AD46CA9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1702594" y="2285207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3</a:t>
            </a:r>
          </a:p>
        </p:txBody>
      </p:sp>
      <p:sp>
        <p:nvSpPr>
          <p:cNvPr id="20522" name="Line 45">
            <a:extLst>
              <a:ext uri="{FF2B5EF4-FFF2-40B4-BE49-F238E27FC236}">
                <a16:creationId xmlns:a16="http://schemas.microsoft.com/office/drawing/2014/main" id="{3A5D198A-03D7-E865-9E80-0662178BD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523" name="Group 46">
            <a:extLst>
              <a:ext uri="{FF2B5EF4-FFF2-40B4-BE49-F238E27FC236}">
                <a16:creationId xmlns:a16="http://schemas.microsoft.com/office/drawing/2014/main" id="{32B4B017-550D-486E-9500-2ED89E5AEA3D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20587" name="Line 47">
              <a:extLst>
                <a:ext uri="{FF2B5EF4-FFF2-40B4-BE49-F238E27FC236}">
                  <a16:creationId xmlns:a16="http://schemas.microsoft.com/office/drawing/2014/main" id="{F4D8A20C-E457-4B93-9739-A3D8DED80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Line 48">
              <a:extLst>
                <a:ext uri="{FF2B5EF4-FFF2-40B4-BE49-F238E27FC236}">
                  <a16:creationId xmlns:a16="http://schemas.microsoft.com/office/drawing/2014/main" id="{F2FCB670-FD5A-764C-3071-7EE7EE72C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Line 49">
              <a:extLst>
                <a:ext uri="{FF2B5EF4-FFF2-40B4-BE49-F238E27FC236}">
                  <a16:creationId xmlns:a16="http://schemas.microsoft.com/office/drawing/2014/main" id="{28F5C79A-DADB-CC2D-270B-D57E1FBA76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Line 50">
              <a:extLst>
                <a:ext uri="{FF2B5EF4-FFF2-40B4-BE49-F238E27FC236}">
                  <a16:creationId xmlns:a16="http://schemas.microsoft.com/office/drawing/2014/main" id="{0819C2D3-1C52-086B-0AE8-A25D9515E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24" name="Line 51">
            <a:extLst>
              <a:ext uri="{FF2B5EF4-FFF2-40B4-BE49-F238E27FC236}">
                <a16:creationId xmlns:a16="http://schemas.microsoft.com/office/drawing/2014/main" id="{B34CB4C0-CAD0-B2B1-FED7-1EF9D7532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5" name="Line 52">
            <a:extLst>
              <a:ext uri="{FF2B5EF4-FFF2-40B4-BE49-F238E27FC236}">
                <a16:creationId xmlns:a16="http://schemas.microsoft.com/office/drawing/2014/main" id="{2AD06FD3-B22B-2AB4-0C84-50A2357F2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6" name="Line 53">
            <a:extLst>
              <a:ext uri="{FF2B5EF4-FFF2-40B4-BE49-F238E27FC236}">
                <a16:creationId xmlns:a16="http://schemas.microsoft.com/office/drawing/2014/main" id="{85A080C4-52E5-31CD-9731-01FE256FC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7" name="Line 54">
            <a:extLst>
              <a:ext uri="{FF2B5EF4-FFF2-40B4-BE49-F238E27FC236}">
                <a16:creationId xmlns:a16="http://schemas.microsoft.com/office/drawing/2014/main" id="{04AED86C-F12C-4C0D-C828-4373C6336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8" name="Line 55">
            <a:extLst>
              <a:ext uri="{FF2B5EF4-FFF2-40B4-BE49-F238E27FC236}">
                <a16:creationId xmlns:a16="http://schemas.microsoft.com/office/drawing/2014/main" id="{FAA438A1-48A9-31EE-A42D-FD521B94C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9" name="Line 56">
            <a:extLst>
              <a:ext uri="{FF2B5EF4-FFF2-40B4-BE49-F238E27FC236}">
                <a16:creationId xmlns:a16="http://schemas.microsoft.com/office/drawing/2014/main" id="{0C5AB7AA-F68B-CC61-82A7-708633DC9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0" name="Line 57">
            <a:extLst>
              <a:ext uri="{FF2B5EF4-FFF2-40B4-BE49-F238E27FC236}">
                <a16:creationId xmlns:a16="http://schemas.microsoft.com/office/drawing/2014/main" id="{D63F7FED-0671-DC16-0CEC-F39ECEF31D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1" name="Line 58">
            <a:extLst>
              <a:ext uri="{FF2B5EF4-FFF2-40B4-BE49-F238E27FC236}">
                <a16:creationId xmlns:a16="http://schemas.microsoft.com/office/drawing/2014/main" id="{C7EC1ADE-69F5-88B2-DA8C-95E97A969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2" name="Line 59">
            <a:extLst>
              <a:ext uri="{FF2B5EF4-FFF2-40B4-BE49-F238E27FC236}">
                <a16:creationId xmlns:a16="http://schemas.microsoft.com/office/drawing/2014/main" id="{BC183A44-FFBD-4485-BDB5-1930C75072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3" name="Line 60">
            <a:extLst>
              <a:ext uri="{FF2B5EF4-FFF2-40B4-BE49-F238E27FC236}">
                <a16:creationId xmlns:a16="http://schemas.microsoft.com/office/drawing/2014/main" id="{C947B32D-2BDF-DA0A-6C9A-BF862828B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4" name="Line 61">
            <a:extLst>
              <a:ext uri="{FF2B5EF4-FFF2-40B4-BE49-F238E27FC236}">
                <a16:creationId xmlns:a16="http://schemas.microsoft.com/office/drawing/2014/main" id="{31F63C77-AF37-CAD5-AD9C-46C7C8DE3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5" name="Line 62">
            <a:extLst>
              <a:ext uri="{FF2B5EF4-FFF2-40B4-BE49-F238E27FC236}">
                <a16:creationId xmlns:a16="http://schemas.microsoft.com/office/drawing/2014/main" id="{8F0BF33C-F736-E58D-1FB7-F3DF0B966F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6" name="Line 63">
            <a:extLst>
              <a:ext uri="{FF2B5EF4-FFF2-40B4-BE49-F238E27FC236}">
                <a16:creationId xmlns:a16="http://schemas.microsoft.com/office/drawing/2014/main" id="{CC4325A5-B9C2-8CBF-4B14-3973F126E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7" name="Line 64">
            <a:extLst>
              <a:ext uri="{FF2B5EF4-FFF2-40B4-BE49-F238E27FC236}">
                <a16:creationId xmlns:a16="http://schemas.microsoft.com/office/drawing/2014/main" id="{F4ED6B01-0476-C8D7-FC9F-F37C4D9F1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8" name="Line 65">
            <a:extLst>
              <a:ext uri="{FF2B5EF4-FFF2-40B4-BE49-F238E27FC236}">
                <a16:creationId xmlns:a16="http://schemas.microsoft.com/office/drawing/2014/main" id="{F2FDD096-3FD0-98C2-9410-96F35BF80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9" name="Line 66">
            <a:extLst>
              <a:ext uri="{FF2B5EF4-FFF2-40B4-BE49-F238E27FC236}">
                <a16:creationId xmlns:a16="http://schemas.microsoft.com/office/drawing/2014/main" id="{1F85ED0F-FAA6-34CF-745E-86FC0F145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0" name="Line 67">
            <a:extLst>
              <a:ext uri="{FF2B5EF4-FFF2-40B4-BE49-F238E27FC236}">
                <a16:creationId xmlns:a16="http://schemas.microsoft.com/office/drawing/2014/main" id="{2E015DB4-2854-7957-B778-229199CB0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1" name="Line 68">
            <a:extLst>
              <a:ext uri="{FF2B5EF4-FFF2-40B4-BE49-F238E27FC236}">
                <a16:creationId xmlns:a16="http://schemas.microsoft.com/office/drawing/2014/main" id="{353BC1F9-D9F7-6F68-932B-4FB85CCA3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2" name="Line 69">
            <a:extLst>
              <a:ext uri="{FF2B5EF4-FFF2-40B4-BE49-F238E27FC236}">
                <a16:creationId xmlns:a16="http://schemas.microsoft.com/office/drawing/2014/main" id="{361A3B7F-F0E5-AD73-0367-6E22276FC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3" name="Line 70">
            <a:extLst>
              <a:ext uri="{FF2B5EF4-FFF2-40B4-BE49-F238E27FC236}">
                <a16:creationId xmlns:a16="http://schemas.microsoft.com/office/drawing/2014/main" id="{8A2E31A9-3F32-708A-42E4-6D12D21CC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4" name="Line 71">
            <a:extLst>
              <a:ext uri="{FF2B5EF4-FFF2-40B4-BE49-F238E27FC236}">
                <a16:creationId xmlns:a16="http://schemas.microsoft.com/office/drawing/2014/main" id="{C75CB138-C7B1-E4C1-14F0-D67CD98C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5" name="Line 72">
            <a:extLst>
              <a:ext uri="{FF2B5EF4-FFF2-40B4-BE49-F238E27FC236}">
                <a16:creationId xmlns:a16="http://schemas.microsoft.com/office/drawing/2014/main" id="{2794D7F5-D20C-9C2C-866F-43A797B86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6" name="Line 73">
            <a:extLst>
              <a:ext uri="{FF2B5EF4-FFF2-40B4-BE49-F238E27FC236}">
                <a16:creationId xmlns:a16="http://schemas.microsoft.com/office/drawing/2014/main" id="{79FB6191-9852-57D9-978D-9D446A5A66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7" name="Line 74">
            <a:extLst>
              <a:ext uri="{FF2B5EF4-FFF2-40B4-BE49-F238E27FC236}">
                <a16:creationId xmlns:a16="http://schemas.microsoft.com/office/drawing/2014/main" id="{A30EF6F3-4708-7CFF-D0F1-58A5A5E65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8" name="Line 75">
            <a:extLst>
              <a:ext uri="{FF2B5EF4-FFF2-40B4-BE49-F238E27FC236}">
                <a16:creationId xmlns:a16="http://schemas.microsoft.com/office/drawing/2014/main" id="{94A3BE13-BC4D-D46C-E647-6FAA6E52C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9" name="Line 76">
            <a:extLst>
              <a:ext uri="{FF2B5EF4-FFF2-40B4-BE49-F238E27FC236}">
                <a16:creationId xmlns:a16="http://schemas.microsoft.com/office/drawing/2014/main" id="{0A2B383A-E621-39C3-A3E3-D481F4A61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0" name="Line 77">
            <a:extLst>
              <a:ext uri="{FF2B5EF4-FFF2-40B4-BE49-F238E27FC236}">
                <a16:creationId xmlns:a16="http://schemas.microsoft.com/office/drawing/2014/main" id="{8C7C1773-2207-494C-1175-E22FFE7C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1" name="Line 78">
            <a:extLst>
              <a:ext uri="{FF2B5EF4-FFF2-40B4-BE49-F238E27FC236}">
                <a16:creationId xmlns:a16="http://schemas.microsoft.com/office/drawing/2014/main" id="{293727D4-4BE0-1F5D-779B-A579A5193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2" name="Line 79">
            <a:extLst>
              <a:ext uri="{FF2B5EF4-FFF2-40B4-BE49-F238E27FC236}">
                <a16:creationId xmlns:a16="http://schemas.microsoft.com/office/drawing/2014/main" id="{C8357553-8484-5CB6-F003-89E809562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3" name="Line 80">
            <a:extLst>
              <a:ext uri="{FF2B5EF4-FFF2-40B4-BE49-F238E27FC236}">
                <a16:creationId xmlns:a16="http://schemas.microsoft.com/office/drawing/2014/main" id="{F30544C8-0E13-1356-ADB7-BF5FE5A37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4" name="Line 81">
            <a:extLst>
              <a:ext uri="{FF2B5EF4-FFF2-40B4-BE49-F238E27FC236}">
                <a16:creationId xmlns:a16="http://schemas.microsoft.com/office/drawing/2014/main" id="{27DC2E42-72E6-30EC-C52A-975A868F55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5" name="Line 82">
            <a:extLst>
              <a:ext uri="{FF2B5EF4-FFF2-40B4-BE49-F238E27FC236}">
                <a16:creationId xmlns:a16="http://schemas.microsoft.com/office/drawing/2014/main" id="{F106D597-7D9E-FA23-616A-FCAAAE8D50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6" name="Line 83">
            <a:extLst>
              <a:ext uri="{FF2B5EF4-FFF2-40B4-BE49-F238E27FC236}">
                <a16:creationId xmlns:a16="http://schemas.microsoft.com/office/drawing/2014/main" id="{671752B6-CBFB-1CBE-84DA-CDAABC731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7" name="Text Box 84">
            <a:extLst>
              <a:ext uri="{FF2B5EF4-FFF2-40B4-BE49-F238E27FC236}">
                <a16:creationId xmlns:a16="http://schemas.microsoft.com/office/drawing/2014/main" id="{3306C328-8FE6-7C54-F9BB-8F63A27041E0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5407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0</a:t>
            </a:r>
          </a:p>
        </p:txBody>
      </p:sp>
      <p:sp>
        <p:nvSpPr>
          <p:cNvPr id="20558" name="Text Box 85">
            <a:extLst>
              <a:ext uri="{FF2B5EF4-FFF2-40B4-BE49-F238E27FC236}">
                <a16:creationId xmlns:a16="http://schemas.microsoft.com/office/drawing/2014/main" id="{7CAF11E9-4AED-2D1F-B53E-068CA29725D8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6931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1</a:t>
            </a:r>
          </a:p>
        </p:txBody>
      </p:sp>
      <p:sp>
        <p:nvSpPr>
          <p:cNvPr id="20559" name="Text Box 86">
            <a:extLst>
              <a:ext uri="{FF2B5EF4-FFF2-40B4-BE49-F238E27FC236}">
                <a16:creationId xmlns:a16="http://schemas.microsoft.com/office/drawing/2014/main" id="{321040BF-E891-2B57-340F-5A1FB16204E1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8455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2</a:t>
            </a:r>
          </a:p>
        </p:txBody>
      </p:sp>
      <p:sp>
        <p:nvSpPr>
          <p:cNvPr id="20560" name="Text Box 87">
            <a:extLst>
              <a:ext uri="{FF2B5EF4-FFF2-40B4-BE49-F238E27FC236}">
                <a16:creationId xmlns:a16="http://schemas.microsoft.com/office/drawing/2014/main" id="{C8BA77E2-060A-FDF0-07B9-55719D5FC7C2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997994" y="5490369"/>
            <a:ext cx="587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3</a:t>
            </a:r>
          </a:p>
        </p:txBody>
      </p:sp>
      <p:sp>
        <p:nvSpPr>
          <p:cNvPr id="20561" name="Line 88">
            <a:extLst>
              <a:ext uri="{FF2B5EF4-FFF2-40B4-BE49-F238E27FC236}">
                <a16:creationId xmlns:a16="http://schemas.microsoft.com/office/drawing/2014/main" id="{655E6E03-09A5-0845-D266-799208955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2" name="Line 89">
            <a:extLst>
              <a:ext uri="{FF2B5EF4-FFF2-40B4-BE49-F238E27FC236}">
                <a16:creationId xmlns:a16="http://schemas.microsoft.com/office/drawing/2014/main" id="{8E528E6E-6D9C-1C1B-6A37-8BA567FA5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3" name="Text Box 90">
            <a:extLst>
              <a:ext uri="{FF2B5EF4-FFF2-40B4-BE49-F238E27FC236}">
                <a16:creationId xmlns:a16="http://schemas.microsoft.com/office/drawing/2014/main" id="{B13C622D-5D35-72D7-CE7D-51AB1712C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00200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Comic Sans MS" panose="030F0702030302020204" pitchFamily="66" charset="0"/>
              </a:rPr>
              <a:t>Host A</a:t>
            </a:r>
          </a:p>
        </p:txBody>
      </p:sp>
      <p:sp>
        <p:nvSpPr>
          <p:cNvPr id="20564" name="Text Box 91">
            <a:extLst>
              <a:ext uri="{FF2B5EF4-FFF2-40B4-BE49-F238E27FC236}">
                <a16:creationId xmlns:a16="http://schemas.microsoft.com/office/drawing/2014/main" id="{D3BBA202-E087-4A8F-21E4-8E821EAD5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05363"/>
            <a:ext cx="115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Comic Sans MS" panose="030F0702030302020204" pitchFamily="66" charset="0"/>
              </a:rPr>
              <a:t>Host B</a:t>
            </a:r>
          </a:p>
        </p:txBody>
      </p:sp>
      <p:sp>
        <p:nvSpPr>
          <p:cNvPr id="20565" name="Rectangle 92">
            <a:extLst>
              <a:ext uri="{FF2B5EF4-FFF2-40B4-BE49-F238E27FC236}">
                <a16:creationId xmlns:a16="http://schemas.microsoft.com/office/drawing/2014/main" id="{2E27CCCC-A055-532D-A09C-ECE6CA635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2004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0566" name="Text Box 93">
            <a:extLst>
              <a:ext uri="{FF2B5EF4-FFF2-40B4-BE49-F238E27FC236}">
                <a16:creationId xmlns:a16="http://schemas.microsoft.com/office/drawing/2014/main" id="{67946845-CE6F-099C-12AE-B5FAC7B3E813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2272506" y="2348707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80</a:t>
            </a:r>
          </a:p>
        </p:txBody>
      </p:sp>
      <p:sp>
        <p:nvSpPr>
          <p:cNvPr id="20567" name="Line 94">
            <a:extLst>
              <a:ext uri="{FF2B5EF4-FFF2-40B4-BE49-F238E27FC236}">
                <a16:creationId xmlns:a16="http://schemas.microsoft.com/office/drawing/2014/main" id="{A8919BE7-75E2-404C-AC7F-37F364CA7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8" name="Rectangle 95">
            <a:extLst>
              <a:ext uri="{FF2B5EF4-FFF2-40B4-BE49-F238E27FC236}">
                <a16:creationId xmlns:a16="http://schemas.microsoft.com/office/drawing/2014/main" id="{98460830-2A30-2E2E-DCAE-42B5294B4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958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0569" name="Line 96">
            <a:extLst>
              <a:ext uri="{FF2B5EF4-FFF2-40B4-BE49-F238E27FC236}">
                <a16:creationId xmlns:a16="http://schemas.microsoft.com/office/drawing/2014/main" id="{31ED0466-4071-089C-E85B-3D4E58842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0" name="Line 97">
            <a:extLst>
              <a:ext uri="{FF2B5EF4-FFF2-40B4-BE49-F238E27FC236}">
                <a16:creationId xmlns:a16="http://schemas.microsoft.com/office/drawing/2014/main" id="{C644D3CC-EEF4-4A4D-28CC-5487BBE9F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1" name="Line 98">
            <a:extLst>
              <a:ext uri="{FF2B5EF4-FFF2-40B4-BE49-F238E27FC236}">
                <a16:creationId xmlns:a16="http://schemas.microsoft.com/office/drawing/2014/main" id="{D72D7A86-DD6A-5029-76E8-CC2EFF604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2" name="Line 99">
            <a:extLst>
              <a:ext uri="{FF2B5EF4-FFF2-40B4-BE49-F238E27FC236}">
                <a16:creationId xmlns:a16="http://schemas.microsoft.com/office/drawing/2014/main" id="{74A66633-DC48-6B6F-1022-D182B7104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3" name="Line 100">
            <a:extLst>
              <a:ext uri="{FF2B5EF4-FFF2-40B4-BE49-F238E27FC236}">
                <a16:creationId xmlns:a16="http://schemas.microsoft.com/office/drawing/2014/main" id="{0B7D2F05-54FD-DF4A-91DB-AB7445C32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4" name="Line 101">
            <a:extLst>
              <a:ext uri="{FF2B5EF4-FFF2-40B4-BE49-F238E27FC236}">
                <a16:creationId xmlns:a16="http://schemas.microsoft.com/office/drawing/2014/main" id="{36A58C33-C20D-619B-05CE-7DF80435D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5" name="Line 102">
            <a:extLst>
              <a:ext uri="{FF2B5EF4-FFF2-40B4-BE49-F238E27FC236}">
                <a16:creationId xmlns:a16="http://schemas.microsoft.com/office/drawing/2014/main" id="{713C7A50-69C9-44B7-3E98-A7BAB8443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6" name="Line 103">
            <a:extLst>
              <a:ext uri="{FF2B5EF4-FFF2-40B4-BE49-F238E27FC236}">
                <a16:creationId xmlns:a16="http://schemas.microsoft.com/office/drawing/2014/main" id="{06F787DB-65BC-56D2-550C-2F43664EB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967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7" name="Line 104">
            <a:extLst>
              <a:ext uri="{FF2B5EF4-FFF2-40B4-BE49-F238E27FC236}">
                <a16:creationId xmlns:a16="http://schemas.microsoft.com/office/drawing/2014/main" id="{1241486B-81B0-AA74-61E0-D1385549A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8" name="Line 105">
            <a:extLst>
              <a:ext uri="{FF2B5EF4-FFF2-40B4-BE49-F238E27FC236}">
                <a16:creationId xmlns:a16="http://schemas.microsoft.com/office/drawing/2014/main" id="{010586D5-4864-2D5D-EA5F-E7707547C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9" name="Line 106">
            <a:extLst>
              <a:ext uri="{FF2B5EF4-FFF2-40B4-BE49-F238E27FC236}">
                <a16:creationId xmlns:a16="http://schemas.microsoft.com/office/drawing/2014/main" id="{1E019CA8-99FC-1616-EA04-560452745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0" name="Line 107">
            <a:extLst>
              <a:ext uri="{FF2B5EF4-FFF2-40B4-BE49-F238E27FC236}">
                <a16:creationId xmlns:a16="http://schemas.microsoft.com/office/drawing/2014/main" id="{2CEBE14C-9EB3-305C-7A30-3D59ABB05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1" name="Line 108">
            <a:extLst>
              <a:ext uri="{FF2B5EF4-FFF2-40B4-BE49-F238E27FC236}">
                <a16:creationId xmlns:a16="http://schemas.microsoft.com/office/drawing/2014/main" id="{96C41301-AEBC-C28A-29CB-F23D313A9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2" name="Line 109">
            <a:extLst>
              <a:ext uri="{FF2B5EF4-FFF2-40B4-BE49-F238E27FC236}">
                <a16:creationId xmlns:a16="http://schemas.microsoft.com/office/drawing/2014/main" id="{F414B0E5-4109-856B-99B5-F247E1F58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1006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3" name="Text Box 110">
            <a:extLst>
              <a:ext uri="{FF2B5EF4-FFF2-40B4-BE49-F238E27FC236}">
                <a16:creationId xmlns:a16="http://schemas.microsoft.com/office/drawing/2014/main" id="{CD56638C-2FF1-1181-D885-C91BC5AEC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3203575"/>
            <a:ext cx="1173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99"/>
                </a:solidFill>
                <a:latin typeface="Comic Sans MS" panose="030F0702030302020204" pitchFamily="66" charset="0"/>
              </a:rPr>
              <a:t>TCP Data</a:t>
            </a:r>
          </a:p>
        </p:txBody>
      </p:sp>
      <p:sp>
        <p:nvSpPr>
          <p:cNvPr id="20584" name="Text Box 111">
            <a:extLst>
              <a:ext uri="{FF2B5EF4-FFF2-40B4-BE49-F238E27FC236}">
                <a16:creationId xmlns:a16="http://schemas.microsoft.com/office/drawing/2014/main" id="{4189DACD-599E-B374-DC45-0EB32DF2D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4513263"/>
            <a:ext cx="1173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99"/>
                </a:solidFill>
                <a:latin typeface="Comic Sans MS" panose="030F0702030302020204" pitchFamily="66" charset="0"/>
              </a:rPr>
              <a:t>TCP Data</a:t>
            </a:r>
          </a:p>
        </p:txBody>
      </p:sp>
      <p:sp>
        <p:nvSpPr>
          <p:cNvPr id="20585" name="Text Box 112">
            <a:extLst>
              <a:ext uri="{FF2B5EF4-FFF2-40B4-BE49-F238E27FC236}">
                <a16:creationId xmlns:a16="http://schemas.microsoft.com/office/drawing/2014/main" id="{65CF368F-56CC-BE8E-D552-ABD99CD8E8FB}"/>
              </a:ext>
            </a:extLst>
          </p:cNvPr>
          <p:cNvSpPr txBox="1">
            <a:spLocks noChangeArrowheads="1"/>
          </p:cNvSpPr>
          <p:nvPr/>
        </p:nvSpPr>
        <p:spPr bwMode="auto">
          <a:xfrm rot="5390887">
            <a:off x="3569494" y="5550694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Byte 80</a:t>
            </a:r>
          </a:p>
        </p:txBody>
      </p:sp>
      <p:sp>
        <p:nvSpPr>
          <p:cNvPr id="924785" name="AutoShape 113">
            <a:extLst>
              <a:ext uri="{FF2B5EF4-FFF2-40B4-BE49-F238E27FC236}">
                <a16:creationId xmlns:a16="http://schemas.microsoft.com/office/drawing/2014/main" id="{41F2E1AF-4EDA-74BA-356A-BFA69232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2890838"/>
            <a:ext cx="4992688" cy="1293812"/>
          </a:xfrm>
          <a:prstGeom prst="wedgeRectCallout">
            <a:avLst>
              <a:gd name="adj1" fmla="val -72481"/>
              <a:gd name="adj2" fmla="val -9875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457200" indent="-457200"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Comic Sans MS" panose="030F0702030302020204" pitchFamily="66" charset="0"/>
              </a:rPr>
              <a:t>Segment sent when: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Segment full (Max Segment Size),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Not full, but times out, or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000" b="0">
                <a:solidFill>
                  <a:schemeClr val="tx1"/>
                </a:solidFill>
                <a:latin typeface="Comic Sans MS" panose="030F0702030302020204" pitchFamily="66" charset="0"/>
              </a:rPr>
              <a:t>“Pushed” by application.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785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2D85B8AF-3A08-B9AB-BA08-0EFFC3909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897DB7-7CC8-4C59-AFB9-CB900B32A1BA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E937EC0-5E23-3842-F188-FFB2880A95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 Segment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684A575-CC24-8791-FC57-7381DD60C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468563"/>
            <a:ext cx="8458200" cy="4237037"/>
          </a:xfrm>
        </p:spPr>
        <p:txBody>
          <a:bodyPr/>
          <a:lstStyle/>
          <a:p>
            <a:r>
              <a:rPr lang="en-US" altLang="en-US"/>
              <a:t>IP packet</a:t>
            </a:r>
          </a:p>
          <a:p>
            <a:pPr lvl="1"/>
            <a:r>
              <a:rPr lang="en-US" altLang="en-US"/>
              <a:t>No bigger than Maximum Transmission Unit (MTU)</a:t>
            </a:r>
          </a:p>
          <a:p>
            <a:pPr lvl="1"/>
            <a:r>
              <a:rPr lang="en-US" altLang="en-US"/>
              <a:t>E.g., up to 1500 bytes on an Ethernet</a:t>
            </a:r>
          </a:p>
          <a:p>
            <a:r>
              <a:rPr lang="en-US" altLang="en-US"/>
              <a:t>TCP packet</a:t>
            </a:r>
          </a:p>
          <a:p>
            <a:pPr lvl="1"/>
            <a:r>
              <a:rPr lang="en-US" altLang="en-US"/>
              <a:t>IP packet with a TCP header and data inside</a:t>
            </a:r>
          </a:p>
          <a:p>
            <a:pPr lvl="1"/>
            <a:r>
              <a:rPr lang="en-US" altLang="en-US"/>
              <a:t>TCP header is typically 20 bytes long</a:t>
            </a:r>
          </a:p>
          <a:p>
            <a:r>
              <a:rPr lang="en-US" altLang="en-US"/>
              <a:t>TCP segment</a:t>
            </a:r>
          </a:p>
          <a:p>
            <a:pPr lvl="1"/>
            <a:r>
              <a:rPr lang="en-US" altLang="en-US"/>
              <a:t>No more than Maximum Segment Size (MSS) bytes</a:t>
            </a:r>
          </a:p>
          <a:p>
            <a:pPr lvl="1"/>
            <a:r>
              <a:rPr lang="en-US" altLang="en-US"/>
              <a:t>E.g., up to 1460 consecutive bytes from the stream</a:t>
            </a: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4972971D-61CC-8182-4B7C-6F264A85C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360488"/>
            <a:ext cx="5029200" cy="685800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4E663855-655F-BB98-9340-AEF0F8CCF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360488"/>
            <a:ext cx="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5" name="Text Box 6">
            <a:extLst>
              <a:ext uri="{FF2B5EF4-FFF2-40B4-BE49-F238E27FC236}">
                <a16:creationId xmlns:a16="http://schemas.microsoft.com/office/drawing/2014/main" id="{E9E931FB-77AB-5A35-D2E0-83F26914E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975" y="1589088"/>
            <a:ext cx="835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Comic Sans MS" panose="030F0702030302020204" pitchFamily="66" charset="0"/>
              </a:rPr>
              <a:t>IP Hdr</a:t>
            </a:r>
          </a:p>
        </p:txBody>
      </p:sp>
      <p:sp>
        <p:nvSpPr>
          <p:cNvPr id="22536" name="Line 7">
            <a:extLst>
              <a:ext uri="{FF2B5EF4-FFF2-40B4-BE49-F238E27FC236}">
                <a16:creationId xmlns:a16="http://schemas.microsoft.com/office/drawing/2014/main" id="{FDFC4989-7054-EA30-AD3A-BAA91C8A0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512888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8178DB15-ED69-290C-648D-DCD46C77F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36688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2538" name="Text Box 9">
            <a:extLst>
              <a:ext uri="{FF2B5EF4-FFF2-40B4-BE49-F238E27FC236}">
                <a16:creationId xmlns:a16="http://schemas.microsoft.com/office/drawing/2014/main" id="{11534514-4EA0-1AB7-DBC5-6E980B53E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328738"/>
            <a:ext cx="912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Comic Sans MS" panose="030F0702030302020204" pitchFamily="66" charset="0"/>
              </a:rPr>
              <a:t>IP Data</a:t>
            </a:r>
          </a:p>
        </p:txBody>
      </p:sp>
      <p:grpSp>
        <p:nvGrpSpPr>
          <p:cNvPr id="22539" name="Group 10">
            <a:extLst>
              <a:ext uri="{FF2B5EF4-FFF2-40B4-BE49-F238E27FC236}">
                <a16:creationId xmlns:a16="http://schemas.microsoft.com/office/drawing/2014/main" id="{805607A2-1D2B-BB22-27E1-AFF6B018247D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589088"/>
            <a:ext cx="3962400" cy="381000"/>
            <a:chOff x="1200" y="1296"/>
            <a:chExt cx="3168" cy="336"/>
          </a:xfrm>
        </p:grpSpPr>
        <p:sp>
          <p:nvSpPr>
            <p:cNvPr id="22542" name="Rectangle 11">
              <a:extLst>
                <a:ext uri="{FF2B5EF4-FFF2-40B4-BE49-F238E27FC236}">
                  <a16:creationId xmlns:a16="http://schemas.microsoft.com/office/drawing/2014/main" id="{D5100787-7233-3A2A-2EF5-CCB089242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296"/>
              <a:ext cx="3168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1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543" name="Line 12">
              <a:extLst>
                <a:ext uri="{FF2B5EF4-FFF2-40B4-BE49-F238E27FC236}">
                  <a16:creationId xmlns:a16="http://schemas.microsoft.com/office/drawing/2014/main" id="{75F596EC-5A16-D8CD-B688-6F7638661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29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40" name="Text Box 13">
            <a:extLst>
              <a:ext uri="{FF2B5EF4-FFF2-40B4-BE49-F238E27FC236}">
                <a16:creationId xmlns:a16="http://schemas.microsoft.com/office/drawing/2014/main" id="{42C59067-5A73-B360-6D3B-1C07C71F3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638300"/>
            <a:ext cx="784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Comic Sans MS" panose="030F0702030302020204" pitchFamily="66" charset="0"/>
              </a:rPr>
              <a:t>TCP Hdr</a:t>
            </a:r>
          </a:p>
        </p:txBody>
      </p:sp>
      <p:sp>
        <p:nvSpPr>
          <p:cNvPr id="22541" name="Text Box 14">
            <a:extLst>
              <a:ext uri="{FF2B5EF4-FFF2-40B4-BE49-F238E27FC236}">
                <a16:creationId xmlns:a16="http://schemas.microsoft.com/office/drawing/2014/main" id="{59C9042F-735A-4E72-18D0-9E7574899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938" y="1638300"/>
            <a:ext cx="15922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chemeClr val="tx1"/>
                </a:solidFill>
                <a:latin typeface="Comic Sans MS" panose="030F0702030302020204" pitchFamily="66" charset="0"/>
              </a:rPr>
              <a:t>TCP Data (segment)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2">
            <a:extLst>
              <a:ext uri="{FF2B5EF4-FFF2-40B4-BE49-F238E27FC236}">
                <a16:creationId xmlns:a16="http://schemas.microsoft.com/office/drawing/2014/main" id="{BA5497E8-9D1E-18CD-5B5D-BCF28D177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93DECA-D792-4237-8888-E1F692BF44BA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7315ED3-F85B-19BC-0751-F2ACCAA00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788" y="2384425"/>
            <a:ext cx="1219200" cy="6096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3556" name="Rectangle 110">
            <a:extLst>
              <a:ext uri="{FF2B5EF4-FFF2-40B4-BE49-F238E27FC236}">
                <a16:creationId xmlns:a16="http://schemas.microsoft.com/office/drawing/2014/main" id="{E7DCBFDD-C6B5-E88C-095E-56CAB5DDE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 Numbers</a:t>
            </a:r>
          </a:p>
        </p:txBody>
      </p:sp>
      <p:grpSp>
        <p:nvGrpSpPr>
          <p:cNvPr id="23557" name="Group 4">
            <a:extLst>
              <a:ext uri="{FF2B5EF4-FFF2-40B4-BE49-F238E27FC236}">
                <a16:creationId xmlns:a16="http://schemas.microsoft.com/office/drawing/2014/main" id="{E7701ED4-BBC1-C681-4F41-66C6015B8219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2379663"/>
            <a:ext cx="5029200" cy="609600"/>
            <a:chOff x="912" y="1104"/>
            <a:chExt cx="3648" cy="384"/>
          </a:xfrm>
        </p:grpSpPr>
        <p:sp>
          <p:nvSpPr>
            <p:cNvPr id="23659" name="Line 5">
              <a:extLst>
                <a:ext uri="{FF2B5EF4-FFF2-40B4-BE49-F238E27FC236}">
                  <a16:creationId xmlns:a16="http://schemas.microsoft.com/office/drawing/2014/main" id="{4904F301-7BF5-ECD0-7037-CC0F9E291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Line 6">
              <a:extLst>
                <a:ext uri="{FF2B5EF4-FFF2-40B4-BE49-F238E27FC236}">
                  <a16:creationId xmlns:a16="http://schemas.microsoft.com/office/drawing/2014/main" id="{1F7E81CE-76E5-6457-088D-5710ECF15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Line 7">
              <a:extLst>
                <a:ext uri="{FF2B5EF4-FFF2-40B4-BE49-F238E27FC236}">
                  <a16:creationId xmlns:a16="http://schemas.microsoft.com/office/drawing/2014/main" id="{11314F3F-A58B-B292-D7BF-0C10EFD0BB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Line 8">
              <a:extLst>
                <a:ext uri="{FF2B5EF4-FFF2-40B4-BE49-F238E27FC236}">
                  <a16:creationId xmlns:a16="http://schemas.microsoft.com/office/drawing/2014/main" id="{BA9705B2-CE10-0810-3FB6-5185615C76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58" name="Line 9">
            <a:extLst>
              <a:ext uri="{FF2B5EF4-FFF2-40B4-BE49-F238E27FC236}">
                <a16:creationId xmlns:a16="http://schemas.microsoft.com/office/drawing/2014/main" id="{4AB471A5-9DF8-B46D-0381-C6752FBF2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9" name="Line 10">
            <a:extLst>
              <a:ext uri="{FF2B5EF4-FFF2-40B4-BE49-F238E27FC236}">
                <a16:creationId xmlns:a16="http://schemas.microsoft.com/office/drawing/2014/main" id="{A3562A52-E5C6-C644-6AB3-07DB7AE1C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Line 11">
            <a:extLst>
              <a:ext uri="{FF2B5EF4-FFF2-40B4-BE49-F238E27FC236}">
                <a16:creationId xmlns:a16="http://schemas.microsoft.com/office/drawing/2014/main" id="{0192F90F-3CD4-EF2A-700F-B6DD33D4F6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Line 12">
            <a:extLst>
              <a:ext uri="{FF2B5EF4-FFF2-40B4-BE49-F238E27FC236}">
                <a16:creationId xmlns:a16="http://schemas.microsoft.com/office/drawing/2014/main" id="{1F0B36E3-4443-D579-A1DF-65E30BD2C2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2" name="Line 13">
            <a:extLst>
              <a:ext uri="{FF2B5EF4-FFF2-40B4-BE49-F238E27FC236}">
                <a16:creationId xmlns:a16="http://schemas.microsoft.com/office/drawing/2014/main" id="{BA99479B-19BB-F957-5737-57E40DF3A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Line 14">
            <a:extLst>
              <a:ext uri="{FF2B5EF4-FFF2-40B4-BE49-F238E27FC236}">
                <a16:creationId xmlns:a16="http://schemas.microsoft.com/office/drawing/2014/main" id="{9EBA19CF-1AD1-9169-8FB3-8200DAE19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Line 15">
            <a:extLst>
              <a:ext uri="{FF2B5EF4-FFF2-40B4-BE49-F238E27FC236}">
                <a16:creationId xmlns:a16="http://schemas.microsoft.com/office/drawing/2014/main" id="{54A76A4B-4523-9320-AC51-3AF09B2FB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7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Line 16">
            <a:extLst>
              <a:ext uri="{FF2B5EF4-FFF2-40B4-BE49-F238E27FC236}">
                <a16:creationId xmlns:a16="http://schemas.microsoft.com/office/drawing/2014/main" id="{E3949FF5-9C32-7765-1F6B-9B4FDD58D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0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6" name="Line 17">
            <a:extLst>
              <a:ext uri="{FF2B5EF4-FFF2-40B4-BE49-F238E27FC236}">
                <a16:creationId xmlns:a16="http://schemas.microsoft.com/office/drawing/2014/main" id="{6FB2F0F5-BCF8-9B11-D103-A21A366DE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2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7" name="Line 18">
            <a:extLst>
              <a:ext uri="{FF2B5EF4-FFF2-40B4-BE49-F238E27FC236}">
                <a16:creationId xmlns:a16="http://schemas.microsoft.com/office/drawing/2014/main" id="{A35DCE45-B301-7724-4F61-4915DCB025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8" name="Line 19">
            <a:extLst>
              <a:ext uri="{FF2B5EF4-FFF2-40B4-BE49-F238E27FC236}">
                <a16:creationId xmlns:a16="http://schemas.microsoft.com/office/drawing/2014/main" id="{9FD40C28-632A-9897-6346-93282C94B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7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9" name="Line 20">
            <a:extLst>
              <a:ext uri="{FF2B5EF4-FFF2-40B4-BE49-F238E27FC236}">
                <a16:creationId xmlns:a16="http://schemas.microsoft.com/office/drawing/2014/main" id="{A3C183F2-6A80-07EB-8CB3-EC2A1A5A2A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9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0" name="Line 21">
            <a:extLst>
              <a:ext uri="{FF2B5EF4-FFF2-40B4-BE49-F238E27FC236}">
                <a16:creationId xmlns:a16="http://schemas.microsoft.com/office/drawing/2014/main" id="{6F1C6CBC-20BC-08DA-02FE-C9C574B04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2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Line 22">
            <a:extLst>
              <a:ext uri="{FF2B5EF4-FFF2-40B4-BE49-F238E27FC236}">
                <a16:creationId xmlns:a16="http://schemas.microsoft.com/office/drawing/2014/main" id="{F851AD47-874C-2AED-D356-7ABF82289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4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2" name="Line 23">
            <a:extLst>
              <a:ext uri="{FF2B5EF4-FFF2-40B4-BE49-F238E27FC236}">
                <a16:creationId xmlns:a16="http://schemas.microsoft.com/office/drawing/2014/main" id="{821A89A9-0899-578D-0B83-8D2F21020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6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3" name="Line 24">
            <a:extLst>
              <a:ext uri="{FF2B5EF4-FFF2-40B4-BE49-F238E27FC236}">
                <a16:creationId xmlns:a16="http://schemas.microsoft.com/office/drawing/2014/main" id="{F1C4C2CB-96B0-FCFD-50E2-41646AF25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9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4" name="Line 25">
            <a:extLst>
              <a:ext uri="{FF2B5EF4-FFF2-40B4-BE49-F238E27FC236}">
                <a16:creationId xmlns:a16="http://schemas.microsoft.com/office/drawing/2014/main" id="{BB9AF8E5-2385-35A2-592E-7FEFFBAD4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5" name="Line 26">
            <a:extLst>
              <a:ext uri="{FF2B5EF4-FFF2-40B4-BE49-F238E27FC236}">
                <a16:creationId xmlns:a16="http://schemas.microsoft.com/office/drawing/2014/main" id="{C4882C56-03A3-EC2B-3046-ED1DBDDFB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6" name="Line 27">
            <a:extLst>
              <a:ext uri="{FF2B5EF4-FFF2-40B4-BE49-F238E27FC236}">
                <a16:creationId xmlns:a16="http://schemas.microsoft.com/office/drawing/2014/main" id="{82053EC8-A02E-DB65-0DDB-E99249A5A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7" name="Line 28">
            <a:extLst>
              <a:ext uri="{FF2B5EF4-FFF2-40B4-BE49-F238E27FC236}">
                <a16:creationId xmlns:a16="http://schemas.microsoft.com/office/drawing/2014/main" id="{196D3B98-62AC-CC16-07DA-A3D90F355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8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8" name="Line 29">
            <a:extLst>
              <a:ext uri="{FF2B5EF4-FFF2-40B4-BE49-F238E27FC236}">
                <a16:creationId xmlns:a16="http://schemas.microsoft.com/office/drawing/2014/main" id="{11B89A21-607D-D776-FB5D-0DBCA65CA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1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9" name="Line 30">
            <a:extLst>
              <a:ext uri="{FF2B5EF4-FFF2-40B4-BE49-F238E27FC236}">
                <a16:creationId xmlns:a16="http://schemas.microsoft.com/office/drawing/2014/main" id="{7A2EB9D8-F07C-50C0-0079-9BE75C17F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0" name="Line 31">
            <a:extLst>
              <a:ext uri="{FF2B5EF4-FFF2-40B4-BE49-F238E27FC236}">
                <a16:creationId xmlns:a16="http://schemas.microsoft.com/office/drawing/2014/main" id="{0F1F9072-45AB-32AB-915A-3EE159B09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1" name="Line 32">
            <a:extLst>
              <a:ext uri="{FF2B5EF4-FFF2-40B4-BE49-F238E27FC236}">
                <a16:creationId xmlns:a16="http://schemas.microsoft.com/office/drawing/2014/main" id="{16C3F503-AA3D-6CC4-C4DF-3CF58A9F4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8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2" name="Line 33">
            <a:extLst>
              <a:ext uri="{FF2B5EF4-FFF2-40B4-BE49-F238E27FC236}">
                <a16:creationId xmlns:a16="http://schemas.microsoft.com/office/drawing/2014/main" id="{E4ED66E5-0249-805A-08E5-D2A349E2E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0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3" name="Line 34">
            <a:extLst>
              <a:ext uri="{FF2B5EF4-FFF2-40B4-BE49-F238E27FC236}">
                <a16:creationId xmlns:a16="http://schemas.microsoft.com/office/drawing/2014/main" id="{E7344592-0EDD-70BF-7742-9406A03E7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4" name="Line 35">
            <a:extLst>
              <a:ext uri="{FF2B5EF4-FFF2-40B4-BE49-F238E27FC236}">
                <a16:creationId xmlns:a16="http://schemas.microsoft.com/office/drawing/2014/main" id="{5827FC79-2A3C-D0F9-7BFD-A9AEFD309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5" name="Line 36">
            <a:extLst>
              <a:ext uri="{FF2B5EF4-FFF2-40B4-BE49-F238E27FC236}">
                <a16:creationId xmlns:a16="http://schemas.microsoft.com/office/drawing/2014/main" id="{B5036736-4DE7-1A46-A2F8-E0A9389A0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6" name="Line 37">
            <a:extLst>
              <a:ext uri="{FF2B5EF4-FFF2-40B4-BE49-F238E27FC236}">
                <a16:creationId xmlns:a16="http://schemas.microsoft.com/office/drawing/2014/main" id="{1C17E111-2C7E-F694-84EF-355A0C6C8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7" name="Line 38">
            <a:extLst>
              <a:ext uri="{FF2B5EF4-FFF2-40B4-BE49-F238E27FC236}">
                <a16:creationId xmlns:a16="http://schemas.microsoft.com/office/drawing/2014/main" id="{48664BF7-DCDC-7696-9639-9C029EC3D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8" name="Line 39">
            <a:extLst>
              <a:ext uri="{FF2B5EF4-FFF2-40B4-BE49-F238E27FC236}">
                <a16:creationId xmlns:a16="http://schemas.microsoft.com/office/drawing/2014/main" id="{32A4DDA6-DC07-6E65-FE78-BB938CAED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9" name="Line 40">
            <a:extLst>
              <a:ext uri="{FF2B5EF4-FFF2-40B4-BE49-F238E27FC236}">
                <a16:creationId xmlns:a16="http://schemas.microsoft.com/office/drawing/2014/main" id="{59C5A6CA-393C-9316-83D1-5E54D1583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0" name="Line 41">
            <a:extLst>
              <a:ext uri="{FF2B5EF4-FFF2-40B4-BE49-F238E27FC236}">
                <a16:creationId xmlns:a16="http://schemas.microsoft.com/office/drawing/2014/main" id="{0657AE93-8CC8-5315-5BE2-874B2F95F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91" name="Group 42">
            <a:extLst>
              <a:ext uri="{FF2B5EF4-FFF2-40B4-BE49-F238E27FC236}">
                <a16:creationId xmlns:a16="http://schemas.microsoft.com/office/drawing/2014/main" id="{3E0CD72E-D21C-F559-D72E-47DE7D6F7F55}"/>
              </a:ext>
            </a:extLst>
          </p:cNvPr>
          <p:cNvGrpSpPr>
            <a:grpSpLocks/>
          </p:cNvGrpSpPr>
          <p:nvPr/>
        </p:nvGrpSpPr>
        <p:grpSpPr bwMode="auto">
          <a:xfrm>
            <a:off x="2998788" y="5584825"/>
            <a:ext cx="5029200" cy="609600"/>
            <a:chOff x="912" y="1104"/>
            <a:chExt cx="3648" cy="384"/>
          </a:xfrm>
        </p:grpSpPr>
        <p:sp>
          <p:nvSpPr>
            <p:cNvPr id="23655" name="Line 43">
              <a:extLst>
                <a:ext uri="{FF2B5EF4-FFF2-40B4-BE49-F238E27FC236}">
                  <a16:creationId xmlns:a16="http://schemas.microsoft.com/office/drawing/2014/main" id="{9A54625F-8B55-5C97-0273-2728BE4E0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Line 44">
              <a:extLst>
                <a:ext uri="{FF2B5EF4-FFF2-40B4-BE49-F238E27FC236}">
                  <a16:creationId xmlns:a16="http://schemas.microsoft.com/office/drawing/2014/main" id="{4E41475B-F49A-F334-F345-6C62279E7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Line 45">
              <a:extLst>
                <a:ext uri="{FF2B5EF4-FFF2-40B4-BE49-F238E27FC236}">
                  <a16:creationId xmlns:a16="http://schemas.microsoft.com/office/drawing/2014/main" id="{36AF36BD-8779-920B-3D43-548EA90EE8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Line 46">
              <a:extLst>
                <a:ext uri="{FF2B5EF4-FFF2-40B4-BE49-F238E27FC236}">
                  <a16:creationId xmlns:a16="http://schemas.microsoft.com/office/drawing/2014/main" id="{9A9F08C9-4E2E-52D6-212E-EDEEA09C46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92" name="Line 47">
            <a:extLst>
              <a:ext uri="{FF2B5EF4-FFF2-40B4-BE49-F238E27FC236}">
                <a16:creationId xmlns:a16="http://schemas.microsoft.com/office/drawing/2014/main" id="{16D740EC-10BF-0ED4-A4CB-83FB8AA50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3" name="Line 48">
            <a:extLst>
              <a:ext uri="{FF2B5EF4-FFF2-40B4-BE49-F238E27FC236}">
                <a16:creationId xmlns:a16="http://schemas.microsoft.com/office/drawing/2014/main" id="{99360B99-AB85-A82B-EEF9-1D3308A0E2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4" name="Line 49">
            <a:extLst>
              <a:ext uri="{FF2B5EF4-FFF2-40B4-BE49-F238E27FC236}">
                <a16:creationId xmlns:a16="http://schemas.microsoft.com/office/drawing/2014/main" id="{19AAD51E-4A03-4382-88BF-FC1299A09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5" name="Line 50">
            <a:extLst>
              <a:ext uri="{FF2B5EF4-FFF2-40B4-BE49-F238E27FC236}">
                <a16:creationId xmlns:a16="http://schemas.microsoft.com/office/drawing/2014/main" id="{2F78D5B3-430C-05E3-E5EC-66F756233B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6" name="Line 51">
            <a:extLst>
              <a:ext uri="{FF2B5EF4-FFF2-40B4-BE49-F238E27FC236}">
                <a16:creationId xmlns:a16="http://schemas.microsoft.com/office/drawing/2014/main" id="{85DD8691-8655-1444-C79D-19B4FC446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7" name="Line 52">
            <a:extLst>
              <a:ext uri="{FF2B5EF4-FFF2-40B4-BE49-F238E27FC236}">
                <a16:creationId xmlns:a16="http://schemas.microsoft.com/office/drawing/2014/main" id="{0C3E30BF-DFF9-29AA-7505-BCEAF1B79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8" name="Line 53">
            <a:extLst>
              <a:ext uri="{FF2B5EF4-FFF2-40B4-BE49-F238E27FC236}">
                <a16:creationId xmlns:a16="http://schemas.microsoft.com/office/drawing/2014/main" id="{97CEEF82-0E6F-DE39-C414-FE7102AF94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9" name="Line 54">
            <a:extLst>
              <a:ext uri="{FF2B5EF4-FFF2-40B4-BE49-F238E27FC236}">
                <a16:creationId xmlns:a16="http://schemas.microsoft.com/office/drawing/2014/main" id="{603D70A6-1134-1A32-5D1B-701109461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5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0" name="Line 55">
            <a:extLst>
              <a:ext uri="{FF2B5EF4-FFF2-40B4-BE49-F238E27FC236}">
                <a16:creationId xmlns:a16="http://schemas.microsoft.com/office/drawing/2014/main" id="{0E8D938E-F09B-1351-3FBD-D8C0A3E10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7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1" name="Line 56">
            <a:extLst>
              <a:ext uri="{FF2B5EF4-FFF2-40B4-BE49-F238E27FC236}">
                <a16:creationId xmlns:a16="http://schemas.microsoft.com/office/drawing/2014/main" id="{36825863-FE02-8BDC-B4C3-7C14BE8D1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0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2" name="Line 57">
            <a:extLst>
              <a:ext uri="{FF2B5EF4-FFF2-40B4-BE49-F238E27FC236}">
                <a16:creationId xmlns:a16="http://schemas.microsoft.com/office/drawing/2014/main" id="{35EDA567-0E64-51EB-FFA0-B5F802471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3" name="Line 58">
            <a:extLst>
              <a:ext uri="{FF2B5EF4-FFF2-40B4-BE49-F238E27FC236}">
                <a16:creationId xmlns:a16="http://schemas.microsoft.com/office/drawing/2014/main" id="{FD5040CC-DCAF-7828-4F89-EC5DC182F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4" name="Line 59">
            <a:extLst>
              <a:ext uri="{FF2B5EF4-FFF2-40B4-BE49-F238E27FC236}">
                <a16:creationId xmlns:a16="http://schemas.microsoft.com/office/drawing/2014/main" id="{1B932BA8-2FC4-DD96-3E6D-EA7677625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7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5" name="Line 60">
            <a:extLst>
              <a:ext uri="{FF2B5EF4-FFF2-40B4-BE49-F238E27FC236}">
                <a16:creationId xmlns:a16="http://schemas.microsoft.com/office/drawing/2014/main" id="{725E43C3-C281-A812-B51A-010DAE3C7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9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6" name="Line 61">
            <a:extLst>
              <a:ext uri="{FF2B5EF4-FFF2-40B4-BE49-F238E27FC236}">
                <a16:creationId xmlns:a16="http://schemas.microsoft.com/office/drawing/2014/main" id="{BA88113E-B77C-7696-6001-2C097AF6D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2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7" name="Line 62">
            <a:extLst>
              <a:ext uri="{FF2B5EF4-FFF2-40B4-BE49-F238E27FC236}">
                <a16:creationId xmlns:a16="http://schemas.microsoft.com/office/drawing/2014/main" id="{B451CF17-FCFA-894D-597E-E13577EE6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4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8" name="Line 63">
            <a:extLst>
              <a:ext uri="{FF2B5EF4-FFF2-40B4-BE49-F238E27FC236}">
                <a16:creationId xmlns:a16="http://schemas.microsoft.com/office/drawing/2014/main" id="{132A986A-CCC0-0F35-430E-58D16121D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7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9" name="Line 64">
            <a:extLst>
              <a:ext uri="{FF2B5EF4-FFF2-40B4-BE49-F238E27FC236}">
                <a16:creationId xmlns:a16="http://schemas.microsoft.com/office/drawing/2014/main" id="{6B35EF2B-1E37-B4BB-8DBE-EDBB69DF7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9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0" name="Line 65">
            <a:extLst>
              <a:ext uri="{FF2B5EF4-FFF2-40B4-BE49-F238E27FC236}">
                <a16:creationId xmlns:a16="http://schemas.microsoft.com/office/drawing/2014/main" id="{93350650-B09D-D873-6A06-85CADC670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1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1" name="Line 66">
            <a:extLst>
              <a:ext uri="{FF2B5EF4-FFF2-40B4-BE49-F238E27FC236}">
                <a16:creationId xmlns:a16="http://schemas.microsoft.com/office/drawing/2014/main" id="{FDA61DD8-3C1E-1A70-8B2B-B99407F7A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4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2" name="Line 67">
            <a:extLst>
              <a:ext uri="{FF2B5EF4-FFF2-40B4-BE49-F238E27FC236}">
                <a16:creationId xmlns:a16="http://schemas.microsoft.com/office/drawing/2014/main" id="{2EE1C18D-10CE-CB2F-9BFB-635BBFF9E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6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3" name="Line 68">
            <a:extLst>
              <a:ext uri="{FF2B5EF4-FFF2-40B4-BE49-F238E27FC236}">
                <a16:creationId xmlns:a16="http://schemas.microsoft.com/office/drawing/2014/main" id="{FF95999C-B201-69D7-2029-EB7276438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9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4" name="Line 69">
            <a:extLst>
              <a:ext uri="{FF2B5EF4-FFF2-40B4-BE49-F238E27FC236}">
                <a16:creationId xmlns:a16="http://schemas.microsoft.com/office/drawing/2014/main" id="{E6023E5F-BB46-4352-19FD-69336D9854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1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5" name="Line 70">
            <a:extLst>
              <a:ext uri="{FF2B5EF4-FFF2-40B4-BE49-F238E27FC236}">
                <a16:creationId xmlns:a16="http://schemas.microsoft.com/office/drawing/2014/main" id="{523EBADE-D0B3-1C22-7585-310B13F0E7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6" name="Line 71">
            <a:extLst>
              <a:ext uri="{FF2B5EF4-FFF2-40B4-BE49-F238E27FC236}">
                <a16:creationId xmlns:a16="http://schemas.microsoft.com/office/drawing/2014/main" id="{7BDDFADE-8594-C4F8-E0E6-DB2DF5B9F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6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7" name="Line 72">
            <a:extLst>
              <a:ext uri="{FF2B5EF4-FFF2-40B4-BE49-F238E27FC236}">
                <a16:creationId xmlns:a16="http://schemas.microsoft.com/office/drawing/2014/main" id="{EAB68E5D-3F12-EEB4-EFC8-65B4E995A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8" name="Line 73">
            <a:extLst>
              <a:ext uri="{FF2B5EF4-FFF2-40B4-BE49-F238E27FC236}">
                <a16:creationId xmlns:a16="http://schemas.microsoft.com/office/drawing/2014/main" id="{FACCF79F-E621-226B-B2DE-F8784869E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9" name="Line 74">
            <a:extLst>
              <a:ext uri="{FF2B5EF4-FFF2-40B4-BE49-F238E27FC236}">
                <a16:creationId xmlns:a16="http://schemas.microsoft.com/office/drawing/2014/main" id="{94CBB5F0-EA55-E0F0-F7EC-D56A5D921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0" name="Line 75">
            <a:extLst>
              <a:ext uri="{FF2B5EF4-FFF2-40B4-BE49-F238E27FC236}">
                <a16:creationId xmlns:a16="http://schemas.microsoft.com/office/drawing/2014/main" id="{06460EBC-ACDD-3584-F14C-8BD29D205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1" name="Line 76">
            <a:extLst>
              <a:ext uri="{FF2B5EF4-FFF2-40B4-BE49-F238E27FC236}">
                <a16:creationId xmlns:a16="http://schemas.microsoft.com/office/drawing/2014/main" id="{12886479-AA65-F6E3-FAE8-30854784E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2" name="Line 77">
            <a:extLst>
              <a:ext uri="{FF2B5EF4-FFF2-40B4-BE49-F238E27FC236}">
                <a16:creationId xmlns:a16="http://schemas.microsoft.com/office/drawing/2014/main" id="{383C33F7-8C53-B5FB-6649-99C16B245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3" name="Line 78">
            <a:extLst>
              <a:ext uri="{FF2B5EF4-FFF2-40B4-BE49-F238E27FC236}">
                <a16:creationId xmlns:a16="http://schemas.microsoft.com/office/drawing/2014/main" id="{7EBF62C1-C39C-1105-7D90-A773865F5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31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4" name="Line 79">
            <a:extLst>
              <a:ext uri="{FF2B5EF4-FFF2-40B4-BE49-F238E27FC236}">
                <a16:creationId xmlns:a16="http://schemas.microsoft.com/office/drawing/2014/main" id="{C3E3C385-5F7B-9D89-53D0-F5094D439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55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5" name="Text Box 80">
            <a:extLst>
              <a:ext uri="{FF2B5EF4-FFF2-40B4-BE49-F238E27FC236}">
                <a16:creationId xmlns:a16="http://schemas.microsoft.com/office/drawing/2014/main" id="{E425E899-A5D7-E360-6D4C-34386F9D2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1295400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Comic Sans MS" panose="030F0702030302020204" pitchFamily="66" charset="0"/>
              </a:rPr>
              <a:t>Host A</a:t>
            </a:r>
          </a:p>
        </p:txBody>
      </p:sp>
      <p:sp>
        <p:nvSpPr>
          <p:cNvPr id="23626" name="Text Box 81">
            <a:extLst>
              <a:ext uri="{FF2B5EF4-FFF2-40B4-BE49-F238E27FC236}">
                <a16:creationId xmlns:a16="http://schemas.microsoft.com/office/drawing/2014/main" id="{4CF19F14-C6B9-748F-9B55-458677FEA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5056188"/>
            <a:ext cx="1150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Comic Sans MS" panose="030F0702030302020204" pitchFamily="66" charset="0"/>
              </a:rPr>
              <a:t>Host B</a:t>
            </a:r>
          </a:p>
        </p:txBody>
      </p:sp>
      <p:sp>
        <p:nvSpPr>
          <p:cNvPr id="23627" name="Rectangle 82">
            <a:extLst>
              <a:ext uri="{FF2B5EF4-FFF2-40B4-BE49-F238E27FC236}">
                <a16:creationId xmlns:a16="http://schemas.microsoft.com/office/drawing/2014/main" id="{6A1C81B5-9D76-78DD-FDF7-B6892DC66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025" y="34512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3628" name="Rectangle 83">
            <a:extLst>
              <a:ext uri="{FF2B5EF4-FFF2-40B4-BE49-F238E27FC236}">
                <a16:creationId xmlns:a16="http://schemas.microsoft.com/office/drawing/2014/main" id="{6193660C-8B89-0EEA-11CD-0330021F4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3188" y="47466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3629" name="Line 84">
            <a:extLst>
              <a:ext uri="{FF2B5EF4-FFF2-40B4-BE49-F238E27FC236}">
                <a16:creationId xmlns:a16="http://schemas.microsoft.com/office/drawing/2014/main" id="{540EB6BB-5070-DDF0-570D-F5D53ED5D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77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0" name="Line 85">
            <a:extLst>
              <a:ext uri="{FF2B5EF4-FFF2-40B4-BE49-F238E27FC236}">
                <a16:creationId xmlns:a16="http://schemas.microsoft.com/office/drawing/2014/main" id="{174FB29A-E9C5-A26B-5BCA-D6AFF23E8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69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1" name="Line 86">
            <a:extLst>
              <a:ext uri="{FF2B5EF4-FFF2-40B4-BE49-F238E27FC236}">
                <a16:creationId xmlns:a16="http://schemas.microsoft.com/office/drawing/2014/main" id="{02DF1978-0336-253A-E0C7-8C05BCF9B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2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2" name="Line 87">
            <a:extLst>
              <a:ext uri="{FF2B5EF4-FFF2-40B4-BE49-F238E27FC236}">
                <a16:creationId xmlns:a16="http://schemas.microsoft.com/office/drawing/2014/main" id="{7B35CF08-37AA-D9D2-6F47-CFA469754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16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3" name="Line 88">
            <a:extLst>
              <a:ext uri="{FF2B5EF4-FFF2-40B4-BE49-F238E27FC236}">
                <a16:creationId xmlns:a16="http://schemas.microsoft.com/office/drawing/2014/main" id="{D0FA49D9-8989-CE03-BDA7-D92067EEB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4" name="Line 89">
            <a:extLst>
              <a:ext uri="{FF2B5EF4-FFF2-40B4-BE49-F238E27FC236}">
                <a16:creationId xmlns:a16="http://schemas.microsoft.com/office/drawing/2014/main" id="{A1A9C1C4-24B0-3AC7-F4AB-BA39AF7F9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64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5" name="Line 90">
            <a:extLst>
              <a:ext uri="{FF2B5EF4-FFF2-40B4-BE49-F238E27FC236}">
                <a16:creationId xmlns:a16="http://schemas.microsoft.com/office/drawing/2014/main" id="{DF395A04-6FF2-9BB1-AA9E-5B7C8E894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6" name="Line 91">
            <a:extLst>
              <a:ext uri="{FF2B5EF4-FFF2-40B4-BE49-F238E27FC236}">
                <a16:creationId xmlns:a16="http://schemas.microsoft.com/office/drawing/2014/main" id="{C1A5FFF6-284C-05BE-E538-75D0BF5B6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8825" y="32178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7" name="Line 92">
            <a:extLst>
              <a:ext uri="{FF2B5EF4-FFF2-40B4-BE49-F238E27FC236}">
                <a16:creationId xmlns:a16="http://schemas.microsoft.com/office/drawing/2014/main" id="{C03F015D-2BF2-DEE3-58C2-A1D64A3C0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93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8" name="Line 93">
            <a:extLst>
              <a:ext uri="{FF2B5EF4-FFF2-40B4-BE49-F238E27FC236}">
                <a16:creationId xmlns:a16="http://schemas.microsoft.com/office/drawing/2014/main" id="{441127DB-785C-AA83-B327-D3BBDDCDC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7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9" name="Line 94">
            <a:extLst>
              <a:ext uri="{FF2B5EF4-FFF2-40B4-BE49-F238E27FC236}">
                <a16:creationId xmlns:a16="http://schemas.microsoft.com/office/drawing/2014/main" id="{5AD698C2-5EDB-1EC6-E320-A53CDF240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40" name="Line 95">
            <a:extLst>
              <a:ext uri="{FF2B5EF4-FFF2-40B4-BE49-F238E27FC236}">
                <a16:creationId xmlns:a16="http://schemas.microsoft.com/office/drawing/2014/main" id="{4D94A42A-8199-B4B7-4AA8-C8F0FDB5F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41" name="Line 96">
            <a:extLst>
              <a:ext uri="{FF2B5EF4-FFF2-40B4-BE49-F238E27FC236}">
                <a16:creationId xmlns:a16="http://schemas.microsoft.com/office/drawing/2014/main" id="{2BD525FE-FF3D-FEAC-50A6-EAC6195F1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42" name="Line 97">
            <a:extLst>
              <a:ext uri="{FF2B5EF4-FFF2-40B4-BE49-F238E27FC236}">
                <a16:creationId xmlns:a16="http://schemas.microsoft.com/office/drawing/2014/main" id="{75DD2EED-BC46-A115-69BB-02B9BDFA7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8988" y="53514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43" name="Text Box 98">
            <a:extLst>
              <a:ext uri="{FF2B5EF4-FFF2-40B4-BE49-F238E27FC236}">
                <a16:creationId xmlns:a16="http://schemas.microsoft.com/office/drawing/2014/main" id="{B4DFFC12-C488-C95D-3CF5-744C92763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825" y="3454400"/>
            <a:ext cx="1173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99"/>
                </a:solidFill>
                <a:latin typeface="Comic Sans MS" panose="030F0702030302020204" pitchFamily="66" charset="0"/>
              </a:rPr>
              <a:t>TCP Data</a:t>
            </a:r>
          </a:p>
        </p:txBody>
      </p:sp>
      <p:sp>
        <p:nvSpPr>
          <p:cNvPr id="23644" name="Text Box 99">
            <a:extLst>
              <a:ext uri="{FF2B5EF4-FFF2-40B4-BE49-F238E27FC236}">
                <a16:creationId xmlns:a16="http://schemas.microsoft.com/office/drawing/2014/main" id="{F1B862C3-B01E-9538-861A-537FC949A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788" y="4764088"/>
            <a:ext cx="1173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99"/>
                </a:solidFill>
                <a:latin typeface="Comic Sans MS" panose="030F0702030302020204" pitchFamily="66" charset="0"/>
              </a:rPr>
              <a:t>TCP Data</a:t>
            </a:r>
          </a:p>
        </p:txBody>
      </p:sp>
      <p:sp>
        <p:nvSpPr>
          <p:cNvPr id="23645" name="Rectangle 100">
            <a:extLst>
              <a:ext uri="{FF2B5EF4-FFF2-40B4-BE49-F238E27FC236}">
                <a16:creationId xmlns:a16="http://schemas.microsoft.com/office/drawing/2014/main" id="{B9D63D04-A76D-347E-8977-8294AAC3B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88" y="34512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3646" name="Text Box 101">
            <a:extLst>
              <a:ext uri="{FF2B5EF4-FFF2-40B4-BE49-F238E27FC236}">
                <a16:creationId xmlns:a16="http://schemas.microsoft.com/office/drawing/2014/main" id="{F7499A08-C3A5-D8B0-5982-531BCA605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3424238"/>
            <a:ext cx="506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99"/>
                </a:solidFill>
                <a:latin typeface="Comic Sans MS" panose="030F0702030302020204" pitchFamily="66" charset="0"/>
              </a:rPr>
              <a:t>TCP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99"/>
                </a:solidFill>
                <a:latin typeface="Comic Sans MS" panose="030F0702030302020204" pitchFamily="66" charset="0"/>
              </a:rPr>
              <a:t>HDR</a:t>
            </a:r>
          </a:p>
        </p:txBody>
      </p:sp>
      <p:sp>
        <p:nvSpPr>
          <p:cNvPr id="23647" name="Rectangle 102">
            <a:extLst>
              <a:ext uri="{FF2B5EF4-FFF2-40B4-BE49-F238E27FC236}">
                <a16:creationId xmlns:a16="http://schemas.microsoft.com/office/drawing/2014/main" id="{367AC7FC-1A50-2CF4-A133-223A3CD23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47466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3648" name="Text Box 103">
            <a:extLst>
              <a:ext uri="{FF2B5EF4-FFF2-40B4-BE49-F238E27FC236}">
                <a16:creationId xmlns:a16="http://schemas.microsoft.com/office/drawing/2014/main" id="{547A3929-D385-F34C-0F4F-01A23CE62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5" y="4746625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99"/>
                </a:solidFill>
                <a:latin typeface="Comic Sans MS" panose="030F0702030302020204" pitchFamily="66" charset="0"/>
              </a:rPr>
              <a:t>TCP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99"/>
                </a:solidFill>
                <a:latin typeface="Comic Sans MS" panose="030F0702030302020204" pitchFamily="66" charset="0"/>
              </a:rPr>
              <a:t>HDR</a:t>
            </a:r>
          </a:p>
        </p:txBody>
      </p:sp>
      <p:sp>
        <p:nvSpPr>
          <p:cNvPr id="23649" name="Text Box 104">
            <a:extLst>
              <a:ext uri="{FF2B5EF4-FFF2-40B4-BE49-F238E27FC236}">
                <a16:creationId xmlns:a16="http://schemas.microsoft.com/office/drawing/2014/main" id="{90D92491-A0AE-058B-1C70-811053E1C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588" y="1851025"/>
            <a:ext cx="3368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99"/>
                </a:solidFill>
                <a:latin typeface="Comic Sans MS" panose="030F0702030302020204" pitchFamily="66" charset="0"/>
              </a:rPr>
              <a:t>ISN (initial sequence number)</a:t>
            </a:r>
          </a:p>
        </p:txBody>
      </p:sp>
      <p:sp>
        <p:nvSpPr>
          <p:cNvPr id="23650" name="Line 105">
            <a:extLst>
              <a:ext uri="{FF2B5EF4-FFF2-40B4-BE49-F238E27FC236}">
                <a16:creationId xmlns:a16="http://schemas.microsoft.com/office/drawing/2014/main" id="{413329B4-CD69-C4E4-7CDE-75FF5DE4C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3388" y="21558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51" name="AutoShape 106">
            <a:extLst>
              <a:ext uri="{FF2B5EF4-FFF2-40B4-BE49-F238E27FC236}">
                <a16:creationId xmlns:a16="http://schemas.microsoft.com/office/drawing/2014/main" id="{9F2DD453-94EB-59C9-B905-4BD361B6B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3298825"/>
            <a:ext cx="1905000" cy="914400"/>
          </a:xfrm>
          <a:prstGeom prst="wedgeRectCallout">
            <a:avLst>
              <a:gd name="adj1" fmla="val 58583"/>
              <a:gd name="adj2" fmla="val -83162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Sequence number = 1</a:t>
            </a:r>
            <a:r>
              <a:rPr lang="en-US" altLang="en-US" sz="1800" b="0" baseline="30000">
                <a:solidFill>
                  <a:schemeClr val="tx1"/>
                </a:solidFill>
                <a:latin typeface="Comic Sans MS" panose="030F0702030302020204" pitchFamily="66" charset="0"/>
              </a:rPr>
              <a:t>st</a:t>
            </a: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 byte</a:t>
            </a:r>
          </a:p>
        </p:txBody>
      </p:sp>
      <p:sp>
        <p:nvSpPr>
          <p:cNvPr id="23652" name="Rectangle 107">
            <a:extLst>
              <a:ext uri="{FF2B5EF4-FFF2-40B4-BE49-F238E27FC236}">
                <a16:creationId xmlns:a16="http://schemas.microsoft.com/office/drawing/2014/main" id="{2170C0B4-A2A7-371E-8D1E-3A6AD5C41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3188" y="5584825"/>
            <a:ext cx="12192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27852" name="AutoShape 108">
            <a:extLst>
              <a:ext uri="{FF2B5EF4-FFF2-40B4-BE49-F238E27FC236}">
                <a16:creationId xmlns:a16="http://schemas.microsoft.com/office/drawing/2014/main" id="{51DDEF9C-47EF-198E-FA3A-763620056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988" y="3756025"/>
            <a:ext cx="1905000" cy="914400"/>
          </a:xfrm>
          <a:prstGeom prst="wedgeRectCallout">
            <a:avLst>
              <a:gd name="adj1" fmla="val -76667"/>
              <a:gd name="adj2" fmla="val 150523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Comic Sans MS" panose="030F0702030302020204" pitchFamily="66" charset="0"/>
              </a:rPr>
              <a:t>ACK sequence number = next expected byte</a:t>
            </a:r>
          </a:p>
        </p:txBody>
      </p:sp>
      <p:sp>
        <p:nvSpPr>
          <p:cNvPr id="23654" name="Rectangle 109">
            <a:extLst>
              <a:ext uri="{FF2B5EF4-FFF2-40B4-BE49-F238E27FC236}">
                <a16:creationId xmlns:a16="http://schemas.microsoft.com/office/drawing/2014/main" id="{2B777747-1146-01E0-54A3-76A951AD4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5584825"/>
            <a:ext cx="1524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52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>
            <a:extLst>
              <a:ext uri="{FF2B5EF4-FFF2-40B4-BE49-F238E27FC236}">
                <a16:creationId xmlns:a16="http://schemas.microsoft.com/office/drawing/2014/main" id="{C48F0379-3C16-403F-5BBC-3A3029AF6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8DB7C2-46AF-4380-A902-CBCA796E6B7E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E447272-EF57-C683-7F14-2DD12AB79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 Sequence Number (ISN)</a:t>
            </a:r>
          </a:p>
        </p:txBody>
      </p:sp>
      <p:sp>
        <p:nvSpPr>
          <p:cNvPr id="921603" name="Rectangle 3">
            <a:extLst>
              <a:ext uri="{FF2B5EF4-FFF2-40B4-BE49-F238E27FC236}">
                <a16:creationId xmlns:a16="http://schemas.microsoft.com/office/drawing/2014/main" id="{216A5755-32F0-06C1-B014-69E1055D4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Sequence number for the very first byte</a:t>
            </a:r>
          </a:p>
          <a:p>
            <a:pPr lvl="1"/>
            <a:r>
              <a:rPr lang="en-US" altLang="en-US"/>
              <a:t>E.g., Why not a de facto ISN of 0?</a:t>
            </a:r>
          </a:p>
          <a:p>
            <a:r>
              <a:rPr lang="en-US" altLang="en-US"/>
              <a:t>Practical issue</a:t>
            </a:r>
          </a:p>
          <a:p>
            <a:pPr lvl="1"/>
            <a:r>
              <a:rPr lang="en-US" altLang="en-US"/>
              <a:t>IP addresses and port #s uniquely identify a connection</a:t>
            </a:r>
          </a:p>
          <a:p>
            <a:pPr lvl="1"/>
            <a:r>
              <a:rPr lang="en-US" altLang="en-US"/>
              <a:t>Eventually, though, these port #s do get used again</a:t>
            </a:r>
          </a:p>
          <a:p>
            <a:pPr lvl="1"/>
            <a:r>
              <a:rPr lang="en-US" altLang="en-US"/>
              <a:t>… and there is a chance an old packet is still in flight</a:t>
            </a:r>
          </a:p>
          <a:p>
            <a:pPr lvl="1"/>
            <a:r>
              <a:rPr lang="en-US" altLang="en-US"/>
              <a:t>… and might be associated with the new connection</a:t>
            </a:r>
          </a:p>
          <a:p>
            <a:r>
              <a:rPr lang="en-US" altLang="en-US"/>
              <a:t>So, TCP requires changing the ISN over time</a:t>
            </a:r>
          </a:p>
          <a:p>
            <a:pPr lvl="1"/>
            <a:r>
              <a:rPr lang="en-US" altLang="en-US"/>
              <a:t>Set from a 32-bit clock that ticks every 4 microseconds</a:t>
            </a:r>
          </a:p>
          <a:p>
            <a:pPr lvl="1"/>
            <a:r>
              <a:rPr lang="en-US" altLang="en-US"/>
              <a:t>… which only wraps around once every 4.55 hours!</a:t>
            </a:r>
          </a:p>
          <a:p>
            <a:r>
              <a:rPr lang="en-US" altLang="en-US"/>
              <a:t>But, this means the hosts need to exchange ISNs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0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D5F19BE2-6118-961A-EC78-C72661D1FB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685EB9-903E-446F-A46F-9B13416D6B20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D6661AF1-5900-06D9-F7B3-860E7D6332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TCP Three-Way Handshake</a:t>
            </a:r>
          </a:p>
        </p:txBody>
      </p:sp>
      <p:sp>
        <p:nvSpPr>
          <p:cNvPr id="26628" name="Rectangle 5">
            <a:extLst>
              <a:ext uri="{FF2B5EF4-FFF2-40B4-BE49-F238E27FC236}">
                <a16:creationId xmlns:a16="http://schemas.microsoft.com/office/drawing/2014/main" id="{43512524-CC92-B321-663D-FEB838E220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430D1ED9-2B00-AE48-6209-9305E362E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051DB1-3833-41FC-8753-DE7E4BB8EAF4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EE37D6C-F0D7-1835-0726-F38822822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Establishing a TCP Connection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349D8BC-0242-5397-D3E8-F23E2B551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963" y="4773613"/>
            <a:ext cx="8458200" cy="1941512"/>
          </a:xfrm>
        </p:spPr>
        <p:txBody>
          <a:bodyPr/>
          <a:lstStyle/>
          <a:p>
            <a:r>
              <a:rPr lang="en-US" altLang="en-US"/>
              <a:t>Three-way handshake to establish connection</a:t>
            </a:r>
          </a:p>
          <a:p>
            <a:pPr lvl="1"/>
            <a:r>
              <a:rPr lang="en-US" altLang="en-US"/>
              <a:t>Host A sends a </a:t>
            </a:r>
            <a:r>
              <a:rPr lang="en-US" altLang="en-US" b="1">
                <a:solidFill>
                  <a:srgbClr val="0000FF"/>
                </a:solidFill>
              </a:rPr>
              <a:t>SYN</a:t>
            </a:r>
            <a:r>
              <a:rPr lang="en-US" altLang="en-US"/>
              <a:t> (open) to the host B</a:t>
            </a:r>
          </a:p>
          <a:p>
            <a:pPr lvl="1"/>
            <a:r>
              <a:rPr lang="en-US" altLang="en-US"/>
              <a:t>Host B returns a SYN acknowledgment (</a:t>
            </a:r>
            <a:r>
              <a:rPr lang="en-US" altLang="en-US" b="1">
                <a:solidFill>
                  <a:srgbClr val="FF3300"/>
                </a:solidFill>
              </a:rPr>
              <a:t>SYN ACK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Host A sends an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 b="1">
                <a:solidFill>
                  <a:srgbClr val="0000FF"/>
                </a:solidFill>
              </a:rPr>
              <a:t>ACK</a:t>
            </a:r>
            <a:r>
              <a:rPr lang="en-US" altLang="en-US"/>
              <a:t> to acknowledge the SYN ACK</a:t>
            </a:r>
          </a:p>
        </p:txBody>
      </p:sp>
      <p:sp>
        <p:nvSpPr>
          <p:cNvPr id="27653" name="Line 4">
            <a:extLst>
              <a:ext uri="{FF2B5EF4-FFF2-40B4-BE49-F238E27FC236}">
                <a16:creationId xmlns:a16="http://schemas.microsoft.com/office/drawing/2014/main" id="{C60B5D97-8301-8126-7F3D-D8B640CEC994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109119" y="1240631"/>
            <a:ext cx="287338" cy="1603375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Line 5">
            <a:extLst>
              <a:ext uri="{FF2B5EF4-FFF2-40B4-BE49-F238E27FC236}">
                <a16:creationId xmlns:a16="http://schemas.microsoft.com/office/drawing/2014/main" id="{7FA491A4-1416-73D1-B4B2-DDD6D470C11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099594" y="1778794"/>
            <a:ext cx="300038" cy="15748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Line 6">
            <a:extLst>
              <a:ext uri="{FF2B5EF4-FFF2-40B4-BE49-F238E27FC236}">
                <a16:creationId xmlns:a16="http://schemas.microsoft.com/office/drawing/2014/main" id="{E2A00BD5-1480-2B04-57DD-63CE72C5AB9F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011488" y="2436813"/>
            <a:ext cx="457200" cy="160020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7">
            <a:extLst>
              <a:ext uri="{FF2B5EF4-FFF2-40B4-BE49-F238E27FC236}">
                <a16:creationId xmlns:a16="http://schemas.microsoft.com/office/drawing/2014/main" id="{0E0B43D7-8722-654C-EAC2-8577696362DF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009107" y="2975768"/>
            <a:ext cx="469900" cy="1598613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Text Box 8">
            <a:extLst>
              <a:ext uri="{FF2B5EF4-FFF2-40B4-BE49-F238E27FC236}">
                <a16:creationId xmlns:a16="http://schemas.microsoft.com/office/drawing/2014/main" id="{FC6EBA76-E018-B4D8-12D4-80F9E2E10C30}"/>
              </a:ext>
            </a:extLst>
          </p:cNvPr>
          <p:cNvSpPr txBox="1">
            <a:spLocks noChangeArrowheads="1"/>
          </p:cNvSpPr>
          <p:nvPr/>
        </p:nvSpPr>
        <p:spPr bwMode="auto">
          <a:xfrm rot="605430">
            <a:off x="2900363" y="1555750"/>
            <a:ext cx="693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SYN</a:t>
            </a:r>
          </a:p>
        </p:txBody>
      </p:sp>
      <p:sp>
        <p:nvSpPr>
          <p:cNvPr id="27658" name="Text Box 9">
            <a:extLst>
              <a:ext uri="{FF2B5EF4-FFF2-40B4-BE49-F238E27FC236}">
                <a16:creationId xmlns:a16="http://schemas.microsoft.com/office/drawing/2014/main" id="{5CA89DD1-D722-8963-15CD-C20DA41CDE44}"/>
              </a:ext>
            </a:extLst>
          </p:cNvPr>
          <p:cNvSpPr txBox="1">
            <a:spLocks noChangeArrowheads="1"/>
          </p:cNvSpPr>
          <p:nvPr/>
        </p:nvSpPr>
        <p:spPr bwMode="auto">
          <a:xfrm rot="10146980" flipH="1" flipV="1">
            <a:off x="2589213" y="2195513"/>
            <a:ext cx="1308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  <a:latin typeface="Times New Roman" panose="02020603050405020304" pitchFamily="18" charset="0"/>
              </a:rPr>
              <a:t>SYN ACK</a:t>
            </a:r>
          </a:p>
        </p:txBody>
      </p:sp>
      <p:sp>
        <p:nvSpPr>
          <p:cNvPr id="27659" name="Text Box 10">
            <a:extLst>
              <a:ext uri="{FF2B5EF4-FFF2-40B4-BE49-F238E27FC236}">
                <a16:creationId xmlns:a16="http://schemas.microsoft.com/office/drawing/2014/main" id="{F6B38B86-5C3B-8B9D-EA23-DE2AACFD3603}"/>
              </a:ext>
            </a:extLst>
          </p:cNvPr>
          <p:cNvSpPr txBox="1">
            <a:spLocks noChangeArrowheads="1"/>
          </p:cNvSpPr>
          <p:nvPr/>
        </p:nvSpPr>
        <p:spPr bwMode="auto">
          <a:xfrm rot="1044999">
            <a:off x="3114675" y="2963863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ACK</a:t>
            </a:r>
          </a:p>
        </p:txBody>
      </p:sp>
      <p:sp>
        <p:nvSpPr>
          <p:cNvPr id="27660" name="Text Box 11">
            <a:extLst>
              <a:ext uri="{FF2B5EF4-FFF2-40B4-BE49-F238E27FC236}">
                <a16:creationId xmlns:a16="http://schemas.microsoft.com/office/drawing/2014/main" id="{56508782-D463-6160-9923-3ADD95EBE3BB}"/>
              </a:ext>
            </a:extLst>
          </p:cNvPr>
          <p:cNvSpPr txBox="1">
            <a:spLocks noChangeArrowheads="1"/>
          </p:cNvSpPr>
          <p:nvPr/>
        </p:nvSpPr>
        <p:spPr bwMode="auto">
          <a:xfrm rot="1003808">
            <a:off x="2903538" y="3384550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27661" name="Line 12">
            <a:extLst>
              <a:ext uri="{FF2B5EF4-FFF2-40B4-BE49-F238E27FC236}">
                <a16:creationId xmlns:a16="http://schemas.microsoft.com/office/drawing/2014/main" id="{D1D57277-C666-5D8B-BE55-32AD31789A9B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599531" y="3132932"/>
            <a:ext cx="2890837" cy="63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3">
            <a:extLst>
              <a:ext uri="{FF2B5EF4-FFF2-40B4-BE49-F238E27FC236}">
                <a16:creationId xmlns:a16="http://schemas.microsoft.com/office/drawing/2014/main" id="{B0679DDE-E4AC-64D4-3A6D-54A19A6211C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48544" y="3093244"/>
            <a:ext cx="2797175" cy="238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Text Box 14">
            <a:extLst>
              <a:ext uri="{FF2B5EF4-FFF2-40B4-BE49-F238E27FC236}">
                <a16:creationId xmlns:a16="http://schemas.microsoft.com/office/drawing/2014/main" id="{73C75957-B155-D1BE-5B82-547017BB8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12398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7664" name="Text Box 15">
            <a:extLst>
              <a:ext uri="{FF2B5EF4-FFF2-40B4-BE49-F238E27FC236}">
                <a16:creationId xmlns:a16="http://schemas.microsoft.com/office/drawing/2014/main" id="{4D2F08EA-51B0-D0B8-0144-7C769B884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0" y="12017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rgbClr val="FF33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7665" name="Line 16">
            <a:extLst>
              <a:ext uri="{FF2B5EF4-FFF2-40B4-BE49-F238E27FC236}">
                <a16:creationId xmlns:a16="http://schemas.microsoft.com/office/drawing/2014/main" id="{2EBC49F9-2CB2-CE91-ED57-7B23989512F1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037682" y="3317081"/>
            <a:ext cx="469900" cy="1598613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Text Box 17">
            <a:extLst>
              <a:ext uri="{FF2B5EF4-FFF2-40B4-BE49-F238E27FC236}">
                <a16:creationId xmlns:a16="http://schemas.microsoft.com/office/drawing/2014/main" id="{B151E773-1809-010A-E618-E94177A291E1}"/>
              </a:ext>
            </a:extLst>
          </p:cNvPr>
          <p:cNvSpPr txBox="1">
            <a:spLocks noChangeArrowheads="1"/>
          </p:cNvSpPr>
          <p:nvPr/>
        </p:nvSpPr>
        <p:spPr bwMode="auto">
          <a:xfrm rot="1003808">
            <a:off x="2932113" y="37258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27667" name="Text Box 18">
            <a:extLst>
              <a:ext uri="{FF2B5EF4-FFF2-40B4-BE49-F238E27FC236}">
                <a16:creationId xmlns:a16="http://schemas.microsoft.com/office/drawing/2014/main" id="{36CDAA6E-3A3A-B29D-4CD8-ECA7BB084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122488"/>
            <a:ext cx="2535237" cy="11874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Helvetica" panose="020B0604020202020204" pitchFamily="34" charset="0"/>
              </a:rPr>
              <a:t>Each host tells its ISN to the other host.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87EF74DC-91BE-C4A4-4ACB-40DCAFBD1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A2DF62-25C4-4617-9E1E-06A5008D5984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18" name="Rectangle 2">
            <a:extLst>
              <a:ext uri="{FF2B5EF4-FFF2-40B4-BE49-F238E27FC236}">
                <a16:creationId xmlns:a16="http://schemas.microsoft.com/office/drawing/2014/main" id="{DBFEE529-E2AE-C895-3A3F-28B3F383D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508125"/>
            <a:ext cx="8001000" cy="464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F18ADFC-6E3F-9686-B12C-4727E0D7A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 Header</a:t>
            </a: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2C98973B-C010-ECBE-2C4C-EAE0EDCBF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78" name="Text Box 5">
            <a:extLst>
              <a:ext uri="{FF2B5EF4-FFF2-40B4-BE49-F238E27FC236}">
                <a16:creationId xmlns:a16="http://schemas.microsoft.com/office/drawing/2014/main" id="{D2D624B9-D0D0-9AE3-CDE0-E7F5B76EB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1874838"/>
            <a:ext cx="149542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Source port</a:t>
            </a: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1DFEB05D-AD5D-17DC-D3F2-B58EB4ED0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80" name="Text Box 7">
            <a:extLst>
              <a:ext uri="{FF2B5EF4-FFF2-40B4-BE49-F238E27FC236}">
                <a16:creationId xmlns:a16="http://schemas.microsoft.com/office/drawing/2014/main" id="{179017D5-0360-EF29-D6B3-4BBA6788D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8" y="1874838"/>
            <a:ext cx="196215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Destination port</a:t>
            </a:r>
          </a:p>
        </p:txBody>
      </p:sp>
      <p:sp>
        <p:nvSpPr>
          <p:cNvPr id="28681" name="Rectangle 8">
            <a:extLst>
              <a:ext uri="{FF2B5EF4-FFF2-40B4-BE49-F238E27FC236}">
                <a16:creationId xmlns:a16="http://schemas.microsoft.com/office/drawing/2014/main" id="{8542A6C2-BB99-64B6-2445-2008CE261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82" name="Text Box 9">
            <a:extLst>
              <a:ext uri="{FF2B5EF4-FFF2-40B4-BE49-F238E27FC236}">
                <a16:creationId xmlns:a16="http://schemas.microsoft.com/office/drawing/2014/main" id="{B3822121-BEEF-A22D-AE82-B2871986A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2408238"/>
            <a:ext cx="2259012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Sequence number</a:t>
            </a:r>
          </a:p>
        </p:txBody>
      </p:sp>
      <p:sp>
        <p:nvSpPr>
          <p:cNvPr id="28683" name="Rectangle 10">
            <a:extLst>
              <a:ext uri="{FF2B5EF4-FFF2-40B4-BE49-F238E27FC236}">
                <a16:creationId xmlns:a16="http://schemas.microsoft.com/office/drawing/2014/main" id="{B892CBD7-DDEF-005D-1269-499B82917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84" name="Text Box 11">
            <a:extLst>
              <a:ext uri="{FF2B5EF4-FFF2-40B4-BE49-F238E27FC236}">
                <a16:creationId xmlns:a16="http://schemas.microsoft.com/office/drawing/2014/main" id="{3B45AC94-C64E-16B7-C8AA-4520233B9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2865438"/>
            <a:ext cx="2119312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Acknowledgment</a:t>
            </a:r>
          </a:p>
        </p:txBody>
      </p:sp>
      <p:sp>
        <p:nvSpPr>
          <p:cNvPr id="28685" name="Rectangle 12">
            <a:extLst>
              <a:ext uri="{FF2B5EF4-FFF2-40B4-BE49-F238E27FC236}">
                <a16:creationId xmlns:a16="http://schemas.microsoft.com/office/drawing/2014/main" id="{6DC5FBC3-3947-1501-6770-98C2B15B8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86" name="Rectangle 13">
            <a:extLst>
              <a:ext uri="{FF2B5EF4-FFF2-40B4-BE49-F238E27FC236}">
                <a16:creationId xmlns:a16="http://schemas.microsoft.com/office/drawing/2014/main" id="{CC1BA47E-1A30-BE6A-E782-09891D20E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87" name="Text Box 14">
            <a:extLst>
              <a:ext uri="{FF2B5EF4-FFF2-40B4-BE49-F238E27FC236}">
                <a16:creationId xmlns:a16="http://schemas.microsoft.com/office/drawing/2014/main" id="{4F06A1D8-7AC6-ADBA-818B-F7E26EF5A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3349625"/>
            <a:ext cx="2303463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Advertised window</a:t>
            </a:r>
          </a:p>
        </p:txBody>
      </p:sp>
      <p:sp>
        <p:nvSpPr>
          <p:cNvPr id="28688" name="Text Box 15">
            <a:extLst>
              <a:ext uri="{FF2B5EF4-FFF2-40B4-BE49-F238E27FC236}">
                <a16:creationId xmlns:a16="http://schemas.microsoft.com/office/drawing/2014/main" id="{8C78DB8E-0E4D-B373-F1E0-C913AE420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HdrLen</a:t>
            </a:r>
          </a:p>
        </p:txBody>
      </p:sp>
      <p:sp>
        <p:nvSpPr>
          <p:cNvPr id="28689" name="Line 16">
            <a:extLst>
              <a:ext uri="{FF2B5EF4-FFF2-40B4-BE49-F238E27FC236}">
                <a16:creationId xmlns:a16="http://schemas.microsoft.com/office/drawing/2014/main" id="{06A698C2-7805-1FCD-4EA3-AD9F2E944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0" name="Line 17">
            <a:extLst>
              <a:ext uri="{FF2B5EF4-FFF2-40B4-BE49-F238E27FC236}">
                <a16:creationId xmlns:a16="http://schemas.microsoft.com/office/drawing/2014/main" id="{E05C5820-6E99-8A43-D9C9-2D58FE0B9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Text Box 18">
            <a:extLst>
              <a:ext uri="{FF2B5EF4-FFF2-40B4-BE49-F238E27FC236}">
                <a16:creationId xmlns:a16="http://schemas.microsoft.com/office/drawing/2014/main" id="{0DD94EA1-E726-F731-3EE8-F8B873C25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3363913"/>
            <a:ext cx="80645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</a:t>
            </a:r>
          </a:p>
        </p:txBody>
      </p:sp>
      <p:sp>
        <p:nvSpPr>
          <p:cNvPr id="28692" name="Text Box 19">
            <a:extLst>
              <a:ext uri="{FF2B5EF4-FFF2-40B4-BE49-F238E27FC236}">
                <a16:creationId xmlns:a16="http://schemas.microsoft.com/office/drawing/2014/main" id="{EC4083BB-5974-BF6E-C3CD-6E4BF0427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8693" name="Rectangle 20">
            <a:extLst>
              <a:ext uri="{FF2B5EF4-FFF2-40B4-BE49-F238E27FC236}">
                <a16:creationId xmlns:a16="http://schemas.microsoft.com/office/drawing/2014/main" id="{E5411369-1200-9906-FC8E-F8DB8D73B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94" name="Rectangle 21">
            <a:extLst>
              <a:ext uri="{FF2B5EF4-FFF2-40B4-BE49-F238E27FC236}">
                <a16:creationId xmlns:a16="http://schemas.microsoft.com/office/drawing/2014/main" id="{24BBA800-8B55-F360-032C-35EAD7D27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95" name="Text Box 22">
            <a:extLst>
              <a:ext uri="{FF2B5EF4-FFF2-40B4-BE49-F238E27FC236}">
                <a16:creationId xmlns:a16="http://schemas.microsoft.com/office/drawing/2014/main" id="{69B916A9-9AAB-7D84-A046-B69321978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28696" name="Text Box 23">
            <a:extLst>
              <a:ext uri="{FF2B5EF4-FFF2-40B4-BE49-F238E27FC236}">
                <a16:creationId xmlns:a16="http://schemas.microsoft.com/office/drawing/2014/main" id="{C1287DC9-A14A-18C2-BD47-D0162B6ED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663" y="3897313"/>
            <a:ext cx="179228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28697" name="Rectangle 24">
            <a:extLst>
              <a:ext uri="{FF2B5EF4-FFF2-40B4-BE49-F238E27FC236}">
                <a16:creationId xmlns:a16="http://schemas.microsoft.com/office/drawing/2014/main" id="{56689961-F972-31E8-9703-29B22E615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343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8698" name="Text Box 25">
            <a:extLst>
              <a:ext uri="{FF2B5EF4-FFF2-40B4-BE49-F238E27FC236}">
                <a16:creationId xmlns:a16="http://schemas.microsoft.com/office/drawing/2014/main" id="{0A299968-3BD8-8787-9914-CD1F22C5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4389438"/>
            <a:ext cx="2187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Options (variable)</a:t>
            </a:r>
          </a:p>
        </p:txBody>
      </p:sp>
      <p:sp>
        <p:nvSpPr>
          <p:cNvPr id="28699" name="Rectangle 26">
            <a:extLst>
              <a:ext uri="{FF2B5EF4-FFF2-40B4-BE49-F238E27FC236}">
                <a16:creationId xmlns:a16="http://schemas.microsoft.com/office/drawing/2014/main" id="{D4FCF68E-5448-318B-C8CA-398ADAA4D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28700" name="Text Box 27">
            <a:extLst>
              <a:ext uri="{FF2B5EF4-FFF2-40B4-BE49-F238E27FC236}">
                <a16:creationId xmlns:a16="http://schemas.microsoft.com/office/drawing/2014/main" id="{F49E47CC-DB7D-4856-AE21-2CED4FE83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2705100"/>
            <a:ext cx="87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Flags:</a:t>
            </a:r>
          </a:p>
        </p:txBody>
      </p:sp>
      <p:sp>
        <p:nvSpPr>
          <p:cNvPr id="28701" name="Text Box 28">
            <a:extLst>
              <a:ext uri="{FF2B5EF4-FFF2-40B4-BE49-F238E27FC236}">
                <a16:creationId xmlns:a16="http://schemas.microsoft.com/office/drawing/2014/main" id="{2D162038-576B-359B-98F5-BFC617E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2740025"/>
            <a:ext cx="7493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SYN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RST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PSH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CB50E63A-9602-B59F-10F3-91EED743D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FFEDB0-EC6C-49D7-9940-FBE48D5D7547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BE61A7AC-4C83-D526-8952-10F178DFA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Step 1: A’s Initial SYN Packet</a:t>
            </a:r>
          </a:p>
        </p:txBody>
      </p:sp>
      <p:sp>
        <p:nvSpPr>
          <p:cNvPr id="931844" name="Rectangle 4">
            <a:extLst>
              <a:ext uri="{FF2B5EF4-FFF2-40B4-BE49-F238E27FC236}">
                <a16:creationId xmlns:a16="http://schemas.microsoft.com/office/drawing/2014/main" id="{9D472C84-5A7F-18C1-4750-7E5B9362A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508125"/>
            <a:ext cx="8001000" cy="464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EF878DAB-AF1F-CAE5-2E2E-8E8CEA72C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D69B010B-4DCE-DE66-039B-62939824C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1874838"/>
            <a:ext cx="1044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A’s port</a:t>
            </a: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ADF9BAA9-A689-E83D-0089-9B490936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D3BC86B5-3AEC-3CC4-566D-396C04747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838" y="1874838"/>
            <a:ext cx="1044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B’s port</a:t>
            </a:r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A251714F-F3C9-C901-A21C-5C35A6CAA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3622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F8CC22AB-82BA-A2E2-A523-95E6F0790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300" y="2408238"/>
            <a:ext cx="3389313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A’s Initial Sequence Number</a:t>
            </a:r>
          </a:p>
        </p:txBody>
      </p:sp>
      <p:sp>
        <p:nvSpPr>
          <p:cNvPr id="29707" name="Rectangle 11">
            <a:extLst>
              <a:ext uri="{FF2B5EF4-FFF2-40B4-BE49-F238E27FC236}">
                <a16:creationId xmlns:a16="http://schemas.microsoft.com/office/drawing/2014/main" id="{34D70241-ED44-47F4-EE7F-153EDFFD8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08" name="Text Box 12">
            <a:extLst>
              <a:ext uri="{FF2B5EF4-FFF2-40B4-BE49-F238E27FC236}">
                <a16:creationId xmlns:a16="http://schemas.microsoft.com/office/drawing/2014/main" id="{85686D08-757B-9728-0E13-EB937D192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2865438"/>
            <a:ext cx="2119312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Acknowledgment</a:t>
            </a:r>
          </a:p>
        </p:txBody>
      </p:sp>
      <p:sp>
        <p:nvSpPr>
          <p:cNvPr id="29709" name="Rectangle 13">
            <a:extLst>
              <a:ext uri="{FF2B5EF4-FFF2-40B4-BE49-F238E27FC236}">
                <a16:creationId xmlns:a16="http://schemas.microsoft.com/office/drawing/2014/main" id="{F83C241A-AF77-9038-D349-B326089CB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10" name="Rectangle 14">
            <a:extLst>
              <a:ext uri="{FF2B5EF4-FFF2-40B4-BE49-F238E27FC236}">
                <a16:creationId xmlns:a16="http://schemas.microsoft.com/office/drawing/2014/main" id="{3E1D18DC-FBE9-04A2-D008-FB40FF367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11" name="Text Box 15">
            <a:extLst>
              <a:ext uri="{FF2B5EF4-FFF2-40B4-BE49-F238E27FC236}">
                <a16:creationId xmlns:a16="http://schemas.microsoft.com/office/drawing/2014/main" id="{DFD6F570-E1C7-57ED-07C4-F0C54E720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3349625"/>
            <a:ext cx="2303463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Advertised window</a:t>
            </a:r>
          </a:p>
        </p:txBody>
      </p:sp>
      <p:sp>
        <p:nvSpPr>
          <p:cNvPr id="29712" name="Text Box 16">
            <a:extLst>
              <a:ext uri="{FF2B5EF4-FFF2-40B4-BE49-F238E27FC236}">
                <a16:creationId xmlns:a16="http://schemas.microsoft.com/office/drawing/2014/main" id="{86F72241-4A3F-27D5-FC1B-F39E43504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463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20</a:t>
            </a:r>
          </a:p>
        </p:txBody>
      </p:sp>
      <p:sp>
        <p:nvSpPr>
          <p:cNvPr id="29713" name="Line 17">
            <a:extLst>
              <a:ext uri="{FF2B5EF4-FFF2-40B4-BE49-F238E27FC236}">
                <a16:creationId xmlns:a16="http://schemas.microsoft.com/office/drawing/2014/main" id="{0F977387-2134-1B9B-C3D4-38728E11C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Line 18">
            <a:extLst>
              <a:ext uri="{FF2B5EF4-FFF2-40B4-BE49-F238E27FC236}">
                <a16:creationId xmlns:a16="http://schemas.microsoft.com/office/drawing/2014/main" id="{7D4AEA18-CF8B-E468-854A-D6AECC945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Text Box 19">
            <a:extLst>
              <a:ext uri="{FF2B5EF4-FFF2-40B4-BE49-F238E27FC236}">
                <a16:creationId xmlns:a16="http://schemas.microsoft.com/office/drawing/2014/main" id="{5C0A712C-D8E9-2F19-07BD-108F148C0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3363913"/>
            <a:ext cx="80645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</a:t>
            </a:r>
          </a:p>
        </p:txBody>
      </p:sp>
      <p:sp>
        <p:nvSpPr>
          <p:cNvPr id="29716" name="Text Box 20">
            <a:extLst>
              <a:ext uri="{FF2B5EF4-FFF2-40B4-BE49-F238E27FC236}">
                <a16:creationId xmlns:a16="http://schemas.microsoft.com/office/drawing/2014/main" id="{CD038DC3-3AC8-0DA2-83CD-4B25A63A5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9717" name="Rectangle 21">
            <a:extLst>
              <a:ext uri="{FF2B5EF4-FFF2-40B4-BE49-F238E27FC236}">
                <a16:creationId xmlns:a16="http://schemas.microsoft.com/office/drawing/2014/main" id="{FE94E077-4B56-D1EC-B417-322DCCABF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18" name="Rectangle 22">
            <a:extLst>
              <a:ext uri="{FF2B5EF4-FFF2-40B4-BE49-F238E27FC236}">
                <a16:creationId xmlns:a16="http://schemas.microsoft.com/office/drawing/2014/main" id="{5A3FB2C5-6CED-65A9-81BA-11B65DF3B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19" name="Text Box 23">
            <a:extLst>
              <a:ext uri="{FF2B5EF4-FFF2-40B4-BE49-F238E27FC236}">
                <a16:creationId xmlns:a16="http://schemas.microsoft.com/office/drawing/2014/main" id="{B3F10267-EB57-E741-8176-C475AD26B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29720" name="Text Box 24">
            <a:extLst>
              <a:ext uri="{FF2B5EF4-FFF2-40B4-BE49-F238E27FC236}">
                <a16:creationId xmlns:a16="http://schemas.microsoft.com/office/drawing/2014/main" id="{8B79D7BB-4FA2-98E5-FADB-958DF8F9E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663" y="3897313"/>
            <a:ext cx="179228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29721" name="Rectangle 25">
            <a:extLst>
              <a:ext uri="{FF2B5EF4-FFF2-40B4-BE49-F238E27FC236}">
                <a16:creationId xmlns:a16="http://schemas.microsoft.com/office/drawing/2014/main" id="{E84F84B8-94D8-B687-2DEC-CFF07AA7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343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9722" name="Text Box 26">
            <a:extLst>
              <a:ext uri="{FF2B5EF4-FFF2-40B4-BE49-F238E27FC236}">
                <a16:creationId xmlns:a16="http://schemas.microsoft.com/office/drawing/2014/main" id="{22E7B7DA-83E9-E599-B18D-947BDDF12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4389438"/>
            <a:ext cx="2187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Options (variable)</a:t>
            </a:r>
          </a:p>
        </p:txBody>
      </p:sp>
      <p:sp>
        <p:nvSpPr>
          <p:cNvPr id="29723" name="Text Box 28">
            <a:extLst>
              <a:ext uri="{FF2B5EF4-FFF2-40B4-BE49-F238E27FC236}">
                <a16:creationId xmlns:a16="http://schemas.microsoft.com/office/drawing/2014/main" id="{B4084B5E-6049-10D9-AD0E-772D50F6B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2705100"/>
            <a:ext cx="87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Flags:</a:t>
            </a:r>
          </a:p>
        </p:txBody>
      </p:sp>
      <p:sp>
        <p:nvSpPr>
          <p:cNvPr id="29724" name="Text Box 29">
            <a:extLst>
              <a:ext uri="{FF2B5EF4-FFF2-40B4-BE49-F238E27FC236}">
                <a16:creationId xmlns:a16="http://schemas.microsoft.com/office/drawing/2014/main" id="{DE887364-9110-A54D-F45E-A06AC1770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2740025"/>
            <a:ext cx="7493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SYN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RST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PSH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ACK</a:t>
            </a:r>
          </a:p>
        </p:txBody>
      </p:sp>
      <p:sp>
        <p:nvSpPr>
          <p:cNvPr id="29725" name="Text Box 31">
            <a:extLst>
              <a:ext uri="{FF2B5EF4-FFF2-40B4-BE49-F238E27FC236}">
                <a16:creationId xmlns:a16="http://schemas.microsoft.com/office/drawing/2014/main" id="{21CC3711-B437-6CF2-F953-0EBFF3289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5349875"/>
            <a:ext cx="5089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3300"/>
                </a:solidFill>
                <a:latin typeface="Helvetica" panose="020B0604020202020204" pitchFamily="34" charset="0"/>
              </a:rPr>
              <a:t>A tells B it wants to open a connection…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B14DFA58-2F90-639F-7BFB-8060883CAA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D66388-8FE1-460E-BF8B-8A10D3CB8182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8FF91E5-C987-DE97-8AA4-050E9AC6B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Step 2: B’s SYN-ACK Packet</a:t>
            </a:r>
          </a:p>
        </p:txBody>
      </p:sp>
      <p:sp>
        <p:nvSpPr>
          <p:cNvPr id="932868" name="Rectangle 4">
            <a:extLst>
              <a:ext uri="{FF2B5EF4-FFF2-40B4-BE49-F238E27FC236}">
                <a16:creationId xmlns:a16="http://schemas.microsoft.com/office/drawing/2014/main" id="{A1D93262-C323-5AC8-BC75-107DC6B4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508125"/>
            <a:ext cx="8001000" cy="464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EDE16981-F5FC-F074-1B07-6BE0E1BDD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6FD27F3B-9AF4-287A-3576-A300B232D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1874838"/>
            <a:ext cx="1044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B’s port</a:t>
            </a:r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EF5C600C-E461-7560-F16F-8247DDB01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28" name="Text Box 8">
            <a:extLst>
              <a:ext uri="{FF2B5EF4-FFF2-40B4-BE49-F238E27FC236}">
                <a16:creationId xmlns:a16="http://schemas.microsoft.com/office/drawing/2014/main" id="{5C943B83-2B58-2BC2-C461-98A629C71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838" y="1874838"/>
            <a:ext cx="1044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A’s port</a:t>
            </a:r>
          </a:p>
        </p:txBody>
      </p:sp>
      <p:sp>
        <p:nvSpPr>
          <p:cNvPr id="30729" name="Rectangle 9">
            <a:extLst>
              <a:ext uri="{FF2B5EF4-FFF2-40B4-BE49-F238E27FC236}">
                <a16:creationId xmlns:a16="http://schemas.microsoft.com/office/drawing/2014/main" id="{E7C776A2-8B61-CC9E-8BFE-9FC1D1FCE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3622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30" name="Text Box 10">
            <a:extLst>
              <a:ext uri="{FF2B5EF4-FFF2-40B4-BE49-F238E27FC236}">
                <a16:creationId xmlns:a16="http://schemas.microsoft.com/office/drawing/2014/main" id="{381A7532-CEBF-A7BA-55E2-45092FE23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300" y="2408238"/>
            <a:ext cx="3389313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B’s Initial Sequence Number</a:t>
            </a:r>
          </a:p>
        </p:txBody>
      </p:sp>
      <p:sp>
        <p:nvSpPr>
          <p:cNvPr id="30731" name="Rectangle 11">
            <a:extLst>
              <a:ext uri="{FF2B5EF4-FFF2-40B4-BE49-F238E27FC236}">
                <a16:creationId xmlns:a16="http://schemas.microsoft.com/office/drawing/2014/main" id="{4BBD5DED-CA5C-3256-BA89-D483F5EBC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32" name="Text Box 12">
            <a:extLst>
              <a:ext uri="{FF2B5EF4-FFF2-40B4-BE49-F238E27FC236}">
                <a16:creationId xmlns:a16="http://schemas.microsoft.com/office/drawing/2014/main" id="{77001A1B-37A2-F573-35DF-02F08AFD7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2865438"/>
            <a:ext cx="177958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A’s ISN plus 1</a:t>
            </a:r>
          </a:p>
        </p:txBody>
      </p:sp>
      <p:sp>
        <p:nvSpPr>
          <p:cNvPr id="30733" name="Rectangle 13">
            <a:extLst>
              <a:ext uri="{FF2B5EF4-FFF2-40B4-BE49-F238E27FC236}">
                <a16:creationId xmlns:a16="http://schemas.microsoft.com/office/drawing/2014/main" id="{793D540C-DA62-8B0C-E06F-646BBD4ED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34" name="Rectangle 14">
            <a:extLst>
              <a:ext uri="{FF2B5EF4-FFF2-40B4-BE49-F238E27FC236}">
                <a16:creationId xmlns:a16="http://schemas.microsoft.com/office/drawing/2014/main" id="{7A79DD47-C7A8-EDCB-AE36-F4E5B377A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35" name="Text Box 15">
            <a:extLst>
              <a:ext uri="{FF2B5EF4-FFF2-40B4-BE49-F238E27FC236}">
                <a16:creationId xmlns:a16="http://schemas.microsoft.com/office/drawing/2014/main" id="{15AA2160-608F-FEB2-4CFB-B9F19AE37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3349625"/>
            <a:ext cx="2303463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Advertised window</a:t>
            </a:r>
          </a:p>
        </p:txBody>
      </p:sp>
      <p:sp>
        <p:nvSpPr>
          <p:cNvPr id="30736" name="Text Box 16">
            <a:extLst>
              <a:ext uri="{FF2B5EF4-FFF2-40B4-BE49-F238E27FC236}">
                <a16:creationId xmlns:a16="http://schemas.microsoft.com/office/drawing/2014/main" id="{48795770-730F-E1EE-150D-4DF775D89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463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20</a:t>
            </a:r>
          </a:p>
        </p:txBody>
      </p:sp>
      <p:sp>
        <p:nvSpPr>
          <p:cNvPr id="30737" name="Line 17">
            <a:extLst>
              <a:ext uri="{FF2B5EF4-FFF2-40B4-BE49-F238E27FC236}">
                <a16:creationId xmlns:a16="http://schemas.microsoft.com/office/drawing/2014/main" id="{71B23286-9050-823A-207A-6D33F2C85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8" name="Line 18">
            <a:extLst>
              <a:ext uri="{FF2B5EF4-FFF2-40B4-BE49-F238E27FC236}">
                <a16:creationId xmlns:a16="http://schemas.microsoft.com/office/drawing/2014/main" id="{CCC2A262-5133-4146-04C2-A80D3C0CB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9" name="Text Box 19">
            <a:extLst>
              <a:ext uri="{FF2B5EF4-FFF2-40B4-BE49-F238E27FC236}">
                <a16:creationId xmlns:a16="http://schemas.microsoft.com/office/drawing/2014/main" id="{CB981116-DC0F-A678-1E70-5EE14E191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3363913"/>
            <a:ext cx="80645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</a:t>
            </a:r>
          </a:p>
        </p:txBody>
      </p:sp>
      <p:sp>
        <p:nvSpPr>
          <p:cNvPr id="30740" name="Text Box 20">
            <a:extLst>
              <a:ext uri="{FF2B5EF4-FFF2-40B4-BE49-F238E27FC236}">
                <a16:creationId xmlns:a16="http://schemas.microsoft.com/office/drawing/2014/main" id="{336170CD-F684-E640-FCD2-05B4A80C1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0741" name="Rectangle 21">
            <a:extLst>
              <a:ext uri="{FF2B5EF4-FFF2-40B4-BE49-F238E27FC236}">
                <a16:creationId xmlns:a16="http://schemas.microsoft.com/office/drawing/2014/main" id="{87DE82A1-85E6-59D7-D2D9-E6472D3B9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42" name="Rectangle 22">
            <a:extLst>
              <a:ext uri="{FF2B5EF4-FFF2-40B4-BE49-F238E27FC236}">
                <a16:creationId xmlns:a16="http://schemas.microsoft.com/office/drawing/2014/main" id="{BFE42A87-AB7C-E195-13A5-BAA60F8CA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43" name="Text Box 23">
            <a:extLst>
              <a:ext uri="{FF2B5EF4-FFF2-40B4-BE49-F238E27FC236}">
                <a16:creationId xmlns:a16="http://schemas.microsoft.com/office/drawing/2014/main" id="{F8A988CC-C2FE-46BF-3EE8-961A63A1E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30744" name="Text Box 24">
            <a:extLst>
              <a:ext uri="{FF2B5EF4-FFF2-40B4-BE49-F238E27FC236}">
                <a16:creationId xmlns:a16="http://schemas.microsoft.com/office/drawing/2014/main" id="{E7345AD7-DFC4-F3BE-B390-A17DEAB42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663" y="3897313"/>
            <a:ext cx="179228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30745" name="Rectangle 25">
            <a:extLst>
              <a:ext uri="{FF2B5EF4-FFF2-40B4-BE49-F238E27FC236}">
                <a16:creationId xmlns:a16="http://schemas.microsoft.com/office/drawing/2014/main" id="{5EC05F75-A1D2-3413-2C17-1C2B833D6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343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0746" name="Text Box 26">
            <a:extLst>
              <a:ext uri="{FF2B5EF4-FFF2-40B4-BE49-F238E27FC236}">
                <a16:creationId xmlns:a16="http://schemas.microsoft.com/office/drawing/2014/main" id="{3119B51A-B196-D00B-FF3A-23C1514A0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4389438"/>
            <a:ext cx="2187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Options (variable)</a:t>
            </a:r>
          </a:p>
        </p:txBody>
      </p:sp>
      <p:sp>
        <p:nvSpPr>
          <p:cNvPr id="30747" name="Text Box 27">
            <a:extLst>
              <a:ext uri="{FF2B5EF4-FFF2-40B4-BE49-F238E27FC236}">
                <a16:creationId xmlns:a16="http://schemas.microsoft.com/office/drawing/2014/main" id="{B4E04F2D-32E0-E25E-976B-48DDDDABF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2705100"/>
            <a:ext cx="87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Flags:</a:t>
            </a:r>
          </a:p>
        </p:txBody>
      </p:sp>
      <p:sp>
        <p:nvSpPr>
          <p:cNvPr id="30748" name="Text Box 28">
            <a:extLst>
              <a:ext uri="{FF2B5EF4-FFF2-40B4-BE49-F238E27FC236}">
                <a16:creationId xmlns:a16="http://schemas.microsoft.com/office/drawing/2014/main" id="{AB09647C-5832-966E-4313-030731265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2740025"/>
            <a:ext cx="7493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SYN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RST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PSH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ACK</a:t>
            </a:r>
          </a:p>
        </p:txBody>
      </p:sp>
      <p:sp>
        <p:nvSpPr>
          <p:cNvPr id="30749" name="Text Box 54">
            <a:extLst>
              <a:ext uri="{FF2B5EF4-FFF2-40B4-BE49-F238E27FC236}">
                <a16:creationId xmlns:a16="http://schemas.microsoft.com/office/drawing/2014/main" id="{2445B277-969A-A1F7-99CE-52A38A711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5349875"/>
            <a:ext cx="686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3300"/>
                </a:solidFill>
                <a:latin typeface="Helvetica" panose="020B0604020202020204" pitchFamily="34" charset="0"/>
              </a:rPr>
              <a:t>B tells A it accepts, and is ready to hear the next byte…</a:t>
            </a:r>
          </a:p>
        </p:txBody>
      </p:sp>
      <p:sp>
        <p:nvSpPr>
          <p:cNvPr id="30750" name="Text Box 56">
            <a:extLst>
              <a:ext uri="{FF2B5EF4-FFF2-40B4-BE49-F238E27FC236}">
                <a16:creationId xmlns:a16="http://schemas.microsoft.com/office/drawing/2014/main" id="{EE9550CC-5C43-8BFC-D807-0406321F0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338" y="6219825"/>
            <a:ext cx="679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3300"/>
                </a:solidFill>
                <a:latin typeface="Helvetica" panose="020B0604020202020204" pitchFamily="34" charset="0"/>
              </a:rPr>
              <a:t>… upon receiving this packet, A can start sending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CD567962-D285-44E4-A581-DD6FB16D5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60A69E-9F57-4196-AE2C-D1E6CFE939EB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370A90F-A796-F683-F8D6-1A4BC540D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Step 3: A’s ACK of the SYN-ACK</a:t>
            </a:r>
          </a:p>
        </p:txBody>
      </p:sp>
      <p:sp>
        <p:nvSpPr>
          <p:cNvPr id="933919" name="Rectangle 31">
            <a:extLst>
              <a:ext uri="{FF2B5EF4-FFF2-40B4-BE49-F238E27FC236}">
                <a16:creationId xmlns:a16="http://schemas.microsoft.com/office/drawing/2014/main" id="{80B23D8A-65D9-412A-ADD3-F0E7128C9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508125"/>
            <a:ext cx="8001000" cy="464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31749" name="Rectangle 32">
            <a:extLst>
              <a:ext uri="{FF2B5EF4-FFF2-40B4-BE49-F238E27FC236}">
                <a16:creationId xmlns:a16="http://schemas.microsoft.com/office/drawing/2014/main" id="{A24CEE68-AA70-9F51-FDA0-A306E92CA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50" name="Text Box 33">
            <a:extLst>
              <a:ext uri="{FF2B5EF4-FFF2-40B4-BE49-F238E27FC236}">
                <a16:creationId xmlns:a16="http://schemas.microsoft.com/office/drawing/2014/main" id="{2F92BD08-F1E9-A66D-EE8C-F666C3B76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1874838"/>
            <a:ext cx="1044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A’s port</a:t>
            </a:r>
          </a:p>
        </p:txBody>
      </p:sp>
      <p:sp>
        <p:nvSpPr>
          <p:cNvPr id="31751" name="Rectangle 34">
            <a:extLst>
              <a:ext uri="{FF2B5EF4-FFF2-40B4-BE49-F238E27FC236}">
                <a16:creationId xmlns:a16="http://schemas.microsoft.com/office/drawing/2014/main" id="{CCB38F68-080F-63AB-A25F-F4AF6D9D7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52" name="Text Box 35">
            <a:extLst>
              <a:ext uri="{FF2B5EF4-FFF2-40B4-BE49-F238E27FC236}">
                <a16:creationId xmlns:a16="http://schemas.microsoft.com/office/drawing/2014/main" id="{721B9E2C-22FC-95DA-5131-014972B57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838" y="1874838"/>
            <a:ext cx="1044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B’s port</a:t>
            </a:r>
          </a:p>
        </p:txBody>
      </p:sp>
      <p:sp>
        <p:nvSpPr>
          <p:cNvPr id="31753" name="Rectangle 36">
            <a:extLst>
              <a:ext uri="{FF2B5EF4-FFF2-40B4-BE49-F238E27FC236}">
                <a16:creationId xmlns:a16="http://schemas.microsoft.com/office/drawing/2014/main" id="{94D072BA-A331-66FE-389C-93D52077F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3622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54" name="Rectangle 38">
            <a:extLst>
              <a:ext uri="{FF2B5EF4-FFF2-40B4-BE49-F238E27FC236}">
                <a16:creationId xmlns:a16="http://schemas.microsoft.com/office/drawing/2014/main" id="{3D2B6234-7A26-B9D6-14E5-0FDA99186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55" name="Text Box 39">
            <a:extLst>
              <a:ext uri="{FF2B5EF4-FFF2-40B4-BE49-F238E27FC236}">
                <a16:creationId xmlns:a16="http://schemas.microsoft.com/office/drawing/2014/main" id="{712F0D73-61CD-6DE6-343B-606919392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2865438"/>
            <a:ext cx="177958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B’s ISN plus 1</a:t>
            </a:r>
          </a:p>
        </p:txBody>
      </p:sp>
      <p:sp>
        <p:nvSpPr>
          <p:cNvPr id="31756" name="Rectangle 40">
            <a:extLst>
              <a:ext uri="{FF2B5EF4-FFF2-40B4-BE49-F238E27FC236}">
                <a16:creationId xmlns:a16="http://schemas.microsoft.com/office/drawing/2014/main" id="{05EBFB36-8F29-E7C7-7049-05DB309D7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57" name="Rectangle 41">
            <a:extLst>
              <a:ext uri="{FF2B5EF4-FFF2-40B4-BE49-F238E27FC236}">
                <a16:creationId xmlns:a16="http://schemas.microsoft.com/office/drawing/2014/main" id="{372B9496-4849-1093-9936-DF146BEAA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58" name="Text Box 42">
            <a:extLst>
              <a:ext uri="{FF2B5EF4-FFF2-40B4-BE49-F238E27FC236}">
                <a16:creationId xmlns:a16="http://schemas.microsoft.com/office/drawing/2014/main" id="{6ACC5DB3-B019-3C3F-68A8-C3ECB7A8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3349625"/>
            <a:ext cx="2303463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Advertised window</a:t>
            </a:r>
          </a:p>
        </p:txBody>
      </p:sp>
      <p:sp>
        <p:nvSpPr>
          <p:cNvPr id="31759" name="Text Box 43">
            <a:extLst>
              <a:ext uri="{FF2B5EF4-FFF2-40B4-BE49-F238E27FC236}">
                <a16:creationId xmlns:a16="http://schemas.microsoft.com/office/drawing/2014/main" id="{A8EF7241-E8FB-ABF9-3CB9-AC3C81636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463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20</a:t>
            </a:r>
          </a:p>
        </p:txBody>
      </p:sp>
      <p:sp>
        <p:nvSpPr>
          <p:cNvPr id="31760" name="Line 44">
            <a:extLst>
              <a:ext uri="{FF2B5EF4-FFF2-40B4-BE49-F238E27FC236}">
                <a16:creationId xmlns:a16="http://schemas.microsoft.com/office/drawing/2014/main" id="{687FB98C-6A3B-C1EF-E2F8-DBD9484B9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Line 45">
            <a:extLst>
              <a:ext uri="{FF2B5EF4-FFF2-40B4-BE49-F238E27FC236}">
                <a16:creationId xmlns:a16="http://schemas.microsoft.com/office/drawing/2014/main" id="{D59CB9B9-DC02-29A7-9CA5-E242DBF5E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2" name="Text Box 46">
            <a:extLst>
              <a:ext uri="{FF2B5EF4-FFF2-40B4-BE49-F238E27FC236}">
                <a16:creationId xmlns:a16="http://schemas.microsoft.com/office/drawing/2014/main" id="{960655E4-12EF-BEAA-9473-A29609BF4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3363913"/>
            <a:ext cx="80645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</a:t>
            </a:r>
          </a:p>
        </p:txBody>
      </p:sp>
      <p:sp>
        <p:nvSpPr>
          <p:cNvPr id="31763" name="Text Box 47">
            <a:extLst>
              <a:ext uri="{FF2B5EF4-FFF2-40B4-BE49-F238E27FC236}">
                <a16:creationId xmlns:a16="http://schemas.microsoft.com/office/drawing/2014/main" id="{064D2595-1EFB-6F31-DDA6-F6CB09DA3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1764" name="Rectangle 48">
            <a:extLst>
              <a:ext uri="{FF2B5EF4-FFF2-40B4-BE49-F238E27FC236}">
                <a16:creationId xmlns:a16="http://schemas.microsoft.com/office/drawing/2014/main" id="{E8C1AABF-61AE-B38A-F417-C9017B956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65" name="Rectangle 49">
            <a:extLst>
              <a:ext uri="{FF2B5EF4-FFF2-40B4-BE49-F238E27FC236}">
                <a16:creationId xmlns:a16="http://schemas.microsoft.com/office/drawing/2014/main" id="{34055298-8349-398D-612D-96F9DCFC5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66" name="Text Box 50">
            <a:extLst>
              <a:ext uri="{FF2B5EF4-FFF2-40B4-BE49-F238E27FC236}">
                <a16:creationId xmlns:a16="http://schemas.microsoft.com/office/drawing/2014/main" id="{04A7338A-EC24-6742-51DE-73CCC1DDA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31767" name="Text Box 51">
            <a:extLst>
              <a:ext uri="{FF2B5EF4-FFF2-40B4-BE49-F238E27FC236}">
                <a16:creationId xmlns:a16="http://schemas.microsoft.com/office/drawing/2014/main" id="{4D5507E6-1902-5E9E-5584-B4E3BE6F2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663" y="3897313"/>
            <a:ext cx="1792287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31768" name="Rectangle 52">
            <a:extLst>
              <a:ext uri="{FF2B5EF4-FFF2-40B4-BE49-F238E27FC236}">
                <a16:creationId xmlns:a16="http://schemas.microsoft.com/office/drawing/2014/main" id="{12CC8C04-6E3E-3C55-D791-F0E5BD0B6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343400"/>
            <a:ext cx="48768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1769" name="Text Box 53">
            <a:extLst>
              <a:ext uri="{FF2B5EF4-FFF2-40B4-BE49-F238E27FC236}">
                <a16:creationId xmlns:a16="http://schemas.microsoft.com/office/drawing/2014/main" id="{7FD08EDD-4198-18DF-3078-86E1B6627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4389438"/>
            <a:ext cx="2187575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Options (variable)</a:t>
            </a:r>
          </a:p>
        </p:txBody>
      </p:sp>
      <p:sp>
        <p:nvSpPr>
          <p:cNvPr id="31770" name="Text Box 54">
            <a:extLst>
              <a:ext uri="{FF2B5EF4-FFF2-40B4-BE49-F238E27FC236}">
                <a16:creationId xmlns:a16="http://schemas.microsoft.com/office/drawing/2014/main" id="{4C6AA11F-7F1C-A655-582A-E94EF267C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2705100"/>
            <a:ext cx="87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Flags:</a:t>
            </a:r>
          </a:p>
        </p:txBody>
      </p:sp>
      <p:sp>
        <p:nvSpPr>
          <p:cNvPr id="31771" name="Text Box 55">
            <a:extLst>
              <a:ext uri="{FF2B5EF4-FFF2-40B4-BE49-F238E27FC236}">
                <a16:creationId xmlns:a16="http://schemas.microsoft.com/office/drawing/2014/main" id="{08B6795A-AFCF-AA66-11D5-A215038EF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2740025"/>
            <a:ext cx="7493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SYN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RST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PSH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ACK</a:t>
            </a:r>
          </a:p>
        </p:txBody>
      </p:sp>
      <p:sp>
        <p:nvSpPr>
          <p:cNvPr id="31772" name="Text Box 56">
            <a:extLst>
              <a:ext uri="{FF2B5EF4-FFF2-40B4-BE49-F238E27FC236}">
                <a16:creationId xmlns:a16="http://schemas.microsoft.com/office/drawing/2014/main" id="{5440163A-3801-CED5-E4CC-D184AF5CA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5349875"/>
            <a:ext cx="5114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3300"/>
                </a:solidFill>
                <a:latin typeface="Helvetica" panose="020B0604020202020204" pitchFamily="34" charset="0"/>
              </a:rPr>
              <a:t>A tells B it wants is okay to start sending</a:t>
            </a:r>
          </a:p>
        </p:txBody>
      </p:sp>
      <p:sp>
        <p:nvSpPr>
          <p:cNvPr id="31773" name="Text Box 57">
            <a:extLst>
              <a:ext uri="{FF2B5EF4-FFF2-40B4-BE49-F238E27FC236}">
                <a16:creationId xmlns:a16="http://schemas.microsoft.com/office/drawing/2014/main" id="{121D2BCF-C2B4-1945-862B-ED2F51AB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2408238"/>
            <a:ext cx="2259012" cy="396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Sequence number</a:t>
            </a:r>
          </a:p>
        </p:txBody>
      </p:sp>
      <p:sp>
        <p:nvSpPr>
          <p:cNvPr id="31774" name="Text Box 59">
            <a:extLst>
              <a:ext uri="{FF2B5EF4-FFF2-40B4-BE49-F238E27FC236}">
                <a16:creationId xmlns:a16="http://schemas.microsoft.com/office/drawing/2014/main" id="{1C0FA0DE-F7FB-855D-51DF-10798A1D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338" y="6270625"/>
            <a:ext cx="679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3300"/>
                </a:solidFill>
                <a:latin typeface="Helvetica" panose="020B0604020202020204" pitchFamily="34" charset="0"/>
              </a:rPr>
              <a:t>… upon receiving this packet, B can start sending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C32B127A-A4D2-54AC-8229-0C88422E4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F36D2B-9F81-4FB1-980E-1A8894A2668A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090F471-F1CD-E44E-4B75-7D74F9996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if the SYN Packet Gets Lost?</a:t>
            </a:r>
          </a:p>
        </p:txBody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6064ECD5-0E25-93E0-8FD2-43A8AE810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Suppose the SYN packet gets lost</a:t>
            </a:r>
          </a:p>
          <a:p>
            <a:pPr lvl="1"/>
            <a:r>
              <a:rPr lang="en-US" altLang="en-US"/>
              <a:t>Packet is lost inside the network, or</a:t>
            </a:r>
          </a:p>
          <a:p>
            <a:pPr lvl="1"/>
            <a:r>
              <a:rPr lang="en-US" altLang="en-US"/>
              <a:t>Server rejects the packet (e.g., listen queue is full)</a:t>
            </a:r>
          </a:p>
          <a:p>
            <a:r>
              <a:rPr lang="en-US" altLang="en-US"/>
              <a:t>Eventually, no SYN-ACK arrives</a:t>
            </a:r>
          </a:p>
          <a:p>
            <a:pPr lvl="1"/>
            <a:r>
              <a:rPr lang="en-US" altLang="en-US"/>
              <a:t>Sender sets a timer and wait for the SYN-ACK</a:t>
            </a:r>
          </a:p>
          <a:p>
            <a:pPr lvl="1"/>
            <a:r>
              <a:rPr lang="en-US" altLang="en-US"/>
              <a:t>… and retransmits the SYN-ACK if needed</a:t>
            </a:r>
          </a:p>
          <a:p>
            <a:r>
              <a:rPr lang="en-US" altLang="en-US"/>
              <a:t>How should the TCP sender set the timer?</a:t>
            </a:r>
          </a:p>
          <a:p>
            <a:pPr lvl="1"/>
            <a:r>
              <a:rPr lang="en-US" altLang="en-US"/>
              <a:t>Sender has no idea how far away the receiver is</a:t>
            </a:r>
          </a:p>
          <a:p>
            <a:pPr lvl="1"/>
            <a:r>
              <a:rPr lang="en-US" altLang="en-US"/>
              <a:t>Hard to guess a reasonable length of time to wait</a:t>
            </a:r>
          </a:p>
          <a:p>
            <a:pPr lvl="1"/>
            <a:r>
              <a:rPr lang="en-US" altLang="en-US"/>
              <a:t>Some TCPs use a default of 3 or 6 seconds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701EE8EE-B35B-C5E6-B348-21D97ECF6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B3D98A-B811-425A-A9AA-CE41E8241D09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B58F068-5639-048A-3119-C0671192F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 Loss and Web Downloads</a:t>
            </a:r>
          </a:p>
        </p:txBody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4E045F0D-1842-B34D-3B72-1F3E067AE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User clicks on a hypertext link</a:t>
            </a:r>
          </a:p>
          <a:p>
            <a:pPr lvl="1"/>
            <a:r>
              <a:rPr lang="en-US" altLang="en-US"/>
              <a:t>Browser creates a socket and does a “connect”</a:t>
            </a:r>
          </a:p>
          <a:p>
            <a:pPr lvl="1"/>
            <a:r>
              <a:rPr lang="en-US" altLang="en-US"/>
              <a:t>The “connect” triggers the OS to transmit a SYN</a:t>
            </a:r>
          </a:p>
          <a:p>
            <a:r>
              <a:rPr lang="en-US" altLang="en-US"/>
              <a:t>If the SYN is lost…</a:t>
            </a:r>
          </a:p>
          <a:p>
            <a:pPr lvl="1"/>
            <a:r>
              <a:rPr lang="en-US" altLang="en-US"/>
              <a:t>The 3-6 seconds of delay may be very long</a:t>
            </a:r>
          </a:p>
          <a:p>
            <a:pPr lvl="1"/>
            <a:r>
              <a:rPr lang="en-US" altLang="en-US"/>
              <a:t>The user may get impatient</a:t>
            </a:r>
          </a:p>
          <a:p>
            <a:pPr lvl="1"/>
            <a:r>
              <a:rPr lang="en-US" altLang="en-US"/>
              <a:t>… and click the hyperlink again, or click “reload”</a:t>
            </a:r>
          </a:p>
          <a:p>
            <a:r>
              <a:rPr lang="en-US" altLang="en-US"/>
              <a:t>User triggers an “abort” of the “connect”</a:t>
            </a:r>
          </a:p>
          <a:p>
            <a:pPr lvl="1"/>
            <a:r>
              <a:rPr lang="en-US" altLang="en-US"/>
              <a:t>Browser creates a new socket and does  a “connect”</a:t>
            </a:r>
          </a:p>
          <a:p>
            <a:pPr lvl="1"/>
            <a:r>
              <a:rPr lang="en-US" altLang="en-US"/>
              <a:t>Essentially, forces a faster send of a new SYN packet!</a:t>
            </a:r>
          </a:p>
          <a:p>
            <a:pPr lvl="1"/>
            <a:r>
              <a:rPr lang="en-US" altLang="en-US"/>
              <a:t>Sometimes very effective, and the page comes fast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31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AF969225-92EE-0C73-A087-B24464A313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702094-C7DB-4C5E-B027-4E09D90D7D17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60BB0C44-9C64-68E0-9CA6-DDA8B79CB77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TCP Retransmissions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CA260BA-87D5-4963-5204-F04EBBC424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AC820262-FC6D-AFB6-F303-57FCD748A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7D5366-48DF-478B-9C62-B73734FBCEB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1538" name="Rectangle 2">
            <a:extLst>
              <a:ext uri="{FF2B5EF4-FFF2-40B4-BE49-F238E27FC236}">
                <a16:creationId xmlns:a16="http://schemas.microsoft.com/office/drawing/2014/main" id="{9A46DC36-0293-60EE-21B8-12E092204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057400"/>
            <a:ext cx="3429000" cy="3810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D275161-EF3B-2F6B-65B0-B91398824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Automatic Repeat reQuest (ARQ)</a:t>
            </a:r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DBC7CB42-3C58-5B82-1BCA-139727094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953000"/>
            <a:ext cx="749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</a:t>
            </a:r>
          </a:p>
        </p:txBody>
      </p:sp>
      <p:sp>
        <p:nvSpPr>
          <p:cNvPr id="35846" name="Line 5">
            <a:extLst>
              <a:ext uri="{FF2B5EF4-FFF2-40B4-BE49-F238E27FC236}">
                <a16:creationId xmlns:a16="http://schemas.microsoft.com/office/drawing/2014/main" id="{1820CC58-9EF1-E3AF-1244-C719E23D9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2913" y="3074988"/>
            <a:ext cx="3175" cy="18653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847" name="Group 6">
            <a:extLst>
              <a:ext uri="{FF2B5EF4-FFF2-40B4-BE49-F238E27FC236}">
                <a16:creationId xmlns:a16="http://schemas.microsoft.com/office/drawing/2014/main" id="{89BB5392-F774-9757-992C-47F064763C7A}"/>
              </a:ext>
            </a:extLst>
          </p:cNvPr>
          <p:cNvGrpSpPr>
            <a:grpSpLocks/>
          </p:cNvGrpSpPr>
          <p:nvPr/>
        </p:nvGrpSpPr>
        <p:grpSpPr bwMode="auto">
          <a:xfrm rot="688582">
            <a:off x="6686550" y="3254375"/>
            <a:ext cx="1385888" cy="396875"/>
            <a:chOff x="1105" y="1277"/>
            <a:chExt cx="912" cy="224"/>
          </a:xfrm>
        </p:grpSpPr>
        <p:sp>
          <p:nvSpPr>
            <p:cNvPr id="35858" name="Line 7">
              <a:extLst>
                <a:ext uri="{FF2B5EF4-FFF2-40B4-BE49-F238E27FC236}">
                  <a16:creationId xmlns:a16="http://schemas.microsoft.com/office/drawing/2014/main" id="{2C6C7112-C5CB-B0D9-7422-42A8E7469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87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Text Box 8">
              <a:extLst>
                <a:ext uri="{FF2B5EF4-FFF2-40B4-BE49-F238E27FC236}">
                  <a16:creationId xmlns:a16="http://schemas.microsoft.com/office/drawing/2014/main" id="{05E0FACF-4C6B-0B3D-4CD1-A691485A6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9" y="1277"/>
              <a:ext cx="6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Packet</a:t>
              </a:r>
            </a:p>
          </p:txBody>
        </p:sp>
      </p:grpSp>
      <p:grpSp>
        <p:nvGrpSpPr>
          <p:cNvPr id="35848" name="Group 9">
            <a:extLst>
              <a:ext uri="{FF2B5EF4-FFF2-40B4-BE49-F238E27FC236}">
                <a16:creationId xmlns:a16="http://schemas.microsoft.com/office/drawing/2014/main" id="{B8EA204F-4A89-24C1-4E20-91E2DC198DE6}"/>
              </a:ext>
            </a:extLst>
          </p:cNvPr>
          <p:cNvGrpSpPr>
            <a:grpSpLocks/>
          </p:cNvGrpSpPr>
          <p:nvPr/>
        </p:nvGrpSpPr>
        <p:grpSpPr bwMode="auto">
          <a:xfrm rot="-1217168">
            <a:off x="6540500" y="4005263"/>
            <a:ext cx="1447800" cy="396875"/>
            <a:chOff x="1133" y="1733"/>
            <a:chExt cx="912" cy="250"/>
          </a:xfrm>
        </p:grpSpPr>
        <p:sp>
          <p:nvSpPr>
            <p:cNvPr id="35856" name="Line 10">
              <a:extLst>
                <a:ext uri="{FF2B5EF4-FFF2-40B4-BE49-F238E27FC236}">
                  <a16:creationId xmlns:a16="http://schemas.microsoft.com/office/drawing/2014/main" id="{3165D270-E975-E4D6-2AF4-2061E3B57C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88582">
              <a:off x="1133" y="1965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Text Box 11">
              <a:extLst>
                <a:ext uri="{FF2B5EF4-FFF2-40B4-BE49-F238E27FC236}">
                  <a16:creationId xmlns:a16="http://schemas.microsoft.com/office/drawing/2014/main" id="{17D18E22-287E-4102-D921-4EEDF4041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88582">
              <a:off x="1328" y="1733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ACK</a:t>
              </a:r>
            </a:p>
          </p:txBody>
        </p:sp>
      </p:grpSp>
      <p:cxnSp>
        <p:nvCxnSpPr>
          <p:cNvPr id="35849" name="AutoShape 12">
            <a:extLst>
              <a:ext uri="{FF2B5EF4-FFF2-40B4-BE49-F238E27FC236}">
                <a16:creationId xmlns:a16="http://schemas.microsoft.com/office/drawing/2014/main" id="{78D4759F-D828-854C-8D14-15088A3C24F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5682457" y="4006056"/>
            <a:ext cx="1890712" cy="3175"/>
          </a:xfrm>
          <a:prstGeom prst="bentConnector5">
            <a:avLst>
              <a:gd name="adj1" fmla="val 22833"/>
              <a:gd name="adj2" fmla="val -6800005"/>
              <a:gd name="adj3" fmla="val 84634"/>
            </a:avLst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0" name="Text Box 13">
            <a:extLst>
              <a:ext uri="{FF2B5EF4-FFF2-40B4-BE49-F238E27FC236}">
                <a16:creationId xmlns:a16="http://schemas.microsoft.com/office/drawing/2014/main" id="{4C34B4E2-8D03-CBDD-C7C2-C8A3D8FE179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625307" y="3761581"/>
            <a:ext cx="121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Timeout</a:t>
            </a:r>
          </a:p>
        </p:txBody>
      </p:sp>
      <p:sp>
        <p:nvSpPr>
          <p:cNvPr id="35851" name="Rectangle 14">
            <a:extLst>
              <a:ext uri="{FF2B5EF4-FFF2-40B4-BE49-F238E27FC236}">
                <a16:creationId xmlns:a16="http://schemas.microsoft.com/office/drawing/2014/main" id="{2F99A087-50C5-10F3-8D4D-80878863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1524000"/>
            <a:ext cx="48069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3838" indent="-223838"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63563" indent="-223838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/>
              <a:t>Automatic Repeat Request</a:t>
            </a:r>
          </a:p>
          <a:p>
            <a:pPr lvl="1"/>
            <a:r>
              <a:rPr lang="en-US" altLang="en-US" b="0"/>
              <a:t>Receiver sends acknowledgment (ACK) when it receives packet</a:t>
            </a:r>
          </a:p>
          <a:p>
            <a:pPr lvl="1"/>
            <a:r>
              <a:rPr lang="en-US" altLang="en-US" b="0"/>
              <a:t>Sender waits for ACK and timeouts if it does not arrive within some time period</a:t>
            </a:r>
          </a:p>
          <a:p>
            <a:r>
              <a:rPr lang="en-US" altLang="en-US" b="0"/>
              <a:t>Simplest ARQ protocol</a:t>
            </a:r>
          </a:p>
          <a:p>
            <a:pPr lvl="1"/>
            <a:r>
              <a:rPr lang="en-US" altLang="en-US" b="0"/>
              <a:t>Stop and wait</a:t>
            </a:r>
          </a:p>
          <a:p>
            <a:pPr lvl="1"/>
            <a:r>
              <a:rPr lang="en-US" altLang="en-US" b="0"/>
              <a:t>Send a packet, stop and wait until ACK arrives </a:t>
            </a:r>
          </a:p>
        </p:txBody>
      </p:sp>
      <p:sp>
        <p:nvSpPr>
          <p:cNvPr id="35852" name="Text Box 15">
            <a:extLst>
              <a:ext uri="{FF2B5EF4-FFF2-40B4-BE49-F238E27FC236}">
                <a16:creationId xmlns:a16="http://schemas.microsoft.com/office/drawing/2014/main" id="{9EA60C05-FFE2-03BD-0905-E482E8EA9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90800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Sender</a:t>
            </a:r>
          </a:p>
        </p:txBody>
      </p:sp>
      <p:sp>
        <p:nvSpPr>
          <p:cNvPr id="35853" name="Text Box 16">
            <a:extLst>
              <a:ext uri="{FF2B5EF4-FFF2-40B4-BE49-F238E27FC236}">
                <a16:creationId xmlns:a16="http://schemas.microsoft.com/office/drawing/2014/main" id="{2AE047E7-7A04-7702-494A-68FD0F1D5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2590800"/>
            <a:ext cx="1187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Receiver</a:t>
            </a:r>
          </a:p>
        </p:txBody>
      </p:sp>
      <p:sp>
        <p:nvSpPr>
          <p:cNvPr id="35854" name="Line 17">
            <a:extLst>
              <a:ext uri="{FF2B5EF4-FFF2-40B4-BE49-F238E27FC236}">
                <a16:creationId xmlns:a16="http://schemas.microsoft.com/office/drawing/2014/main" id="{DE559808-9AF2-7F3C-FDD5-2F9606421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048000"/>
            <a:ext cx="0" cy="1905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5" name="Line 18">
            <a:extLst>
              <a:ext uri="{FF2B5EF4-FFF2-40B4-BE49-F238E27FC236}">
                <a16:creationId xmlns:a16="http://schemas.microsoft.com/office/drawing/2014/main" id="{D7F9FADC-BBE1-0EB2-F737-34A7DD848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074988"/>
            <a:ext cx="3175" cy="18653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184B501D-D10E-471F-083D-6557CB7D3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93111A-A9D0-44E4-AC51-044C728AB14E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8B65E9E-DF1A-EB85-3FDF-0E4D9C6C3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Reasons for Retransmission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2AEF5ED-BF37-7A07-A029-502C35DF2408}"/>
              </a:ext>
            </a:extLst>
          </p:cNvPr>
          <p:cNvGrpSpPr>
            <a:grpSpLocks/>
          </p:cNvGrpSpPr>
          <p:nvPr/>
        </p:nvGrpSpPr>
        <p:grpSpPr bwMode="auto">
          <a:xfrm rot="688582">
            <a:off x="7142163" y="2128838"/>
            <a:ext cx="1447800" cy="396875"/>
            <a:chOff x="1105" y="1265"/>
            <a:chExt cx="912" cy="250"/>
          </a:xfrm>
        </p:grpSpPr>
        <p:sp>
          <p:nvSpPr>
            <p:cNvPr id="36921" name="Line 5">
              <a:extLst>
                <a:ext uri="{FF2B5EF4-FFF2-40B4-BE49-F238E27FC236}">
                  <a16:creationId xmlns:a16="http://schemas.microsoft.com/office/drawing/2014/main" id="{B0E48A36-9BA7-B126-91F2-258221623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87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Text Box 6">
              <a:extLst>
                <a:ext uri="{FF2B5EF4-FFF2-40B4-BE49-F238E27FC236}">
                  <a16:creationId xmlns:a16="http://schemas.microsoft.com/office/drawing/2014/main" id="{CCC91A18-9F46-54CC-D720-87E1AD438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265"/>
              <a:ext cx="6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Packet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0799A412-1DC5-2240-ED74-11828CFF2D26}"/>
              </a:ext>
            </a:extLst>
          </p:cNvPr>
          <p:cNvGrpSpPr>
            <a:grpSpLocks/>
          </p:cNvGrpSpPr>
          <p:nvPr/>
        </p:nvGrpSpPr>
        <p:grpSpPr bwMode="auto">
          <a:xfrm rot="-673732">
            <a:off x="6831013" y="2865438"/>
            <a:ext cx="1752600" cy="501650"/>
            <a:chOff x="4062" y="1664"/>
            <a:chExt cx="951" cy="316"/>
          </a:xfrm>
        </p:grpSpPr>
        <p:sp>
          <p:nvSpPr>
            <p:cNvPr id="36919" name="Line 8">
              <a:extLst>
                <a:ext uri="{FF2B5EF4-FFF2-40B4-BE49-F238E27FC236}">
                  <a16:creationId xmlns:a16="http://schemas.microsoft.com/office/drawing/2014/main" id="{5A09A719-0D55-F47B-44AB-73CCA82EE2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520557">
              <a:off x="4061" y="1979"/>
              <a:ext cx="95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Text Box 9">
              <a:extLst>
                <a:ext uri="{FF2B5EF4-FFF2-40B4-BE49-F238E27FC236}">
                  <a16:creationId xmlns:a16="http://schemas.microsoft.com/office/drawing/2014/main" id="{0E6C8074-4C7E-B130-51C0-9AE5B2914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520557">
              <a:off x="4450" y="166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ACK</a:t>
              </a:r>
            </a:p>
          </p:txBody>
        </p:sp>
      </p:grpSp>
      <p:cxnSp>
        <p:nvCxnSpPr>
          <p:cNvPr id="942090" name="AutoShape 10">
            <a:extLst>
              <a:ext uri="{FF2B5EF4-FFF2-40B4-BE49-F238E27FC236}">
                <a16:creationId xmlns:a16="http://schemas.microsoft.com/office/drawing/2014/main" id="{D7489574-230F-FEA2-3407-DE907B16EDC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6120606" y="2836069"/>
            <a:ext cx="1890713" cy="3175"/>
          </a:xfrm>
          <a:prstGeom prst="bentConnector5">
            <a:avLst>
              <a:gd name="adj1" fmla="val 22833"/>
              <a:gd name="adj2" fmla="val -6800005"/>
              <a:gd name="adj3" fmla="val 85472"/>
            </a:avLst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091" name="Text Box 11">
            <a:extLst>
              <a:ext uri="{FF2B5EF4-FFF2-40B4-BE49-F238E27FC236}">
                <a16:creationId xmlns:a16="http://schemas.microsoft.com/office/drawing/2014/main" id="{8DAF06E1-1377-368A-DAA8-0D5BD78EB4CC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074569" y="2736056"/>
            <a:ext cx="121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Timeout</a:t>
            </a:r>
          </a:p>
        </p:txBody>
      </p:sp>
      <p:sp>
        <p:nvSpPr>
          <p:cNvPr id="942092" name="Line 12">
            <a:extLst>
              <a:ext uri="{FF2B5EF4-FFF2-40B4-BE49-F238E27FC236}">
                <a16:creationId xmlns:a16="http://schemas.microsoft.com/office/drawing/2014/main" id="{BAD2EDDB-3105-3CFD-927C-A51D1D35C8DD}"/>
              </a:ext>
            </a:extLst>
          </p:cNvPr>
          <p:cNvSpPr>
            <a:spLocks noChangeShapeType="1"/>
          </p:cNvSpPr>
          <p:nvPr/>
        </p:nvSpPr>
        <p:spPr bwMode="auto">
          <a:xfrm rot="688582">
            <a:off x="7034213" y="3721100"/>
            <a:ext cx="151765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093" name="Text Box 13">
            <a:extLst>
              <a:ext uri="{FF2B5EF4-FFF2-40B4-BE49-F238E27FC236}">
                <a16:creationId xmlns:a16="http://schemas.microsoft.com/office/drawing/2014/main" id="{ECB0CAB3-D4A7-3136-04AE-37FD1B1E8C7E}"/>
              </a:ext>
            </a:extLst>
          </p:cNvPr>
          <p:cNvSpPr txBox="1">
            <a:spLocks noChangeArrowheads="1"/>
          </p:cNvSpPr>
          <p:nvPr/>
        </p:nvSpPr>
        <p:spPr bwMode="auto">
          <a:xfrm rot="688582">
            <a:off x="7539038" y="3382963"/>
            <a:ext cx="960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Packet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2E82525F-FFEB-BCFD-3A86-86037C9D3CFD}"/>
              </a:ext>
            </a:extLst>
          </p:cNvPr>
          <p:cNvGrpSpPr>
            <a:grpSpLocks/>
          </p:cNvGrpSpPr>
          <p:nvPr/>
        </p:nvGrpSpPr>
        <p:grpSpPr bwMode="auto">
          <a:xfrm rot="-1217168">
            <a:off x="6988175" y="4038600"/>
            <a:ext cx="1447800" cy="396875"/>
            <a:chOff x="1133" y="1733"/>
            <a:chExt cx="912" cy="250"/>
          </a:xfrm>
        </p:grpSpPr>
        <p:sp>
          <p:nvSpPr>
            <p:cNvPr id="36917" name="Line 15">
              <a:extLst>
                <a:ext uri="{FF2B5EF4-FFF2-40B4-BE49-F238E27FC236}">
                  <a16:creationId xmlns:a16="http://schemas.microsoft.com/office/drawing/2014/main" id="{8379FE38-994B-7448-2629-D4EB8CBC34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88582">
              <a:off x="1133" y="1965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8" name="Text Box 16">
              <a:extLst>
                <a:ext uri="{FF2B5EF4-FFF2-40B4-BE49-F238E27FC236}">
                  <a16:creationId xmlns:a16="http://schemas.microsoft.com/office/drawing/2014/main" id="{A68122E9-2F47-8BE1-2F6F-88A40D120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88582">
              <a:off x="1328" y="1733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ACK</a:t>
              </a:r>
            </a:p>
          </p:txBody>
        </p:sp>
      </p:grpSp>
      <p:cxnSp>
        <p:nvCxnSpPr>
          <p:cNvPr id="942097" name="AutoShape 17">
            <a:extLst>
              <a:ext uri="{FF2B5EF4-FFF2-40B4-BE49-F238E27FC236}">
                <a16:creationId xmlns:a16="http://schemas.microsoft.com/office/drawing/2014/main" id="{6C023660-2F76-98AB-9FF4-480A092D47B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6120607" y="4310856"/>
            <a:ext cx="1890712" cy="3175"/>
          </a:xfrm>
          <a:prstGeom prst="bentConnector5">
            <a:avLst>
              <a:gd name="adj1" fmla="val 10662"/>
              <a:gd name="adj2" fmla="val -6800005"/>
              <a:gd name="adj3" fmla="val 77329"/>
            </a:avLst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098" name="Text Box 18">
            <a:extLst>
              <a:ext uri="{FF2B5EF4-FFF2-40B4-BE49-F238E27FC236}">
                <a16:creationId xmlns:a16="http://schemas.microsoft.com/office/drawing/2014/main" id="{4A42631E-E0A0-A3A0-DF0C-C29C7F4C4679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072982" y="4210844"/>
            <a:ext cx="1214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Timeout</a:t>
            </a:r>
          </a:p>
        </p:txBody>
      </p:sp>
      <p:grpSp>
        <p:nvGrpSpPr>
          <p:cNvPr id="36877" name="Group 19">
            <a:extLst>
              <a:ext uri="{FF2B5EF4-FFF2-40B4-BE49-F238E27FC236}">
                <a16:creationId xmlns:a16="http://schemas.microsoft.com/office/drawing/2014/main" id="{268D8A4E-890A-730B-EE87-692597999D4C}"/>
              </a:ext>
            </a:extLst>
          </p:cNvPr>
          <p:cNvGrpSpPr>
            <a:grpSpLocks/>
          </p:cNvGrpSpPr>
          <p:nvPr/>
        </p:nvGrpSpPr>
        <p:grpSpPr bwMode="auto">
          <a:xfrm rot="688582">
            <a:off x="1274763" y="2124075"/>
            <a:ext cx="1081087" cy="396875"/>
            <a:chOff x="1093" y="1281"/>
            <a:chExt cx="924" cy="215"/>
          </a:xfrm>
        </p:grpSpPr>
        <p:sp>
          <p:nvSpPr>
            <p:cNvPr id="36915" name="Line 20">
              <a:extLst>
                <a:ext uri="{FF2B5EF4-FFF2-40B4-BE49-F238E27FC236}">
                  <a16:creationId xmlns:a16="http://schemas.microsoft.com/office/drawing/2014/main" id="{453F7123-EAD2-3564-85F4-4F346E45C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83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6" name="Text Box 21">
              <a:extLst>
                <a:ext uri="{FF2B5EF4-FFF2-40B4-BE49-F238E27FC236}">
                  <a16:creationId xmlns:a16="http://schemas.microsoft.com/office/drawing/2014/main" id="{E6B0923F-B99D-2D75-60CF-BB66B7C32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" y="1281"/>
              <a:ext cx="82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Packet</a:t>
              </a:r>
            </a:p>
          </p:txBody>
        </p:sp>
      </p:grpSp>
      <p:cxnSp>
        <p:nvCxnSpPr>
          <p:cNvPr id="942102" name="AutoShape 22">
            <a:extLst>
              <a:ext uri="{FF2B5EF4-FFF2-40B4-BE49-F238E27FC236}">
                <a16:creationId xmlns:a16="http://schemas.microsoft.com/office/drawing/2014/main" id="{681436A2-BC5E-B46D-D027-4264A4A66FD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272256" y="2836069"/>
            <a:ext cx="1890713" cy="3175"/>
          </a:xfrm>
          <a:prstGeom prst="bentConnector5">
            <a:avLst>
              <a:gd name="adj1" fmla="val 22833"/>
              <a:gd name="adj2" fmla="val -6800005"/>
              <a:gd name="adj3" fmla="val 100671"/>
            </a:avLst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03" name="Text Box 23">
            <a:extLst>
              <a:ext uri="{FF2B5EF4-FFF2-40B4-BE49-F238E27FC236}">
                <a16:creationId xmlns:a16="http://schemas.microsoft.com/office/drawing/2014/main" id="{E849FD93-5CD4-3BCF-13D1-20993DA4E35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27807" y="2734469"/>
            <a:ext cx="1214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Timeout</a:t>
            </a:r>
          </a:p>
        </p:txBody>
      </p:sp>
      <p:grpSp>
        <p:nvGrpSpPr>
          <p:cNvPr id="6" name="Group 24">
            <a:extLst>
              <a:ext uri="{FF2B5EF4-FFF2-40B4-BE49-F238E27FC236}">
                <a16:creationId xmlns:a16="http://schemas.microsoft.com/office/drawing/2014/main" id="{D6ED4244-F70B-0E07-7B4F-8C3A9BB45097}"/>
              </a:ext>
            </a:extLst>
          </p:cNvPr>
          <p:cNvGrpSpPr>
            <a:grpSpLocks/>
          </p:cNvGrpSpPr>
          <p:nvPr/>
        </p:nvGrpSpPr>
        <p:grpSpPr bwMode="auto">
          <a:xfrm rot="688582">
            <a:off x="1292225" y="3603625"/>
            <a:ext cx="1447800" cy="396875"/>
            <a:chOff x="1105" y="1265"/>
            <a:chExt cx="912" cy="250"/>
          </a:xfrm>
        </p:grpSpPr>
        <p:sp>
          <p:nvSpPr>
            <p:cNvPr id="36913" name="Line 25">
              <a:extLst>
                <a:ext uri="{FF2B5EF4-FFF2-40B4-BE49-F238E27FC236}">
                  <a16:creationId xmlns:a16="http://schemas.microsoft.com/office/drawing/2014/main" id="{E3FE4271-8A53-0072-B49B-747BBF5DE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87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4" name="Text Box 26">
              <a:extLst>
                <a:ext uri="{FF2B5EF4-FFF2-40B4-BE49-F238E27FC236}">
                  <a16:creationId xmlns:a16="http://schemas.microsoft.com/office/drawing/2014/main" id="{298BA7A0-1E22-499E-A4C5-7C0ED6E6A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265"/>
              <a:ext cx="6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Packet</a:t>
              </a:r>
            </a:p>
          </p:txBody>
        </p:sp>
      </p:grpSp>
      <p:grpSp>
        <p:nvGrpSpPr>
          <p:cNvPr id="7" name="Group 27">
            <a:extLst>
              <a:ext uri="{FF2B5EF4-FFF2-40B4-BE49-F238E27FC236}">
                <a16:creationId xmlns:a16="http://schemas.microsoft.com/office/drawing/2014/main" id="{4A5916CE-70C2-CA69-E042-47DD8BFDB8D3}"/>
              </a:ext>
            </a:extLst>
          </p:cNvPr>
          <p:cNvGrpSpPr>
            <a:grpSpLocks/>
          </p:cNvGrpSpPr>
          <p:nvPr/>
        </p:nvGrpSpPr>
        <p:grpSpPr bwMode="auto">
          <a:xfrm rot="-1217168">
            <a:off x="1139825" y="4367213"/>
            <a:ext cx="1447800" cy="396875"/>
            <a:chOff x="1133" y="1733"/>
            <a:chExt cx="912" cy="250"/>
          </a:xfrm>
        </p:grpSpPr>
        <p:sp>
          <p:nvSpPr>
            <p:cNvPr id="36911" name="Line 28">
              <a:extLst>
                <a:ext uri="{FF2B5EF4-FFF2-40B4-BE49-F238E27FC236}">
                  <a16:creationId xmlns:a16="http://schemas.microsoft.com/office/drawing/2014/main" id="{A52FB82E-74BA-D3C4-F16C-827B2E5491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88582">
              <a:off x="1133" y="1965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2" name="Text Box 29">
              <a:extLst>
                <a:ext uri="{FF2B5EF4-FFF2-40B4-BE49-F238E27FC236}">
                  <a16:creationId xmlns:a16="http://schemas.microsoft.com/office/drawing/2014/main" id="{DBCFA598-FB71-A733-988F-3949D1332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88582">
              <a:off x="1328" y="1733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ACK</a:t>
              </a:r>
            </a:p>
          </p:txBody>
        </p:sp>
      </p:grpSp>
      <p:cxnSp>
        <p:nvCxnSpPr>
          <p:cNvPr id="942110" name="AutoShape 30">
            <a:extLst>
              <a:ext uri="{FF2B5EF4-FFF2-40B4-BE49-F238E27FC236}">
                <a16:creationId xmlns:a16="http://schemas.microsoft.com/office/drawing/2014/main" id="{42954005-A180-6118-6F86-B603E9D5C19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270670" y="4310856"/>
            <a:ext cx="1890712" cy="3175"/>
          </a:xfrm>
          <a:prstGeom prst="bentConnector5">
            <a:avLst>
              <a:gd name="adj1" fmla="val 22833"/>
              <a:gd name="adj2" fmla="val -6800005"/>
              <a:gd name="adj3" fmla="val 97144"/>
            </a:avLst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11" name="Text Box 31">
            <a:extLst>
              <a:ext uri="{FF2B5EF4-FFF2-40B4-BE49-F238E27FC236}">
                <a16:creationId xmlns:a16="http://schemas.microsoft.com/office/drawing/2014/main" id="{0E95C763-625B-B8D5-1347-0F87904A157A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26219" y="4210844"/>
            <a:ext cx="1214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Timeout</a:t>
            </a:r>
          </a:p>
        </p:txBody>
      </p:sp>
      <p:sp>
        <p:nvSpPr>
          <p:cNvPr id="36884" name="AutoShape 32">
            <a:extLst>
              <a:ext uri="{FF2B5EF4-FFF2-40B4-BE49-F238E27FC236}">
                <a16:creationId xmlns:a16="http://schemas.microsoft.com/office/drawing/2014/main" id="{2A03452A-C8C7-E387-BFB3-26CDE5435A5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30425" y="2362200"/>
            <a:ext cx="381000" cy="457200"/>
          </a:xfrm>
          <a:prstGeom prst="lightningBol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8" name="Group 35">
            <a:extLst>
              <a:ext uri="{FF2B5EF4-FFF2-40B4-BE49-F238E27FC236}">
                <a16:creationId xmlns:a16="http://schemas.microsoft.com/office/drawing/2014/main" id="{536838E3-F643-848E-57E9-3A2AA6F10532}"/>
              </a:ext>
            </a:extLst>
          </p:cNvPr>
          <p:cNvGrpSpPr>
            <a:grpSpLocks/>
          </p:cNvGrpSpPr>
          <p:nvPr/>
        </p:nvGrpSpPr>
        <p:grpSpPr bwMode="auto">
          <a:xfrm rot="688582">
            <a:off x="4252913" y="2128838"/>
            <a:ext cx="1447800" cy="396875"/>
            <a:chOff x="1105" y="1265"/>
            <a:chExt cx="912" cy="250"/>
          </a:xfrm>
        </p:grpSpPr>
        <p:sp>
          <p:nvSpPr>
            <p:cNvPr id="36909" name="Line 36">
              <a:extLst>
                <a:ext uri="{FF2B5EF4-FFF2-40B4-BE49-F238E27FC236}">
                  <a16:creationId xmlns:a16="http://schemas.microsoft.com/office/drawing/2014/main" id="{6B2A8015-6D54-1D1E-211D-98C376EDB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87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0" name="Text Box 37">
              <a:extLst>
                <a:ext uri="{FF2B5EF4-FFF2-40B4-BE49-F238E27FC236}">
                  <a16:creationId xmlns:a16="http://schemas.microsoft.com/office/drawing/2014/main" id="{D3D7212C-CFB1-203F-8AFA-D256FEAAA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265"/>
              <a:ext cx="6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Packet</a:t>
              </a:r>
            </a:p>
          </p:txBody>
        </p:sp>
      </p:grpSp>
      <p:grpSp>
        <p:nvGrpSpPr>
          <p:cNvPr id="9" name="Group 38">
            <a:extLst>
              <a:ext uri="{FF2B5EF4-FFF2-40B4-BE49-F238E27FC236}">
                <a16:creationId xmlns:a16="http://schemas.microsoft.com/office/drawing/2014/main" id="{BD8C0679-E7FB-4B20-D6A3-912ABCB0CDA8}"/>
              </a:ext>
            </a:extLst>
          </p:cNvPr>
          <p:cNvGrpSpPr>
            <a:grpSpLocks/>
          </p:cNvGrpSpPr>
          <p:nvPr/>
        </p:nvGrpSpPr>
        <p:grpSpPr bwMode="auto">
          <a:xfrm rot="-1217168">
            <a:off x="4549775" y="2809875"/>
            <a:ext cx="982663" cy="396875"/>
            <a:chOff x="1133" y="1733"/>
            <a:chExt cx="912" cy="250"/>
          </a:xfrm>
        </p:grpSpPr>
        <p:sp>
          <p:nvSpPr>
            <p:cNvPr id="36907" name="Line 39">
              <a:extLst>
                <a:ext uri="{FF2B5EF4-FFF2-40B4-BE49-F238E27FC236}">
                  <a16:creationId xmlns:a16="http://schemas.microsoft.com/office/drawing/2014/main" id="{D6C36ECA-DF40-7A36-31DD-7114293091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88582">
              <a:off x="1133" y="1965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8" name="Text Box 40">
              <a:extLst>
                <a:ext uri="{FF2B5EF4-FFF2-40B4-BE49-F238E27FC236}">
                  <a16:creationId xmlns:a16="http://schemas.microsoft.com/office/drawing/2014/main" id="{0F03030B-E061-7B1D-9DD4-95798B60B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88582">
              <a:off x="1218" y="1733"/>
              <a:ext cx="6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ACK</a:t>
              </a:r>
            </a:p>
          </p:txBody>
        </p:sp>
      </p:grpSp>
      <p:cxnSp>
        <p:nvCxnSpPr>
          <p:cNvPr id="942121" name="AutoShape 41">
            <a:extLst>
              <a:ext uri="{FF2B5EF4-FFF2-40B4-BE49-F238E27FC236}">
                <a16:creationId xmlns:a16="http://schemas.microsoft.com/office/drawing/2014/main" id="{44DA84D4-572B-2A31-4BE4-423C9F6E6BA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3231356" y="2836069"/>
            <a:ext cx="1890713" cy="3175"/>
          </a:xfrm>
          <a:prstGeom prst="bentConnector5">
            <a:avLst>
              <a:gd name="adj1" fmla="val 22833"/>
              <a:gd name="adj2" fmla="val -6800005"/>
              <a:gd name="adj3" fmla="val 100671"/>
            </a:avLst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22" name="Text Box 42">
            <a:extLst>
              <a:ext uri="{FF2B5EF4-FFF2-40B4-BE49-F238E27FC236}">
                <a16:creationId xmlns:a16="http://schemas.microsoft.com/office/drawing/2014/main" id="{5745636E-819E-1D56-4609-19F601758D7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185319" y="2736056"/>
            <a:ext cx="121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Timeout</a:t>
            </a:r>
          </a:p>
        </p:txBody>
      </p:sp>
      <p:grpSp>
        <p:nvGrpSpPr>
          <p:cNvPr id="10" name="Group 43">
            <a:extLst>
              <a:ext uri="{FF2B5EF4-FFF2-40B4-BE49-F238E27FC236}">
                <a16:creationId xmlns:a16="http://schemas.microsoft.com/office/drawing/2014/main" id="{E2A95312-12C3-2578-13B4-D22DDD24622E}"/>
              </a:ext>
            </a:extLst>
          </p:cNvPr>
          <p:cNvGrpSpPr>
            <a:grpSpLocks/>
          </p:cNvGrpSpPr>
          <p:nvPr/>
        </p:nvGrpSpPr>
        <p:grpSpPr bwMode="auto">
          <a:xfrm rot="688582">
            <a:off x="4251325" y="3603625"/>
            <a:ext cx="1447800" cy="396875"/>
            <a:chOff x="1105" y="1265"/>
            <a:chExt cx="912" cy="250"/>
          </a:xfrm>
        </p:grpSpPr>
        <p:sp>
          <p:nvSpPr>
            <p:cNvPr id="36905" name="Line 44">
              <a:extLst>
                <a:ext uri="{FF2B5EF4-FFF2-40B4-BE49-F238E27FC236}">
                  <a16:creationId xmlns:a16="http://schemas.microsoft.com/office/drawing/2014/main" id="{C8977585-7463-265A-E9F4-1BF2197EF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87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6" name="Text Box 45">
              <a:extLst>
                <a:ext uri="{FF2B5EF4-FFF2-40B4-BE49-F238E27FC236}">
                  <a16:creationId xmlns:a16="http://schemas.microsoft.com/office/drawing/2014/main" id="{B3351C2E-47F7-4C66-391E-F98770948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265"/>
              <a:ext cx="6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Packet</a:t>
              </a:r>
            </a:p>
          </p:txBody>
        </p:sp>
      </p:grpSp>
      <p:grpSp>
        <p:nvGrpSpPr>
          <p:cNvPr id="11" name="Group 46">
            <a:extLst>
              <a:ext uri="{FF2B5EF4-FFF2-40B4-BE49-F238E27FC236}">
                <a16:creationId xmlns:a16="http://schemas.microsoft.com/office/drawing/2014/main" id="{9D933370-6D7E-8053-6589-CE4BDC579E5E}"/>
              </a:ext>
            </a:extLst>
          </p:cNvPr>
          <p:cNvGrpSpPr>
            <a:grpSpLocks/>
          </p:cNvGrpSpPr>
          <p:nvPr/>
        </p:nvGrpSpPr>
        <p:grpSpPr bwMode="auto">
          <a:xfrm rot="-1217168">
            <a:off x="4098925" y="4367213"/>
            <a:ext cx="1447800" cy="396875"/>
            <a:chOff x="1133" y="1733"/>
            <a:chExt cx="912" cy="250"/>
          </a:xfrm>
        </p:grpSpPr>
        <p:sp>
          <p:nvSpPr>
            <p:cNvPr id="36903" name="Line 47">
              <a:extLst>
                <a:ext uri="{FF2B5EF4-FFF2-40B4-BE49-F238E27FC236}">
                  <a16:creationId xmlns:a16="http://schemas.microsoft.com/office/drawing/2014/main" id="{7A5DC0E6-1F0D-C061-778B-2D17D550E4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88582">
              <a:off x="1133" y="1965"/>
              <a:ext cx="91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4" name="Text Box 48">
              <a:extLst>
                <a:ext uri="{FF2B5EF4-FFF2-40B4-BE49-F238E27FC236}">
                  <a16:creationId xmlns:a16="http://schemas.microsoft.com/office/drawing/2014/main" id="{8FC7C742-E08E-A608-297C-74A3122D6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88582">
              <a:off x="1328" y="1733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Font typeface="Helvetica" panose="020B0604020202020204" pitchFamily="34" charset="0"/>
                <a:buChar char="–"/>
                <a:defRPr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10000"/>
                </a:spcBef>
                <a:buChar char="•"/>
                <a:defRPr sz="2000">
                  <a:solidFill>
                    <a:schemeClr val="accent2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10000"/>
                </a:spcBef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rgbClr val="000000"/>
                  </a:solidFill>
                </a:rPr>
                <a:t>ACK</a:t>
              </a:r>
            </a:p>
          </p:txBody>
        </p:sp>
      </p:grpSp>
      <p:cxnSp>
        <p:nvCxnSpPr>
          <p:cNvPr id="942129" name="AutoShape 49">
            <a:extLst>
              <a:ext uri="{FF2B5EF4-FFF2-40B4-BE49-F238E27FC236}">
                <a16:creationId xmlns:a16="http://schemas.microsoft.com/office/drawing/2014/main" id="{6FFB2A3F-1B38-FE9A-CD4C-796C0C0D941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3229770" y="4310856"/>
            <a:ext cx="1890712" cy="3175"/>
          </a:xfrm>
          <a:prstGeom prst="bentConnector5">
            <a:avLst>
              <a:gd name="adj1" fmla="val 22833"/>
              <a:gd name="adj2" fmla="val -6800005"/>
              <a:gd name="adj3" fmla="val 97144"/>
            </a:avLst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30" name="Text Box 50">
            <a:extLst>
              <a:ext uri="{FF2B5EF4-FFF2-40B4-BE49-F238E27FC236}">
                <a16:creationId xmlns:a16="http://schemas.microsoft.com/office/drawing/2014/main" id="{C7328EEE-2EDA-1F35-6D2F-24CF3891368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183732" y="4210844"/>
            <a:ext cx="1214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Timeout</a:t>
            </a:r>
          </a:p>
        </p:txBody>
      </p:sp>
      <p:sp>
        <p:nvSpPr>
          <p:cNvPr id="942131" name="Line 51">
            <a:extLst>
              <a:ext uri="{FF2B5EF4-FFF2-40B4-BE49-F238E27FC236}">
                <a16:creationId xmlns:a16="http://schemas.microsoft.com/office/drawing/2014/main" id="{828A8685-4DD9-8948-AA2B-8913E42A5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5125" y="1752600"/>
            <a:ext cx="0" cy="3810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32" name="AutoShape 52">
            <a:extLst>
              <a:ext uri="{FF2B5EF4-FFF2-40B4-BE49-F238E27FC236}">
                <a16:creationId xmlns:a16="http://schemas.microsoft.com/office/drawing/2014/main" id="{1D90ACEC-2F7E-A3C9-F028-742A1595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525" y="3048000"/>
            <a:ext cx="381000" cy="457200"/>
          </a:xfrm>
          <a:prstGeom prst="lightningBol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42133" name="Text Box 53">
            <a:extLst>
              <a:ext uri="{FF2B5EF4-FFF2-40B4-BE49-F238E27FC236}">
                <a16:creationId xmlns:a16="http://schemas.microsoft.com/office/drawing/2014/main" id="{42E80658-CB5B-D78A-87C6-DCAE6CD83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5456238"/>
            <a:ext cx="16827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/>
              <a:t>ACK lost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3300"/>
                </a:solidFill>
              </a:rPr>
              <a:t>DUPLICATE </a:t>
            </a:r>
            <a:br>
              <a:rPr lang="en-US" altLang="en-US" sz="2000" b="0">
                <a:solidFill>
                  <a:srgbClr val="FF3300"/>
                </a:solidFill>
              </a:rPr>
            </a:br>
            <a:r>
              <a:rPr lang="en-US" altLang="en-US" sz="2000" b="0">
                <a:solidFill>
                  <a:srgbClr val="FF3300"/>
                </a:solidFill>
              </a:rPr>
              <a:t>PACKET</a:t>
            </a:r>
          </a:p>
        </p:txBody>
      </p:sp>
      <p:sp>
        <p:nvSpPr>
          <p:cNvPr id="36896" name="Text Box 54">
            <a:extLst>
              <a:ext uri="{FF2B5EF4-FFF2-40B4-BE49-F238E27FC236}">
                <a16:creationId xmlns:a16="http://schemas.microsoft.com/office/drawing/2014/main" id="{C75414B3-8868-2A79-6660-53E9C34A1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38" y="5592763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/>
              <a:t>Packet lost</a:t>
            </a:r>
          </a:p>
        </p:txBody>
      </p:sp>
      <p:sp>
        <p:nvSpPr>
          <p:cNvPr id="942135" name="Text Box 55">
            <a:extLst>
              <a:ext uri="{FF2B5EF4-FFF2-40B4-BE49-F238E27FC236}">
                <a16:creationId xmlns:a16="http://schemas.microsoft.com/office/drawing/2014/main" id="{047F7969-DCEC-5DD4-019E-F395AD6CC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338" y="5486400"/>
            <a:ext cx="17907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/>
              <a:t>Early timeout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</a:rPr>
              <a:t>DUPLICATE</a:t>
            </a:r>
            <a:br>
              <a:rPr lang="en-US" altLang="en-US" sz="2000" b="0">
                <a:solidFill>
                  <a:srgbClr val="FF0000"/>
                </a:solidFill>
              </a:rPr>
            </a:br>
            <a:r>
              <a:rPr lang="en-US" altLang="en-US" sz="2000" b="0">
                <a:solidFill>
                  <a:srgbClr val="FF0000"/>
                </a:solidFill>
              </a:rPr>
              <a:t>PACKETS</a:t>
            </a:r>
          </a:p>
        </p:txBody>
      </p:sp>
      <p:sp>
        <p:nvSpPr>
          <p:cNvPr id="942136" name="Line 56">
            <a:extLst>
              <a:ext uri="{FF2B5EF4-FFF2-40B4-BE49-F238E27FC236}">
                <a16:creationId xmlns:a16="http://schemas.microsoft.com/office/drawing/2014/main" id="{A93A1B3C-506D-B511-C307-E4F2B0AC8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2613" y="1752600"/>
            <a:ext cx="0" cy="3810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99" name="Line 57">
            <a:extLst>
              <a:ext uri="{FF2B5EF4-FFF2-40B4-BE49-F238E27FC236}">
                <a16:creationId xmlns:a16="http://schemas.microsoft.com/office/drawing/2014/main" id="{BD7C85A2-C733-65DD-B2D1-969166E12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38" y="1752600"/>
            <a:ext cx="0" cy="3810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900" name="Line 58">
            <a:extLst>
              <a:ext uri="{FF2B5EF4-FFF2-40B4-BE49-F238E27FC236}">
                <a16:creationId xmlns:a16="http://schemas.microsoft.com/office/drawing/2014/main" id="{0FF48A59-3545-E14E-EA1D-6C28F3906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1925" y="1752600"/>
            <a:ext cx="0" cy="3810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39" name="Line 59">
            <a:extLst>
              <a:ext uri="{FF2B5EF4-FFF2-40B4-BE49-F238E27FC236}">
                <a16:creationId xmlns:a16="http://schemas.microsoft.com/office/drawing/2014/main" id="{3DCE7829-12FF-C1C4-C605-AA0FCA158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2788" y="1752600"/>
            <a:ext cx="0" cy="3810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40" name="Line 60">
            <a:extLst>
              <a:ext uri="{FF2B5EF4-FFF2-40B4-BE49-F238E27FC236}">
                <a16:creationId xmlns:a16="http://schemas.microsoft.com/office/drawing/2014/main" id="{AB361014-56D2-BA00-9529-5EF42801A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0275" y="1752600"/>
            <a:ext cx="0" cy="3810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091" grpId="0"/>
      <p:bldP spid="942093" grpId="0"/>
      <p:bldP spid="942098" grpId="0"/>
      <p:bldP spid="942103" grpId="0"/>
      <p:bldP spid="942111" grpId="0"/>
      <p:bldP spid="942122" grpId="0"/>
      <p:bldP spid="942130" grpId="0"/>
      <p:bldP spid="942132" grpId="0" animBg="1"/>
      <p:bldP spid="942133" grpId="0"/>
      <p:bldP spid="9421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>
            <a:extLst>
              <a:ext uri="{FF2B5EF4-FFF2-40B4-BE49-F238E27FC236}">
                <a16:creationId xmlns:a16="http://schemas.microsoft.com/office/drawing/2014/main" id="{13831010-431B-8E90-A150-35BEE5910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414298-D29F-4C97-BDA4-9133860694DF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D7B95A5-48F7-06C2-F834-68FC9B9B8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Long Should Sender Wait?</a:t>
            </a:r>
          </a:p>
        </p:txBody>
      </p:sp>
      <p:sp>
        <p:nvSpPr>
          <p:cNvPr id="951299" name="Rectangle 3">
            <a:extLst>
              <a:ext uri="{FF2B5EF4-FFF2-40B4-BE49-F238E27FC236}">
                <a16:creationId xmlns:a16="http://schemas.microsoft.com/office/drawing/2014/main" id="{6B8B3B21-27AD-7ED6-4134-0F58DE3A4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Sender sets a timeout to wait for an ACK</a:t>
            </a:r>
          </a:p>
          <a:p>
            <a:pPr lvl="1"/>
            <a:r>
              <a:rPr lang="en-US" altLang="en-US"/>
              <a:t>Too short: wasted retransmissions</a:t>
            </a:r>
          </a:p>
          <a:p>
            <a:pPr lvl="1"/>
            <a:r>
              <a:rPr lang="en-US" altLang="en-US"/>
              <a:t>Too long: excessive delays when packet lost</a:t>
            </a:r>
          </a:p>
          <a:p>
            <a:r>
              <a:rPr lang="en-US" altLang="en-US"/>
              <a:t>TCP sets timeout as a function of the RTT</a:t>
            </a:r>
          </a:p>
          <a:p>
            <a:pPr lvl="1"/>
            <a:r>
              <a:rPr lang="en-US" altLang="en-US"/>
              <a:t>Expect ACK to arrive after an RTT</a:t>
            </a:r>
          </a:p>
          <a:p>
            <a:pPr lvl="1"/>
            <a:r>
              <a:rPr lang="en-US" altLang="en-US"/>
              <a:t>… plus a fudge factor to account for queuing</a:t>
            </a:r>
          </a:p>
          <a:p>
            <a:r>
              <a:rPr lang="en-US" altLang="en-US"/>
              <a:t>But, how does the sender know the RTT?</a:t>
            </a:r>
          </a:p>
          <a:p>
            <a:pPr lvl="1"/>
            <a:r>
              <a:rPr lang="en-US" altLang="en-US"/>
              <a:t>Can estimate the RTT by watching the ACKs</a:t>
            </a:r>
          </a:p>
          <a:p>
            <a:pPr lvl="1"/>
            <a:r>
              <a:rPr lang="en-US" altLang="en-US"/>
              <a:t>Smooth estimate: keep a running average of the RTT</a:t>
            </a:r>
          </a:p>
          <a:p>
            <a:pPr lvl="2"/>
            <a:r>
              <a:rPr lang="en-US" altLang="en-US"/>
              <a:t>EstimatedRTT = a * EstimatedRTT + (1 –a ) * SampleRTT</a:t>
            </a:r>
          </a:p>
          <a:p>
            <a:pPr lvl="1"/>
            <a:r>
              <a:rPr lang="en-US" altLang="en-US"/>
              <a:t>Compute timeout: TimeOut = 2 * EstimatedRTT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2">
            <a:extLst>
              <a:ext uri="{FF2B5EF4-FFF2-40B4-BE49-F238E27FC236}">
                <a16:creationId xmlns:a16="http://schemas.microsoft.com/office/drawing/2014/main" id="{2ABC446B-61EA-B0E3-D9C0-6CD3D1255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A78EDC-5F26-4C09-8E59-353D9E6A8C08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233EDAE-EB35-A594-8DE5-4769575AD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Example RTT Estimation</a:t>
            </a:r>
          </a:p>
        </p:txBody>
      </p:sp>
      <p:pic>
        <p:nvPicPr>
          <p:cNvPr id="39940" name="Picture 3">
            <a:extLst>
              <a:ext uri="{FF2B5EF4-FFF2-40B4-BE49-F238E27FC236}">
                <a16:creationId xmlns:a16="http://schemas.microsoft.com/office/drawing/2014/main" id="{8537FF2F-077E-9CAC-4FE1-C10CD84D6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049338"/>
            <a:ext cx="7739062" cy="529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22937E3F-D5F1-DC22-FAE3-E9337E79A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9D2CAC-22BF-4D95-A8B9-DACF3CBEC215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7BB0525-E424-8901-B6B3-663BC67BD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Flaw in This Approach</a:t>
            </a:r>
          </a:p>
        </p:txBody>
      </p:sp>
      <p:sp>
        <p:nvSpPr>
          <p:cNvPr id="953347" name="Rectangle 3">
            <a:extLst>
              <a:ext uri="{FF2B5EF4-FFF2-40B4-BE49-F238E27FC236}">
                <a16:creationId xmlns:a16="http://schemas.microsoft.com/office/drawing/2014/main" id="{B68DC127-3214-0998-E73E-F1FB193A4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 ACK doesn’t really acknowledge a transmission</a:t>
            </a:r>
          </a:p>
          <a:p>
            <a:pPr lvl="1"/>
            <a:r>
              <a:rPr lang="en-US" altLang="en-US"/>
              <a:t>Rather, it acknowledges receipt of the data</a:t>
            </a:r>
          </a:p>
          <a:p>
            <a:r>
              <a:rPr lang="en-US" altLang="en-US"/>
              <a:t>Consider a retransmission of a lost packet</a:t>
            </a:r>
          </a:p>
          <a:p>
            <a:pPr lvl="1"/>
            <a:r>
              <a:rPr lang="en-US" altLang="en-US"/>
              <a:t>If you assume the ACK goes with the 1st transmission</a:t>
            </a:r>
          </a:p>
          <a:p>
            <a:pPr lvl="1"/>
            <a:r>
              <a:rPr lang="en-US" altLang="en-US"/>
              <a:t>… the SampleRTT comes out way too large</a:t>
            </a:r>
          </a:p>
          <a:p>
            <a:r>
              <a:rPr lang="en-US" altLang="en-US"/>
              <a:t>Consider a duplicate packet </a:t>
            </a:r>
          </a:p>
          <a:p>
            <a:pPr lvl="1"/>
            <a:r>
              <a:rPr lang="en-US" altLang="en-US"/>
              <a:t>If you assume the ACK goes with the 2nd transmission</a:t>
            </a:r>
          </a:p>
          <a:p>
            <a:pPr lvl="1"/>
            <a:r>
              <a:rPr lang="en-US" altLang="en-US"/>
              <a:t>… the Sample RTT comes out way too small</a:t>
            </a:r>
          </a:p>
          <a:p>
            <a:r>
              <a:rPr lang="en-US" altLang="en-US"/>
              <a:t>Simple solution in the Karn/Partridge algorithm</a:t>
            </a:r>
          </a:p>
          <a:p>
            <a:pPr lvl="1"/>
            <a:r>
              <a:rPr lang="en-US" altLang="en-US"/>
              <a:t>Only collect samples for segments sent one single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>
            <a:extLst>
              <a:ext uri="{FF2B5EF4-FFF2-40B4-BE49-F238E27FC236}">
                <a16:creationId xmlns:a16="http://schemas.microsoft.com/office/drawing/2014/main" id="{1E784F0E-3C61-E069-2770-3223AC9F33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F4D530-69D7-4660-B3ED-289E5CDAF462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E5D7FB6-E2E1-E1C3-FA79-9EB3CEEFB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Yet Another Limitation…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66F657E-2220-C088-2138-515C2491C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Doesn’t consider variance in the RTT</a:t>
            </a:r>
          </a:p>
          <a:p>
            <a:pPr lvl="1"/>
            <a:r>
              <a:rPr lang="en-US" altLang="en-US"/>
              <a:t>If variance is small, the EstimatedRTT is pretty accurate</a:t>
            </a:r>
          </a:p>
          <a:p>
            <a:pPr lvl="1"/>
            <a:r>
              <a:rPr lang="en-US" altLang="en-US"/>
              <a:t>… but, if variance is large, the estimate isn’t all that good</a:t>
            </a:r>
          </a:p>
          <a:p>
            <a:r>
              <a:rPr lang="en-US" altLang="en-US"/>
              <a:t>Better to directly consider the variance</a:t>
            </a:r>
          </a:p>
          <a:p>
            <a:pPr lvl="1"/>
            <a:r>
              <a:rPr lang="en-US" altLang="en-US"/>
              <a:t>Consider difference: SampleRTT – EstimatedRTT</a:t>
            </a:r>
          </a:p>
          <a:p>
            <a:pPr lvl="1"/>
            <a:r>
              <a:rPr lang="en-US" altLang="en-US"/>
              <a:t>Boost the estimate based on the difference</a:t>
            </a:r>
          </a:p>
          <a:p>
            <a:r>
              <a:rPr lang="en-US" altLang="en-US"/>
              <a:t>Jacobson/Karels algorithm</a:t>
            </a:r>
          </a:p>
          <a:p>
            <a:pPr lvl="1"/>
            <a:r>
              <a:rPr lang="en-US" altLang="en-US"/>
              <a:t>See Section 5.2 of the Peterson/Davie book for details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>
            <a:extLst>
              <a:ext uri="{FF2B5EF4-FFF2-40B4-BE49-F238E27FC236}">
                <a16:creationId xmlns:a16="http://schemas.microsoft.com/office/drawing/2014/main" id="{7F03385F-A0C7-6238-60E4-94F9E87D6B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0ACCE0-39EC-42DE-8613-A8EC3C5EEB3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0314C0DC-55C6-4E00-5862-AE4FE27A51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TCP Sliding Window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>
            <a:extLst>
              <a:ext uri="{FF2B5EF4-FFF2-40B4-BE49-F238E27FC236}">
                <a16:creationId xmlns:a16="http://schemas.microsoft.com/office/drawing/2014/main" id="{A7236AC8-DD31-3CBF-3243-C9DE88F69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29F0D1-F7D5-4A81-8692-547DC8BE41C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FEEF5D2-6542-143F-DB9E-B3DD66127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Motivation for Sliding Window</a:t>
            </a:r>
          </a:p>
        </p:txBody>
      </p:sp>
      <p:sp>
        <p:nvSpPr>
          <p:cNvPr id="934915" name="Rectangle 3">
            <a:extLst>
              <a:ext uri="{FF2B5EF4-FFF2-40B4-BE49-F238E27FC236}">
                <a16:creationId xmlns:a16="http://schemas.microsoft.com/office/drawing/2014/main" id="{C50FD130-0BE7-52E3-6067-86D187F7D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Stop-and-wait is inefficient</a:t>
            </a:r>
          </a:p>
          <a:p>
            <a:pPr lvl="1"/>
            <a:r>
              <a:rPr lang="en-US" altLang="en-US"/>
              <a:t>Only one TCP segment is “in flight” at a time</a:t>
            </a:r>
          </a:p>
          <a:p>
            <a:pPr lvl="1"/>
            <a:r>
              <a:rPr lang="en-US" altLang="en-US"/>
              <a:t>Especially bad when delay-bandwidth product is high</a:t>
            </a:r>
          </a:p>
          <a:p>
            <a:r>
              <a:rPr lang="en-US" altLang="en-US"/>
              <a:t>Numerical example</a:t>
            </a:r>
          </a:p>
          <a:p>
            <a:pPr lvl="1"/>
            <a:r>
              <a:rPr lang="en-US" altLang="en-US"/>
              <a:t>1.5 Mbps link with a 45 msec round-trip time (RTT)</a:t>
            </a:r>
          </a:p>
          <a:p>
            <a:pPr lvl="2"/>
            <a:r>
              <a:rPr lang="en-US" altLang="en-US"/>
              <a:t>Delay-bandwidth product is 67.5 Kbits (or 8 KBytes)</a:t>
            </a:r>
          </a:p>
          <a:p>
            <a:pPr lvl="1"/>
            <a:r>
              <a:rPr lang="en-US" altLang="en-US"/>
              <a:t>But, sender can send at most one packet per RTT</a:t>
            </a:r>
          </a:p>
          <a:p>
            <a:pPr lvl="2"/>
            <a:r>
              <a:rPr lang="en-US" altLang="en-US"/>
              <a:t>Assuming a segment size of 1 KB (8 Kbits)</a:t>
            </a:r>
          </a:p>
          <a:p>
            <a:pPr lvl="2"/>
            <a:r>
              <a:rPr lang="en-US" altLang="en-US"/>
              <a:t>… leads to 8 Kbits/segment / 45 msec/segment </a:t>
            </a:r>
            <a:r>
              <a:rPr lang="en-US" altLang="en-US">
                <a:sym typeface="Wingdings" panose="05000000000000000000" pitchFamily="2" charset="2"/>
              </a:rPr>
              <a:t> 182 Kbps</a:t>
            </a:r>
          </a:p>
          <a:p>
            <a:pPr lvl="2"/>
            <a:r>
              <a:rPr lang="en-US" altLang="en-US">
                <a:sym typeface="Wingdings" panose="05000000000000000000" pitchFamily="2" charset="2"/>
              </a:rPr>
              <a:t>That’s just one-eighth of the 1.5 Mbps link capacity</a:t>
            </a:r>
            <a:endParaRPr lang="en-US" altLang="en-US"/>
          </a:p>
        </p:txBody>
      </p:sp>
      <p:pic>
        <p:nvPicPr>
          <p:cNvPr id="44037" name="Picture 4" descr="j0195384">
            <a:extLst>
              <a:ext uri="{FF2B5EF4-FFF2-40B4-BE49-F238E27FC236}">
                <a16:creationId xmlns:a16="http://schemas.microsoft.com/office/drawing/2014/main" id="{9DD63EB1-1910-2A2D-E2BE-16D0D79EB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9750" y="5349875"/>
            <a:ext cx="147637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5" descr="j0285750">
            <a:extLst>
              <a:ext uri="{FF2B5EF4-FFF2-40B4-BE49-F238E27FC236}">
                <a16:creationId xmlns:a16="http://schemas.microsoft.com/office/drawing/2014/main" id="{FEF332D2-D5E6-E494-9C33-FD61ED15B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5" y="5580063"/>
            <a:ext cx="18240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Rectangle 6">
            <a:extLst>
              <a:ext uri="{FF2B5EF4-FFF2-40B4-BE49-F238E27FC236}">
                <a16:creationId xmlns:a16="http://schemas.microsoft.com/office/drawing/2014/main" id="{92143999-5F99-BBBA-AB0F-32774EA9E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6272213"/>
            <a:ext cx="4722812" cy="268287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CBC9CB60-9C42-F384-CEA9-8B0DCA627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6308725"/>
            <a:ext cx="1268413" cy="192088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9CEBBF3E-A542-4112-D68F-7280D237C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6308725"/>
            <a:ext cx="306387" cy="1920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7B75B505-98C6-2BEC-F8B1-4FC8680BE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E46D97-30A4-4372-A47C-C6CA0C150D6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A5DA148C-3637-C588-8008-58AC6CC49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5B542B5-28B6-6ED6-4B86-DC8FB36F8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1557338"/>
          </a:xfrm>
        </p:spPr>
        <p:txBody>
          <a:bodyPr/>
          <a:lstStyle/>
          <a:p>
            <a:r>
              <a:rPr lang="en-US" altLang="en-US"/>
              <a:t>Allow a larger amount of data “in flight”</a:t>
            </a:r>
          </a:p>
          <a:p>
            <a:pPr lvl="1"/>
            <a:r>
              <a:rPr lang="en-US" altLang="en-US"/>
              <a:t>Allow sender to get ahead of the receiver</a:t>
            </a:r>
          </a:p>
          <a:p>
            <a:pPr lvl="1"/>
            <a:r>
              <a:rPr lang="en-US" altLang="en-US"/>
              <a:t>… though not </a:t>
            </a:r>
            <a:r>
              <a:rPr lang="en-US" altLang="en-US" i="1"/>
              <a:t>too far</a:t>
            </a:r>
            <a:r>
              <a:rPr lang="en-US" altLang="en-US"/>
              <a:t> ahead</a:t>
            </a:r>
          </a:p>
        </p:txBody>
      </p:sp>
      <p:sp>
        <p:nvSpPr>
          <p:cNvPr id="45061" name="Oval 4">
            <a:extLst>
              <a:ext uri="{FF2B5EF4-FFF2-40B4-BE49-F238E27FC236}">
                <a16:creationId xmlns:a16="http://schemas.microsoft.com/office/drawing/2014/main" id="{BA29594A-788E-181F-F3D6-7DD6AE1A0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890838"/>
            <a:ext cx="2879725" cy="768350"/>
          </a:xfrm>
          <a:prstGeom prst="ellipse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62" name="Text Box 5">
            <a:extLst>
              <a:ext uri="{FF2B5EF4-FFF2-40B4-BE49-F238E27FC236}">
                <a16:creationId xmlns:a16="http://schemas.microsoft.com/office/drawing/2014/main" id="{4E154193-4F65-4B6C-F29B-7F4D79B0D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3044825"/>
            <a:ext cx="2232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Sending process</a:t>
            </a:r>
          </a:p>
        </p:txBody>
      </p:sp>
      <p:sp>
        <p:nvSpPr>
          <p:cNvPr id="45063" name="Oval 6">
            <a:extLst>
              <a:ext uri="{FF2B5EF4-FFF2-40B4-BE49-F238E27FC236}">
                <a16:creationId xmlns:a16="http://schemas.microsoft.com/office/drawing/2014/main" id="{E524628C-5BAA-621C-626C-250931CEC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950" y="2890838"/>
            <a:ext cx="2879725" cy="768350"/>
          </a:xfrm>
          <a:prstGeom prst="ellipse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64" name="Text Box 7">
            <a:extLst>
              <a:ext uri="{FF2B5EF4-FFF2-40B4-BE49-F238E27FC236}">
                <a16:creationId xmlns:a16="http://schemas.microsoft.com/office/drawing/2014/main" id="{667AD423-2985-8892-4824-6475A18E6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3044825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Receiving process</a:t>
            </a:r>
          </a:p>
        </p:txBody>
      </p:sp>
      <p:sp>
        <p:nvSpPr>
          <p:cNvPr id="45065" name="Line 8">
            <a:extLst>
              <a:ext uri="{FF2B5EF4-FFF2-40B4-BE49-F238E27FC236}">
                <a16:creationId xmlns:a16="http://schemas.microsoft.com/office/drawing/2014/main" id="{8764353E-E3EF-13DD-ECE0-96290986A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" y="3863975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id="{DB34E895-DDE5-EE63-6A9C-DFECEEF26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488" y="3889375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Rectangle 10">
            <a:extLst>
              <a:ext uri="{FF2B5EF4-FFF2-40B4-BE49-F238E27FC236}">
                <a16:creationId xmlns:a16="http://schemas.microsoft.com/office/drawing/2014/main" id="{079D680A-CFEB-1306-DF81-0FDFB4E91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4581525"/>
            <a:ext cx="958850" cy="460375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68" name="Rectangle 12">
            <a:extLst>
              <a:ext uri="{FF2B5EF4-FFF2-40B4-BE49-F238E27FC236}">
                <a16:creationId xmlns:a16="http://schemas.microsoft.com/office/drawing/2014/main" id="{36D08805-72C8-5962-8620-B1A899DB3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4581525"/>
            <a:ext cx="958850" cy="460375"/>
          </a:xfrm>
          <a:prstGeom prst="rect">
            <a:avLst/>
          </a:prstGeom>
          <a:solidFill>
            <a:srgbClr val="99CCFF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69" name="Rectangle 13">
            <a:extLst>
              <a:ext uri="{FF2B5EF4-FFF2-40B4-BE49-F238E27FC236}">
                <a16:creationId xmlns:a16="http://schemas.microsoft.com/office/drawing/2014/main" id="{0CF98B4E-7977-CEFB-B3AB-2288CC691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581525"/>
            <a:ext cx="958850" cy="46037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70" name="Rectangle 15">
            <a:extLst>
              <a:ext uri="{FF2B5EF4-FFF2-40B4-BE49-F238E27FC236}">
                <a16:creationId xmlns:a16="http://schemas.microsoft.com/office/drawing/2014/main" id="{FA76E4B1-6BE2-F19B-0067-ECD354495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4583113"/>
            <a:ext cx="614362" cy="460375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38001" name="Freeform 17">
            <a:extLst>
              <a:ext uri="{FF2B5EF4-FFF2-40B4-BE49-F238E27FC236}">
                <a16:creationId xmlns:a16="http://schemas.microsoft.com/office/drawing/2014/main" id="{F2DC5C7F-33F4-3239-6981-DFEE68DAD2AE}"/>
              </a:ext>
            </a:extLst>
          </p:cNvPr>
          <p:cNvSpPr>
            <a:spLocks/>
          </p:cNvSpPr>
          <p:nvPr/>
        </p:nvSpPr>
        <p:spPr bwMode="auto">
          <a:xfrm>
            <a:off x="2420938" y="3659188"/>
            <a:ext cx="1268412" cy="844550"/>
          </a:xfrm>
          <a:custGeom>
            <a:avLst/>
            <a:gdLst>
              <a:gd name="T0" fmla="*/ 0 w 799"/>
              <a:gd name="T1" fmla="*/ 0 h 460"/>
              <a:gd name="T2" fmla="*/ 975299291 w 799"/>
              <a:gd name="T3" fmla="*/ 407868079 h 460"/>
              <a:gd name="T4" fmla="*/ 2013603256 w 799"/>
              <a:gd name="T5" fmla="*/ 1550575440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8002" name="Line 18">
            <a:extLst>
              <a:ext uri="{FF2B5EF4-FFF2-40B4-BE49-F238E27FC236}">
                <a16:creationId xmlns:a16="http://schemas.microsoft.com/office/drawing/2014/main" id="{54EEAC9B-979F-9BAB-7CFA-14A45DB8CB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68475" y="5157788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8003" name="Line 19">
            <a:extLst>
              <a:ext uri="{FF2B5EF4-FFF2-40B4-BE49-F238E27FC236}">
                <a16:creationId xmlns:a16="http://schemas.microsoft.com/office/drawing/2014/main" id="{E1906CA7-1609-FB3F-B266-545DFE2D604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28913" y="5157788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8005" name="Text Box 21">
            <a:extLst>
              <a:ext uri="{FF2B5EF4-FFF2-40B4-BE49-F238E27FC236}">
                <a16:creationId xmlns:a16="http://schemas.microsoft.com/office/drawing/2014/main" id="{5B750413-8E91-9DE8-782F-D13625265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5657850"/>
            <a:ext cx="2217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Last byte ACKed</a:t>
            </a:r>
          </a:p>
        </p:txBody>
      </p:sp>
      <p:sp>
        <p:nvSpPr>
          <p:cNvPr id="938006" name="Text Box 22">
            <a:extLst>
              <a:ext uri="{FF2B5EF4-FFF2-40B4-BE49-F238E27FC236}">
                <a16:creationId xmlns:a16="http://schemas.microsoft.com/office/drawing/2014/main" id="{6F9E56A6-7432-640B-B67F-2E23D57F3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6335713"/>
            <a:ext cx="1890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Last byte sent</a:t>
            </a:r>
          </a:p>
        </p:txBody>
      </p:sp>
      <p:sp>
        <p:nvSpPr>
          <p:cNvPr id="45076" name="Text Box 23">
            <a:extLst>
              <a:ext uri="{FF2B5EF4-FFF2-40B4-BE49-F238E27FC236}">
                <a16:creationId xmlns:a16="http://schemas.microsoft.com/office/drawing/2014/main" id="{80DA825B-BE5A-AE6C-DDCC-DD14DFC0E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3813175"/>
            <a:ext cx="693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TCP</a:t>
            </a:r>
          </a:p>
        </p:txBody>
      </p:sp>
      <p:sp>
        <p:nvSpPr>
          <p:cNvPr id="45077" name="Rectangle 25">
            <a:extLst>
              <a:ext uri="{FF2B5EF4-FFF2-40B4-BE49-F238E27FC236}">
                <a16:creationId xmlns:a16="http://schemas.microsoft.com/office/drawing/2014/main" id="{58732928-FBE8-03B7-4E94-E5D7C005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4478338"/>
            <a:ext cx="614362" cy="460375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78" name="Rectangle 26">
            <a:extLst>
              <a:ext uri="{FF2B5EF4-FFF2-40B4-BE49-F238E27FC236}">
                <a16:creationId xmlns:a16="http://schemas.microsoft.com/office/drawing/2014/main" id="{D3F0DD7F-BD20-5737-7DEA-E9827B55B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4478338"/>
            <a:ext cx="1304925" cy="460375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79" name="Rectangle 27">
            <a:extLst>
              <a:ext uri="{FF2B5EF4-FFF2-40B4-BE49-F238E27FC236}">
                <a16:creationId xmlns:a16="http://schemas.microsoft.com/office/drawing/2014/main" id="{72274B0F-0BA9-35A7-6395-8C475B94C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4478338"/>
            <a:ext cx="346075" cy="4603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80" name="Rectangle 28">
            <a:extLst>
              <a:ext uri="{FF2B5EF4-FFF2-40B4-BE49-F238E27FC236}">
                <a16:creationId xmlns:a16="http://schemas.microsoft.com/office/drawing/2014/main" id="{9D70BCB5-6C4A-45FE-919B-E743DEE61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813" y="4479925"/>
            <a:ext cx="614362" cy="460375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5081" name="Text Box 29">
            <a:extLst>
              <a:ext uri="{FF2B5EF4-FFF2-40B4-BE49-F238E27FC236}">
                <a16:creationId xmlns:a16="http://schemas.microsoft.com/office/drawing/2014/main" id="{A95887E4-BDCF-ECC9-9D11-42E0F8F0B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3851275"/>
            <a:ext cx="693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TCP</a:t>
            </a:r>
          </a:p>
        </p:txBody>
      </p:sp>
      <p:sp>
        <p:nvSpPr>
          <p:cNvPr id="938014" name="Freeform 30">
            <a:extLst>
              <a:ext uri="{FF2B5EF4-FFF2-40B4-BE49-F238E27FC236}">
                <a16:creationId xmlns:a16="http://schemas.microsoft.com/office/drawing/2014/main" id="{9F4F7CDB-73E3-DC4D-3A9F-05B5B5AF326C}"/>
              </a:ext>
            </a:extLst>
          </p:cNvPr>
          <p:cNvSpPr>
            <a:spLocks/>
          </p:cNvSpPr>
          <p:nvPr/>
        </p:nvSpPr>
        <p:spPr bwMode="auto">
          <a:xfrm>
            <a:off x="5646738" y="3582988"/>
            <a:ext cx="1382712" cy="882650"/>
          </a:xfrm>
          <a:custGeom>
            <a:avLst/>
            <a:gdLst>
              <a:gd name="T0" fmla="*/ 0 w 871"/>
              <a:gd name="T1" fmla="*/ 1401206875 h 556"/>
              <a:gd name="T2" fmla="*/ 1766628099 w 871"/>
              <a:gd name="T3" fmla="*/ 486390950 h 556"/>
              <a:gd name="T4" fmla="*/ 2147483646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8015" name="Line 31">
            <a:extLst>
              <a:ext uri="{FF2B5EF4-FFF2-40B4-BE49-F238E27FC236}">
                <a16:creationId xmlns:a16="http://schemas.microsoft.com/office/drawing/2014/main" id="{24632142-7FF5-ABCE-623C-C0390A9DA3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3250" y="4965700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8016" name="Text Box 32">
            <a:extLst>
              <a:ext uri="{FF2B5EF4-FFF2-40B4-BE49-F238E27FC236}">
                <a16:creationId xmlns:a16="http://schemas.microsoft.com/office/drawing/2014/main" id="{10FCAF23-8A52-EABA-0AC1-228027A91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288" y="5502275"/>
            <a:ext cx="2498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Next byte expected</a:t>
            </a:r>
          </a:p>
        </p:txBody>
      </p:sp>
      <p:sp>
        <p:nvSpPr>
          <p:cNvPr id="938017" name="Text Box 33">
            <a:extLst>
              <a:ext uri="{FF2B5EF4-FFF2-40B4-BE49-F238E27FC236}">
                <a16:creationId xmlns:a16="http://schemas.microsoft.com/office/drawing/2014/main" id="{5A26EA4C-5A40-8477-D25D-B0C3D9B2A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3" y="3967163"/>
            <a:ext cx="2198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Last byte written</a:t>
            </a:r>
          </a:p>
        </p:txBody>
      </p:sp>
      <p:sp>
        <p:nvSpPr>
          <p:cNvPr id="938018" name="Text Box 34">
            <a:extLst>
              <a:ext uri="{FF2B5EF4-FFF2-40B4-BE49-F238E27FC236}">
                <a16:creationId xmlns:a16="http://schemas.microsoft.com/office/drawing/2014/main" id="{2FFB1B94-E960-BEB6-5F68-90264F39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3954463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Last byte read</a:t>
            </a:r>
          </a:p>
        </p:txBody>
      </p:sp>
      <p:sp>
        <p:nvSpPr>
          <p:cNvPr id="45087" name="Rectangle 36">
            <a:extLst>
              <a:ext uri="{FF2B5EF4-FFF2-40B4-BE49-F238E27FC236}">
                <a16:creationId xmlns:a16="http://schemas.microsoft.com/office/drawing/2014/main" id="{9C319C43-99D0-E929-9AF5-0E61545EC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5" y="4465638"/>
            <a:ext cx="346075" cy="460375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38021" name="Line 37">
            <a:extLst>
              <a:ext uri="{FF2B5EF4-FFF2-40B4-BE49-F238E27FC236}">
                <a16:creationId xmlns:a16="http://schemas.microsoft.com/office/drawing/2014/main" id="{EE326069-6EDD-D9D0-AAF9-7CAA67ECAE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24763" y="5003800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8022" name="Text Box 38">
            <a:extLst>
              <a:ext uri="{FF2B5EF4-FFF2-40B4-BE49-F238E27FC236}">
                <a16:creationId xmlns:a16="http://schemas.microsoft.com/office/drawing/2014/main" id="{8469F3F3-FDDA-90B8-6C36-1BE237AFF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5" y="6181725"/>
            <a:ext cx="2398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Helvetica" panose="020B0604020202020204" pitchFamily="34" charset="0"/>
              </a:rPr>
              <a:t>Last byte received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8005" grpId="0"/>
      <p:bldP spid="938006" grpId="0"/>
      <p:bldP spid="938016" grpId="0"/>
      <p:bldP spid="938017" grpId="0"/>
      <p:bldP spid="938018" grpId="0"/>
      <p:bldP spid="9380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>
            <a:extLst>
              <a:ext uri="{FF2B5EF4-FFF2-40B4-BE49-F238E27FC236}">
                <a16:creationId xmlns:a16="http://schemas.microsoft.com/office/drawing/2014/main" id="{4AF5A495-2EB3-A8B4-8B39-D8B11293A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7CD142-A80B-44FA-807B-9DA9380E5D99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76A96E0-3A03-5B26-E106-C579C1716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Receiver Buffering</a:t>
            </a:r>
          </a:p>
        </p:txBody>
      </p:sp>
      <p:sp>
        <p:nvSpPr>
          <p:cNvPr id="939011" name="Rectangle 3">
            <a:extLst>
              <a:ext uri="{FF2B5EF4-FFF2-40B4-BE49-F238E27FC236}">
                <a16:creationId xmlns:a16="http://schemas.microsoft.com/office/drawing/2014/main" id="{3907D79A-7DB4-9EEE-6B0A-58FA8AF68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2862263"/>
          </a:xfrm>
        </p:spPr>
        <p:txBody>
          <a:bodyPr/>
          <a:lstStyle/>
          <a:p>
            <a:r>
              <a:rPr lang="en-US" altLang="en-US"/>
              <a:t>Window size</a:t>
            </a:r>
          </a:p>
          <a:p>
            <a:pPr lvl="1"/>
            <a:r>
              <a:rPr lang="en-US" altLang="en-US"/>
              <a:t>Amount that can be sent without acknowledgment</a:t>
            </a:r>
          </a:p>
          <a:p>
            <a:pPr lvl="1"/>
            <a:r>
              <a:rPr lang="en-US" altLang="en-US"/>
              <a:t>Receiver needs to be able to store this amount of data</a:t>
            </a:r>
          </a:p>
          <a:p>
            <a:r>
              <a:rPr lang="en-US" altLang="en-US"/>
              <a:t>Receiver advertises the window to the receiver</a:t>
            </a:r>
          </a:p>
          <a:p>
            <a:pPr lvl="1"/>
            <a:r>
              <a:rPr lang="en-US" altLang="en-US"/>
              <a:t>Tells the receiver the amount of free space left</a:t>
            </a:r>
          </a:p>
          <a:p>
            <a:pPr lvl="1"/>
            <a:r>
              <a:rPr lang="en-US" altLang="en-US"/>
              <a:t>… and the sender agrees not to exceed this amount</a:t>
            </a:r>
          </a:p>
        </p:txBody>
      </p:sp>
      <p:sp>
        <p:nvSpPr>
          <p:cNvPr id="46085" name="Line 4">
            <a:extLst>
              <a:ext uri="{FF2B5EF4-FFF2-40B4-BE49-F238E27FC236}">
                <a16:creationId xmlns:a16="http://schemas.microsoft.com/office/drawing/2014/main" id="{7BDBD4B8-AC12-2FFA-C04E-2596CC162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625" y="5024438"/>
            <a:ext cx="4565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6" name="Line 5">
            <a:extLst>
              <a:ext uri="{FF2B5EF4-FFF2-40B4-BE49-F238E27FC236}">
                <a16:creationId xmlns:a16="http://schemas.microsoft.com/office/drawing/2014/main" id="{91B0E8CD-8BA4-6ABB-FC04-505C4751F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625" y="5634038"/>
            <a:ext cx="4565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7" name="Line 6">
            <a:extLst>
              <a:ext uri="{FF2B5EF4-FFF2-40B4-BE49-F238E27FC236}">
                <a16:creationId xmlns:a16="http://schemas.microsoft.com/office/drawing/2014/main" id="{345B7182-DB03-B28D-67A7-863929E58E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5275" y="5024438"/>
            <a:ext cx="46355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8" name="Line 7">
            <a:extLst>
              <a:ext uri="{FF2B5EF4-FFF2-40B4-BE49-F238E27FC236}">
                <a16:creationId xmlns:a16="http://schemas.microsoft.com/office/drawing/2014/main" id="{25ECD698-19F7-51A0-6957-245A18854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5275" y="5634038"/>
            <a:ext cx="46355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9" name="Line 8">
            <a:extLst>
              <a:ext uri="{FF2B5EF4-FFF2-40B4-BE49-F238E27FC236}">
                <a16:creationId xmlns:a16="http://schemas.microsoft.com/office/drawing/2014/main" id="{5AFB2C47-E84F-A282-5118-FAFB95B5F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6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0" name="Line 9">
            <a:extLst>
              <a:ext uri="{FF2B5EF4-FFF2-40B4-BE49-F238E27FC236}">
                <a16:creationId xmlns:a16="http://schemas.microsoft.com/office/drawing/2014/main" id="{89E4F461-EFAC-6A47-1666-A6D9AE242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20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1" name="Line 10">
            <a:extLst>
              <a:ext uri="{FF2B5EF4-FFF2-40B4-BE49-F238E27FC236}">
                <a16:creationId xmlns:a16="http://schemas.microsoft.com/office/drawing/2014/main" id="{BD565728-E36D-F1B2-6FF0-C407D48C5F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44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2" name="Line 11">
            <a:extLst>
              <a:ext uri="{FF2B5EF4-FFF2-40B4-BE49-F238E27FC236}">
                <a16:creationId xmlns:a16="http://schemas.microsoft.com/office/drawing/2014/main" id="{F070AB52-3FFC-333A-F63F-D4248E038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68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3" name="Line 12">
            <a:extLst>
              <a:ext uri="{FF2B5EF4-FFF2-40B4-BE49-F238E27FC236}">
                <a16:creationId xmlns:a16="http://schemas.microsoft.com/office/drawing/2014/main" id="{4F70069D-9364-62E2-4180-A82BF3616D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2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4" name="Line 13">
            <a:extLst>
              <a:ext uri="{FF2B5EF4-FFF2-40B4-BE49-F238E27FC236}">
                <a16:creationId xmlns:a16="http://schemas.microsoft.com/office/drawing/2014/main" id="{35CA96A0-3DEB-24C4-523A-A3535B9245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16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5" name="Line 14">
            <a:extLst>
              <a:ext uri="{FF2B5EF4-FFF2-40B4-BE49-F238E27FC236}">
                <a16:creationId xmlns:a16="http://schemas.microsoft.com/office/drawing/2014/main" id="{3B2B7960-27D9-E2CA-67C4-C042221B0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6" name="Line 15">
            <a:extLst>
              <a:ext uri="{FF2B5EF4-FFF2-40B4-BE49-F238E27FC236}">
                <a16:creationId xmlns:a16="http://schemas.microsoft.com/office/drawing/2014/main" id="{D39E86FE-E091-D452-AED6-C1C8D3818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64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7" name="Line 16">
            <a:extLst>
              <a:ext uri="{FF2B5EF4-FFF2-40B4-BE49-F238E27FC236}">
                <a16:creationId xmlns:a16="http://schemas.microsoft.com/office/drawing/2014/main" id="{5A1E56C4-1130-0556-8AE3-EEE4DEC68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88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8" name="Line 17">
            <a:extLst>
              <a:ext uri="{FF2B5EF4-FFF2-40B4-BE49-F238E27FC236}">
                <a16:creationId xmlns:a16="http://schemas.microsoft.com/office/drawing/2014/main" id="{41778CD7-7CF0-C976-E9BF-33B82D7DD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9" name="Line 18">
            <a:extLst>
              <a:ext uri="{FF2B5EF4-FFF2-40B4-BE49-F238E27FC236}">
                <a16:creationId xmlns:a16="http://schemas.microsoft.com/office/drawing/2014/main" id="{E11FDDCB-0476-9C7B-136B-70C969030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36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0" name="Line 19">
            <a:extLst>
              <a:ext uri="{FF2B5EF4-FFF2-40B4-BE49-F238E27FC236}">
                <a16:creationId xmlns:a16="http://schemas.microsoft.com/office/drawing/2014/main" id="{6A943D52-759E-9C02-59D0-9C572F956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1" name="Line 20">
            <a:extLst>
              <a:ext uri="{FF2B5EF4-FFF2-40B4-BE49-F238E27FC236}">
                <a16:creationId xmlns:a16="http://schemas.microsoft.com/office/drawing/2014/main" id="{F057C78E-FC0F-A719-92A3-E92ED57DE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84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2" name="Line 21">
            <a:extLst>
              <a:ext uri="{FF2B5EF4-FFF2-40B4-BE49-F238E27FC236}">
                <a16:creationId xmlns:a16="http://schemas.microsoft.com/office/drawing/2014/main" id="{CC3CAB99-F12C-EB13-AAC7-CBDC44178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08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3" name="Line 22">
            <a:extLst>
              <a:ext uri="{FF2B5EF4-FFF2-40B4-BE49-F238E27FC236}">
                <a16:creationId xmlns:a16="http://schemas.microsoft.com/office/drawing/2014/main" id="{9C0EA27F-9AA3-14D6-4727-E6B2516C5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32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4" name="Line 23">
            <a:extLst>
              <a:ext uri="{FF2B5EF4-FFF2-40B4-BE49-F238E27FC236}">
                <a16:creationId xmlns:a16="http://schemas.microsoft.com/office/drawing/2014/main" id="{65D8C22B-6A78-BA5B-D6BD-F689F5D05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5" name="Line 24">
            <a:extLst>
              <a:ext uri="{FF2B5EF4-FFF2-40B4-BE49-F238E27FC236}">
                <a16:creationId xmlns:a16="http://schemas.microsoft.com/office/drawing/2014/main" id="{D92C77EA-484D-840B-7C4B-D88AE29D3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6" name="Line 25">
            <a:extLst>
              <a:ext uri="{FF2B5EF4-FFF2-40B4-BE49-F238E27FC236}">
                <a16:creationId xmlns:a16="http://schemas.microsoft.com/office/drawing/2014/main" id="{5BFF99AD-0CBE-CD02-0726-CB6B8AB9A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04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7" name="Line 26">
            <a:extLst>
              <a:ext uri="{FF2B5EF4-FFF2-40B4-BE49-F238E27FC236}">
                <a16:creationId xmlns:a16="http://schemas.microsoft.com/office/drawing/2014/main" id="{276FD7C8-42E6-9D6D-AB5F-9133B382D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28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8" name="Line 27">
            <a:extLst>
              <a:ext uri="{FF2B5EF4-FFF2-40B4-BE49-F238E27FC236}">
                <a16:creationId xmlns:a16="http://schemas.microsoft.com/office/drawing/2014/main" id="{88759B3C-A7C6-C81E-DBD2-386883D1E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52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9" name="Line 28">
            <a:extLst>
              <a:ext uri="{FF2B5EF4-FFF2-40B4-BE49-F238E27FC236}">
                <a16:creationId xmlns:a16="http://schemas.microsoft.com/office/drawing/2014/main" id="{A901DFB2-5276-9CF5-C3F8-BD06C90E7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0" name="Line 29">
            <a:extLst>
              <a:ext uri="{FF2B5EF4-FFF2-40B4-BE49-F238E27FC236}">
                <a16:creationId xmlns:a16="http://schemas.microsoft.com/office/drawing/2014/main" id="{C781647B-15FC-FA81-44A7-625E82CCE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00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1" name="Line 30">
            <a:extLst>
              <a:ext uri="{FF2B5EF4-FFF2-40B4-BE49-F238E27FC236}">
                <a16:creationId xmlns:a16="http://schemas.microsoft.com/office/drawing/2014/main" id="{DC224FCA-BBF1-E8DF-D5EE-7C36E2E5D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24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2" name="Line 31">
            <a:extLst>
              <a:ext uri="{FF2B5EF4-FFF2-40B4-BE49-F238E27FC236}">
                <a16:creationId xmlns:a16="http://schemas.microsoft.com/office/drawing/2014/main" id="{067D1278-243C-FA6F-FDA3-FB43EEF23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8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3" name="Line 32">
            <a:extLst>
              <a:ext uri="{FF2B5EF4-FFF2-40B4-BE49-F238E27FC236}">
                <a16:creationId xmlns:a16="http://schemas.microsoft.com/office/drawing/2014/main" id="{3F95CEFD-BA47-CDFE-3998-7CAFD72EA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72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4" name="Line 33">
            <a:extLst>
              <a:ext uri="{FF2B5EF4-FFF2-40B4-BE49-F238E27FC236}">
                <a16:creationId xmlns:a16="http://schemas.microsoft.com/office/drawing/2014/main" id="{39166C66-B91D-1C2B-C4D5-14D9A79E8C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96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5" name="Line 34">
            <a:extLst>
              <a:ext uri="{FF2B5EF4-FFF2-40B4-BE49-F238E27FC236}">
                <a16:creationId xmlns:a16="http://schemas.microsoft.com/office/drawing/2014/main" id="{8023CCCA-01A6-3D63-3117-3B3D1F6E3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20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6" name="Line 35">
            <a:extLst>
              <a:ext uri="{FF2B5EF4-FFF2-40B4-BE49-F238E27FC236}">
                <a16:creationId xmlns:a16="http://schemas.microsoft.com/office/drawing/2014/main" id="{E48BA212-E893-D55A-75FB-6C96A650F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44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7" name="Line 36">
            <a:extLst>
              <a:ext uri="{FF2B5EF4-FFF2-40B4-BE49-F238E27FC236}">
                <a16:creationId xmlns:a16="http://schemas.microsoft.com/office/drawing/2014/main" id="{93FEE4D0-9FE4-18BB-AAC5-6E50C51FE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68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8" name="Line 37">
            <a:extLst>
              <a:ext uri="{FF2B5EF4-FFF2-40B4-BE49-F238E27FC236}">
                <a16:creationId xmlns:a16="http://schemas.microsoft.com/office/drawing/2014/main" id="{4B14771C-FB7D-6677-F3EB-4DE1D7671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2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9" name="Line 38">
            <a:extLst>
              <a:ext uri="{FF2B5EF4-FFF2-40B4-BE49-F238E27FC236}">
                <a16:creationId xmlns:a16="http://schemas.microsoft.com/office/drawing/2014/main" id="{7AAE618C-0B86-0F8F-2373-E45647306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1625" y="50244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0" name="Line 39">
            <a:extLst>
              <a:ext uri="{FF2B5EF4-FFF2-40B4-BE49-F238E27FC236}">
                <a16:creationId xmlns:a16="http://schemas.microsoft.com/office/drawing/2014/main" id="{EBA0EBEE-DD93-D4D3-95F3-8C8AC71D9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50244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1" name="Line 40">
            <a:extLst>
              <a:ext uri="{FF2B5EF4-FFF2-40B4-BE49-F238E27FC236}">
                <a16:creationId xmlns:a16="http://schemas.microsoft.com/office/drawing/2014/main" id="{EF42D675-7516-9034-A687-B3F853AE9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6425" y="50244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2" name="Rectangle 41">
            <a:extLst>
              <a:ext uri="{FF2B5EF4-FFF2-40B4-BE49-F238E27FC236}">
                <a16:creationId xmlns:a16="http://schemas.microsoft.com/office/drawing/2014/main" id="{3321DC28-9730-A05D-6FAA-387FB8B07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025" y="4648200"/>
            <a:ext cx="2895600" cy="137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6123" name="Line 42">
            <a:extLst>
              <a:ext uri="{FF2B5EF4-FFF2-40B4-BE49-F238E27FC236}">
                <a16:creationId xmlns:a16="http://schemas.microsoft.com/office/drawing/2014/main" id="{3B4E023C-3FF8-AB62-3D54-8AD3FBAE67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6075" y="5024438"/>
            <a:ext cx="46355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4" name="Line 43">
            <a:extLst>
              <a:ext uri="{FF2B5EF4-FFF2-40B4-BE49-F238E27FC236}">
                <a16:creationId xmlns:a16="http://schemas.microsoft.com/office/drawing/2014/main" id="{1B5ECFA6-ABB4-8A06-1CCB-9CB395C3B7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6075" y="5634038"/>
            <a:ext cx="46355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5" name="Line 44">
            <a:extLst>
              <a:ext uri="{FF2B5EF4-FFF2-40B4-BE49-F238E27FC236}">
                <a16:creationId xmlns:a16="http://schemas.microsoft.com/office/drawing/2014/main" id="{957ADFC0-62DE-B2B0-E319-E34AFFCE5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1175" y="50292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6" name="Line 45">
            <a:extLst>
              <a:ext uri="{FF2B5EF4-FFF2-40B4-BE49-F238E27FC236}">
                <a16:creationId xmlns:a16="http://schemas.microsoft.com/office/drawing/2014/main" id="{10F6CE15-CACC-F6C8-CDAB-454937B80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3575" y="50292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7" name="Line 46">
            <a:extLst>
              <a:ext uri="{FF2B5EF4-FFF2-40B4-BE49-F238E27FC236}">
                <a16:creationId xmlns:a16="http://schemas.microsoft.com/office/drawing/2014/main" id="{3D55AF09-BDE5-1E9A-E3AD-29D9B2CFF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46482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8" name="Line 47">
            <a:extLst>
              <a:ext uri="{FF2B5EF4-FFF2-40B4-BE49-F238E27FC236}">
                <a16:creationId xmlns:a16="http://schemas.microsoft.com/office/drawing/2014/main" id="{FBB2B027-A46D-D19E-C403-B1D49B5B6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44958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9" name="Text Box 48">
            <a:extLst>
              <a:ext uri="{FF2B5EF4-FFF2-40B4-BE49-F238E27FC236}">
                <a16:creationId xmlns:a16="http://schemas.microsoft.com/office/drawing/2014/main" id="{16F8E9B8-9912-B0D7-8C5B-6028A95AB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225" y="41148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rgbClr val="000099"/>
                </a:solidFill>
                <a:latin typeface="Comic Sans MS" panose="030F0702030302020204" pitchFamily="66" charset="0"/>
              </a:rPr>
              <a:t>Window Size</a:t>
            </a:r>
          </a:p>
        </p:txBody>
      </p:sp>
      <p:sp>
        <p:nvSpPr>
          <p:cNvPr id="46130" name="Line 49">
            <a:extLst>
              <a:ext uri="{FF2B5EF4-FFF2-40B4-BE49-F238E27FC236}">
                <a16:creationId xmlns:a16="http://schemas.microsoft.com/office/drawing/2014/main" id="{DB3C3710-AA8E-C2ED-26F6-2C3E2EE3B9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0025" y="6096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31" name="Line 50">
            <a:extLst>
              <a:ext uri="{FF2B5EF4-FFF2-40B4-BE49-F238E27FC236}">
                <a16:creationId xmlns:a16="http://schemas.microsoft.com/office/drawing/2014/main" id="{DEA2ED63-DB28-C5A8-9B58-26DA1471C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9625" y="6096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32" name="Line 51">
            <a:extLst>
              <a:ext uri="{FF2B5EF4-FFF2-40B4-BE49-F238E27FC236}">
                <a16:creationId xmlns:a16="http://schemas.microsoft.com/office/drawing/2014/main" id="{32E170D6-B25B-3A13-17AB-56DC4587E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6096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33" name="Line 52">
            <a:extLst>
              <a:ext uri="{FF2B5EF4-FFF2-40B4-BE49-F238E27FC236}">
                <a16:creationId xmlns:a16="http://schemas.microsoft.com/office/drawing/2014/main" id="{8A006F1E-82D5-D2BC-08D3-CC68AB082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6096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34" name="Line 53">
            <a:extLst>
              <a:ext uri="{FF2B5EF4-FFF2-40B4-BE49-F238E27FC236}">
                <a16:creationId xmlns:a16="http://schemas.microsoft.com/office/drawing/2014/main" id="{E22DAB26-BB81-7E4E-757B-032D9A2EB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6019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35" name="Line 54">
            <a:extLst>
              <a:ext uri="{FF2B5EF4-FFF2-40B4-BE49-F238E27FC236}">
                <a16:creationId xmlns:a16="http://schemas.microsoft.com/office/drawing/2014/main" id="{75AD8842-53DF-19AF-2B95-C3000B3BF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6019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36" name="Line 55">
            <a:extLst>
              <a:ext uri="{FF2B5EF4-FFF2-40B4-BE49-F238E27FC236}">
                <a16:creationId xmlns:a16="http://schemas.microsoft.com/office/drawing/2014/main" id="{C5CB4924-A893-6578-B9EE-FA8F1C468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9625" y="6019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37" name="Text Box 56">
            <a:extLst>
              <a:ext uri="{FF2B5EF4-FFF2-40B4-BE49-F238E27FC236}">
                <a16:creationId xmlns:a16="http://schemas.microsoft.com/office/drawing/2014/main" id="{3118FA0C-A8FA-201F-B242-58D198EA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6099175"/>
            <a:ext cx="14112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Outstanding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Un-ack’d data</a:t>
            </a:r>
          </a:p>
        </p:txBody>
      </p:sp>
      <p:sp>
        <p:nvSpPr>
          <p:cNvPr id="46138" name="Text Box 57">
            <a:extLst>
              <a:ext uri="{FF2B5EF4-FFF2-40B4-BE49-F238E27FC236}">
                <a16:creationId xmlns:a16="http://schemas.microsoft.com/office/drawing/2014/main" id="{66A43156-690C-FD9B-774D-77F1B0E12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650" y="6099175"/>
            <a:ext cx="9985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Data OK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to send</a:t>
            </a:r>
          </a:p>
        </p:txBody>
      </p:sp>
      <p:sp>
        <p:nvSpPr>
          <p:cNvPr id="46139" name="Text Box 58">
            <a:extLst>
              <a:ext uri="{FF2B5EF4-FFF2-40B4-BE49-F238E27FC236}">
                <a16:creationId xmlns:a16="http://schemas.microsoft.com/office/drawing/2014/main" id="{50A51325-1759-0E8F-6801-DDB69E46C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25" y="6099175"/>
            <a:ext cx="13477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mic Sans MS" panose="030F0702030302020204" pitchFamily="66" charset="0"/>
              </a:rPr>
              <a:t>Data not OK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mic Sans MS" panose="030F0702030302020204" pitchFamily="66" charset="0"/>
              </a:rPr>
              <a:t>to send yet</a:t>
            </a:r>
          </a:p>
        </p:txBody>
      </p:sp>
      <p:sp>
        <p:nvSpPr>
          <p:cNvPr id="46140" name="Text Box 59">
            <a:extLst>
              <a:ext uri="{FF2B5EF4-FFF2-40B4-BE49-F238E27FC236}">
                <a16:creationId xmlns:a16="http://schemas.microsoft.com/office/drawing/2014/main" id="{768195B5-FA2B-60CB-BEFF-09EA28D0D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6099175"/>
            <a:ext cx="12414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mic Sans MS" panose="030F0702030302020204" pitchFamily="66" charset="0"/>
              </a:rPr>
              <a:t>Data ACK’d 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2">
            <a:extLst>
              <a:ext uri="{FF2B5EF4-FFF2-40B4-BE49-F238E27FC236}">
                <a16:creationId xmlns:a16="http://schemas.microsoft.com/office/drawing/2014/main" id="{3EC5D7E9-18DE-5D8D-FFE3-018C7B3FA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824724-9BBF-48BF-A9B5-6A03E0D20C6C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7266" name="Rectangle 2">
            <a:extLst>
              <a:ext uri="{FF2B5EF4-FFF2-40B4-BE49-F238E27FC236}">
                <a16:creationId xmlns:a16="http://schemas.microsoft.com/office/drawing/2014/main" id="{88F4EE6E-F03E-2727-2BDB-E37CADA5C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0"/>
            <a:ext cx="8001000" cy="464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A0015A39-0E78-FEC2-73A0-08FC2D7EC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 Header for Receiver Buffering</a:t>
            </a:r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722DD7CF-EC00-5974-0E4F-DE7E3CC18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10" name="Text Box 5">
            <a:extLst>
              <a:ext uri="{FF2B5EF4-FFF2-40B4-BE49-F238E27FC236}">
                <a16:creationId xmlns:a16="http://schemas.microsoft.com/office/drawing/2014/main" id="{E6390BBE-95F6-76D6-116C-83E2B063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1874838"/>
            <a:ext cx="1495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Source port</a:t>
            </a: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7BA129F0-297D-77A7-4CC7-91A3E2245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12" name="Text Box 7">
            <a:extLst>
              <a:ext uri="{FF2B5EF4-FFF2-40B4-BE49-F238E27FC236}">
                <a16:creationId xmlns:a16="http://schemas.microsoft.com/office/drawing/2014/main" id="{325E3C60-1EFF-FFF4-9950-0BEC00B1B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8" y="1874838"/>
            <a:ext cx="196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Destination port</a:t>
            </a:r>
          </a:p>
        </p:txBody>
      </p:sp>
      <p:sp>
        <p:nvSpPr>
          <p:cNvPr id="47113" name="Rectangle 8">
            <a:extLst>
              <a:ext uri="{FF2B5EF4-FFF2-40B4-BE49-F238E27FC236}">
                <a16:creationId xmlns:a16="http://schemas.microsoft.com/office/drawing/2014/main" id="{31900C81-F980-E51C-CE29-58811CC7A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14" name="Text Box 9">
            <a:extLst>
              <a:ext uri="{FF2B5EF4-FFF2-40B4-BE49-F238E27FC236}">
                <a16:creationId xmlns:a16="http://schemas.microsoft.com/office/drawing/2014/main" id="{8A924FEE-E930-6711-BBC5-E4FE672E0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2408238"/>
            <a:ext cx="2259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Sequence number</a:t>
            </a:r>
          </a:p>
        </p:txBody>
      </p:sp>
      <p:sp>
        <p:nvSpPr>
          <p:cNvPr id="47115" name="Rectangle 10">
            <a:extLst>
              <a:ext uri="{FF2B5EF4-FFF2-40B4-BE49-F238E27FC236}">
                <a16:creationId xmlns:a16="http://schemas.microsoft.com/office/drawing/2014/main" id="{FBE34D54-FBC9-433C-4F3B-3895E260F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16" name="Text Box 11">
            <a:extLst>
              <a:ext uri="{FF2B5EF4-FFF2-40B4-BE49-F238E27FC236}">
                <a16:creationId xmlns:a16="http://schemas.microsoft.com/office/drawing/2014/main" id="{FAA2E42B-14AF-98F1-34CA-6675EE6EA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2865438"/>
            <a:ext cx="2119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Acknowledgment</a:t>
            </a:r>
          </a:p>
        </p:txBody>
      </p:sp>
      <p:sp>
        <p:nvSpPr>
          <p:cNvPr id="47117" name="Rectangle 12">
            <a:extLst>
              <a:ext uri="{FF2B5EF4-FFF2-40B4-BE49-F238E27FC236}">
                <a16:creationId xmlns:a16="http://schemas.microsoft.com/office/drawing/2014/main" id="{798DDCB3-7C93-C39D-A860-63ED1E20B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18" name="Rectangle 13">
            <a:extLst>
              <a:ext uri="{FF2B5EF4-FFF2-40B4-BE49-F238E27FC236}">
                <a16:creationId xmlns:a16="http://schemas.microsoft.com/office/drawing/2014/main" id="{6B453F02-801B-714E-21B5-6AF31F56A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19" name="Text Box 14">
            <a:extLst>
              <a:ext uri="{FF2B5EF4-FFF2-40B4-BE49-F238E27FC236}">
                <a16:creationId xmlns:a16="http://schemas.microsoft.com/office/drawing/2014/main" id="{34AD0583-1449-7B9F-0657-98CC51B9C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5" y="3349625"/>
            <a:ext cx="2497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3300"/>
                </a:solidFill>
              </a:rPr>
              <a:t>Advertised window</a:t>
            </a:r>
          </a:p>
        </p:txBody>
      </p:sp>
      <p:sp>
        <p:nvSpPr>
          <p:cNvPr id="47120" name="Text Box 15">
            <a:extLst>
              <a:ext uri="{FF2B5EF4-FFF2-40B4-BE49-F238E27FC236}">
                <a16:creationId xmlns:a16="http://schemas.microsoft.com/office/drawing/2014/main" id="{3E6BD82C-F2B2-F7AE-32F5-8F60A4968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349625"/>
            <a:ext cx="1017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HdrLen</a:t>
            </a:r>
          </a:p>
        </p:txBody>
      </p:sp>
      <p:sp>
        <p:nvSpPr>
          <p:cNvPr id="47121" name="Line 16">
            <a:extLst>
              <a:ext uri="{FF2B5EF4-FFF2-40B4-BE49-F238E27FC236}">
                <a16:creationId xmlns:a16="http://schemas.microsoft.com/office/drawing/2014/main" id="{F9986B46-3238-979F-ED23-231DE4F3C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Line 17">
            <a:extLst>
              <a:ext uri="{FF2B5EF4-FFF2-40B4-BE49-F238E27FC236}">
                <a16:creationId xmlns:a16="http://schemas.microsoft.com/office/drawing/2014/main" id="{9565011B-8755-8E4A-272D-7DEFA5CC7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3" name="Text Box 18">
            <a:extLst>
              <a:ext uri="{FF2B5EF4-FFF2-40B4-BE49-F238E27FC236}">
                <a16:creationId xmlns:a16="http://schemas.microsoft.com/office/drawing/2014/main" id="{9D301B3C-BDE8-E513-CBAA-90FEB3CB0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3363913"/>
            <a:ext cx="806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</a:t>
            </a:r>
          </a:p>
        </p:txBody>
      </p:sp>
      <p:sp>
        <p:nvSpPr>
          <p:cNvPr id="47124" name="Text Box 19">
            <a:extLst>
              <a:ext uri="{FF2B5EF4-FFF2-40B4-BE49-F238E27FC236}">
                <a16:creationId xmlns:a16="http://schemas.microsoft.com/office/drawing/2014/main" id="{EC665BB5-D803-400A-6314-A88C603D2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7125" name="Rectangle 20">
            <a:extLst>
              <a:ext uri="{FF2B5EF4-FFF2-40B4-BE49-F238E27FC236}">
                <a16:creationId xmlns:a16="http://schemas.microsoft.com/office/drawing/2014/main" id="{CFB0A96F-9CC4-4A98-1B45-179E5D19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26" name="Rectangle 21">
            <a:extLst>
              <a:ext uri="{FF2B5EF4-FFF2-40B4-BE49-F238E27FC236}">
                <a16:creationId xmlns:a16="http://schemas.microsoft.com/office/drawing/2014/main" id="{41357ADF-38EF-3FC6-1734-CDE0C8196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27" name="Text Box 22">
            <a:extLst>
              <a:ext uri="{FF2B5EF4-FFF2-40B4-BE49-F238E27FC236}">
                <a16:creationId xmlns:a16="http://schemas.microsoft.com/office/drawing/2014/main" id="{9F3A304C-E970-F054-EEE6-74E63ACEF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47128" name="Text Box 23">
            <a:extLst>
              <a:ext uri="{FF2B5EF4-FFF2-40B4-BE49-F238E27FC236}">
                <a16:creationId xmlns:a16="http://schemas.microsoft.com/office/drawing/2014/main" id="{12CD29F5-4A65-1A2D-5916-647704012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663" y="3897313"/>
            <a:ext cx="1792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47129" name="Rectangle 24">
            <a:extLst>
              <a:ext uri="{FF2B5EF4-FFF2-40B4-BE49-F238E27FC236}">
                <a16:creationId xmlns:a16="http://schemas.microsoft.com/office/drawing/2014/main" id="{E2DAA24D-F0EB-F056-E62D-4AAE4DAE5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343400"/>
            <a:ext cx="4876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7130" name="Text Box 25">
            <a:extLst>
              <a:ext uri="{FF2B5EF4-FFF2-40B4-BE49-F238E27FC236}">
                <a16:creationId xmlns:a16="http://schemas.microsoft.com/office/drawing/2014/main" id="{BA087F05-E60D-8553-31E4-CD6DBD01B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4389438"/>
            <a:ext cx="2187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Options (variable)</a:t>
            </a:r>
          </a:p>
        </p:txBody>
      </p:sp>
      <p:sp>
        <p:nvSpPr>
          <p:cNvPr id="47131" name="Rectangle 26">
            <a:extLst>
              <a:ext uri="{FF2B5EF4-FFF2-40B4-BE49-F238E27FC236}">
                <a16:creationId xmlns:a16="http://schemas.microsoft.com/office/drawing/2014/main" id="{7E381B99-CDB5-4426-082B-B813CDF94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7132" name="Text Box 27">
            <a:extLst>
              <a:ext uri="{FF2B5EF4-FFF2-40B4-BE49-F238E27FC236}">
                <a16:creationId xmlns:a16="http://schemas.microsoft.com/office/drawing/2014/main" id="{6FCA201A-AE8F-2C46-682A-B6304AA42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2705100"/>
            <a:ext cx="87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Flags:</a:t>
            </a:r>
          </a:p>
        </p:txBody>
      </p:sp>
      <p:sp>
        <p:nvSpPr>
          <p:cNvPr id="47133" name="Text Box 28">
            <a:extLst>
              <a:ext uri="{FF2B5EF4-FFF2-40B4-BE49-F238E27FC236}">
                <a16:creationId xmlns:a16="http://schemas.microsoft.com/office/drawing/2014/main" id="{CA792CBE-4B28-5D89-86A5-6C5BB7408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2740025"/>
            <a:ext cx="7493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SYN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FIN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RST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PSH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URG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</a:rPr>
              <a:t>ACK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B2812FA3-41FC-B9CF-C3A2-9328A1A8A9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ACD1E0-C38D-4A71-AF1A-B0A67E3FA2E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2430BF3D-96AB-63DD-B847-C6ED2E05EB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Fast Retransmission</a:t>
            </a:r>
          </a:p>
        </p:txBody>
      </p:sp>
      <p:sp>
        <p:nvSpPr>
          <p:cNvPr id="48132" name="Rectangle 6">
            <a:extLst>
              <a:ext uri="{FF2B5EF4-FFF2-40B4-BE49-F238E27FC236}">
                <a16:creationId xmlns:a16="http://schemas.microsoft.com/office/drawing/2014/main" id="{4635FB9E-D7FA-171E-C7D3-0DFA05C48B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439D7BD8-7D8E-74C4-9EB9-9EF1D4B37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82C1C5-A4CC-4779-B81A-271987E1FDAE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E2FD8BA-E2C5-C6AF-D93C-5BACD0023B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Timeout is Inefficient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72B86EBE-4A63-5F26-8784-426D63D85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1479550"/>
          </a:xfrm>
        </p:spPr>
        <p:txBody>
          <a:bodyPr/>
          <a:lstStyle/>
          <a:p>
            <a:r>
              <a:rPr lang="en-US" altLang="en-US"/>
              <a:t>Timeout-based retransmission</a:t>
            </a:r>
          </a:p>
          <a:p>
            <a:pPr lvl="1"/>
            <a:r>
              <a:rPr lang="en-US" altLang="en-US"/>
              <a:t>Sender transmits a packet and waits until timer expires</a:t>
            </a:r>
          </a:p>
          <a:p>
            <a:pPr lvl="1"/>
            <a:r>
              <a:rPr lang="en-US" altLang="en-US"/>
              <a:t>… and then retransmits from the lost packet onward</a:t>
            </a:r>
          </a:p>
        </p:txBody>
      </p:sp>
      <p:sp>
        <p:nvSpPr>
          <p:cNvPr id="966660" name="Rectangle 4">
            <a:extLst>
              <a:ext uri="{FF2B5EF4-FFF2-40B4-BE49-F238E27FC236}">
                <a16:creationId xmlns:a16="http://schemas.microsoft.com/office/drawing/2014/main" id="{3452CB0F-E3AC-B28A-B77E-622C564B3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584450"/>
            <a:ext cx="5867400" cy="42338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cs typeface="+mn-cs"/>
            </a:endParaRPr>
          </a:p>
        </p:txBody>
      </p:sp>
      <p:pic>
        <p:nvPicPr>
          <p:cNvPr id="49158" name="Picture 5" descr="gbn_example">
            <a:extLst>
              <a:ext uri="{FF2B5EF4-FFF2-40B4-BE49-F238E27FC236}">
                <a16:creationId xmlns:a16="http://schemas.microsoft.com/office/drawing/2014/main" id="{CE2C3007-82CD-2C61-BFBF-5F1AD04F8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2632075"/>
            <a:ext cx="4953000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>
            <a:extLst>
              <a:ext uri="{FF2B5EF4-FFF2-40B4-BE49-F238E27FC236}">
                <a16:creationId xmlns:a16="http://schemas.microsoft.com/office/drawing/2014/main" id="{7ACDC5E3-6940-0650-117C-7920E39E4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844A88-0716-4200-9029-E35386345EC0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26F323C-D5D8-A0FD-31F9-6558522B1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Fast Retransmission</a:t>
            </a:r>
          </a:p>
        </p:txBody>
      </p:sp>
      <p:sp>
        <p:nvSpPr>
          <p:cNvPr id="967683" name="Rectangle 3">
            <a:extLst>
              <a:ext uri="{FF2B5EF4-FFF2-40B4-BE49-F238E27FC236}">
                <a16:creationId xmlns:a16="http://schemas.microsoft.com/office/drawing/2014/main" id="{290B0DC5-D179-CC2E-2E93-FC94C9311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Better solution possible under sliding window</a:t>
            </a:r>
          </a:p>
          <a:p>
            <a:pPr lvl="1"/>
            <a:r>
              <a:rPr lang="en-US" altLang="en-US"/>
              <a:t>Although packet n might have been lost</a:t>
            </a:r>
          </a:p>
          <a:p>
            <a:pPr lvl="1"/>
            <a:r>
              <a:rPr lang="en-US" altLang="en-US"/>
              <a:t>… packets n+1, n+2, and so on might get through</a:t>
            </a:r>
          </a:p>
          <a:p>
            <a:r>
              <a:rPr lang="en-US" altLang="en-US"/>
              <a:t>Idea: have the receiver send ACK packets</a:t>
            </a:r>
          </a:p>
          <a:p>
            <a:pPr lvl="1"/>
            <a:r>
              <a:rPr lang="en-US" altLang="en-US"/>
              <a:t>ACK says that receiver is still awaiting n</a:t>
            </a:r>
            <a:r>
              <a:rPr lang="en-US" altLang="en-US" baseline="30000"/>
              <a:t>th</a:t>
            </a:r>
            <a:r>
              <a:rPr lang="en-US" altLang="en-US"/>
              <a:t> packet</a:t>
            </a:r>
          </a:p>
          <a:p>
            <a:pPr lvl="2"/>
            <a:r>
              <a:rPr lang="en-US" altLang="en-US"/>
              <a:t>And </a:t>
            </a:r>
            <a:r>
              <a:rPr lang="en-US" altLang="en-US" i="1"/>
              <a:t>repeated </a:t>
            </a:r>
            <a:r>
              <a:rPr lang="en-US" altLang="en-US"/>
              <a:t>ACKs suggest later packets have arrived</a:t>
            </a:r>
          </a:p>
          <a:p>
            <a:pPr lvl="1"/>
            <a:r>
              <a:rPr lang="en-US" altLang="en-US"/>
              <a:t>Sender can view the “duplicate ACKs” as an early hint</a:t>
            </a:r>
          </a:p>
          <a:p>
            <a:pPr lvl="2"/>
            <a:r>
              <a:rPr lang="en-US" altLang="en-US"/>
              <a:t>… that the n</a:t>
            </a:r>
            <a:r>
              <a:rPr lang="en-US" altLang="en-US" baseline="30000"/>
              <a:t>th</a:t>
            </a:r>
            <a:r>
              <a:rPr lang="en-US" altLang="en-US"/>
              <a:t> packet must have been lost</a:t>
            </a:r>
          </a:p>
          <a:p>
            <a:pPr lvl="2"/>
            <a:r>
              <a:rPr lang="en-US" altLang="en-US"/>
              <a:t>… and perform the retransmission early</a:t>
            </a:r>
          </a:p>
          <a:p>
            <a:r>
              <a:rPr lang="en-US" altLang="en-US"/>
              <a:t>Fast retransmission</a:t>
            </a:r>
          </a:p>
          <a:p>
            <a:pPr lvl="1"/>
            <a:r>
              <a:rPr lang="en-US" altLang="en-US"/>
              <a:t>Sender retransmits data after the triple duplicate ACK</a:t>
            </a:r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8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A1590EBC-BD04-FCA3-7D70-2940EF5B5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86E581-7866-4AC9-A4AC-E7B467D48950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FF7C179-2C24-BA7D-927D-327BB0248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Effectiveness of Fast Retransmit</a:t>
            </a:r>
          </a:p>
        </p:txBody>
      </p:sp>
      <p:sp>
        <p:nvSpPr>
          <p:cNvPr id="970755" name="Rectangle 3">
            <a:extLst>
              <a:ext uri="{FF2B5EF4-FFF2-40B4-BE49-F238E27FC236}">
                <a16:creationId xmlns:a16="http://schemas.microsoft.com/office/drawing/2014/main" id="{FF7F4FC9-998A-01FD-31E4-59B559EB4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When does Fast Retransmit work best?</a:t>
            </a:r>
          </a:p>
          <a:p>
            <a:pPr lvl="1"/>
            <a:r>
              <a:rPr lang="en-US" altLang="en-US"/>
              <a:t>Long data transfers</a:t>
            </a:r>
          </a:p>
          <a:p>
            <a:pPr lvl="2"/>
            <a:r>
              <a:rPr lang="en-US" altLang="en-US"/>
              <a:t>High likelihood of many packets in flight</a:t>
            </a:r>
          </a:p>
          <a:p>
            <a:pPr lvl="1"/>
            <a:r>
              <a:rPr lang="en-US" altLang="en-US"/>
              <a:t>High window size</a:t>
            </a:r>
          </a:p>
          <a:p>
            <a:pPr lvl="2"/>
            <a:r>
              <a:rPr lang="en-US" altLang="en-US"/>
              <a:t>High likelihood of many packets in flight</a:t>
            </a:r>
          </a:p>
          <a:p>
            <a:pPr lvl="1"/>
            <a:r>
              <a:rPr lang="en-US" altLang="en-US"/>
              <a:t>Low burstiness in packet losses</a:t>
            </a:r>
          </a:p>
          <a:p>
            <a:pPr lvl="2"/>
            <a:r>
              <a:rPr lang="en-US" altLang="en-US"/>
              <a:t>Higher likelihood that later packets arrive successfully</a:t>
            </a:r>
          </a:p>
          <a:p>
            <a:r>
              <a:rPr lang="en-US" altLang="en-US"/>
              <a:t>Implications for Web traffic</a:t>
            </a:r>
          </a:p>
          <a:p>
            <a:pPr lvl="1"/>
            <a:r>
              <a:rPr lang="en-US" altLang="en-US"/>
              <a:t>Most Web transfers are short (e.g., 10 packets)</a:t>
            </a:r>
          </a:p>
          <a:p>
            <a:pPr lvl="2"/>
            <a:r>
              <a:rPr lang="en-US" altLang="en-US"/>
              <a:t>Short HTML files or small images</a:t>
            </a:r>
          </a:p>
          <a:p>
            <a:pPr lvl="1"/>
            <a:r>
              <a:rPr lang="en-US" altLang="en-US"/>
              <a:t>So, often there aren’t many packets in flight</a:t>
            </a:r>
          </a:p>
          <a:p>
            <a:pPr lvl="1"/>
            <a:r>
              <a:rPr lang="en-US" altLang="en-US"/>
              <a:t>… making fast retransmit less likely to “kick in”</a:t>
            </a:r>
          </a:p>
          <a:p>
            <a:pPr lvl="1"/>
            <a:r>
              <a:rPr lang="en-US" altLang="en-US"/>
              <a:t>Forcing users to like “reload” more often… </a:t>
            </a:r>
            <a:r>
              <a:rPr lang="en-US" altLang="en-US">
                <a:sym typeface="Wingdings" panose="05000000000000000000" pitchFamily="2" charset="2"/>
              </a:rPr>
              <a:t>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>
            <a:extLst>
              <a:ext uri="{FF2B5EF4-FFF2-40B4-BE49-F238E27FC236}">
                <a16:creationId xmlns:a16="http://schemas.microsoft.com/office/drawing/2014/main" id="{9D82FF7A-E4BC-C9A9-FA94-BA32CE40E32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C80331-C42C-42DA-BF14-92D4990A33E1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9989FC3D-55B5-620A-6D50-6E03978A94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Tearing Down the Connection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28BCFA1F-46F0-6053-0535-5E8BA01FA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80028B-5645-4981-809C-5DCB92CD5148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Rectangle 10">
            <a:extLst>
              <a:ext uri="{FF2B5EF4-FFF2-40B4-BE49-F238E27FC236}">
                <a16:creationId xmlns:a16="http://schemas.microsoft.com/office/drawing/2014/main" id="{06B1C097-D02E-2E9E-FD28-1389328AF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Tearing Down the Connection</a:t>
            </a:r>
          </a:p>
        </p:txBody>
      </p:sp>
      <p:sp>
        <p:nvSpPr>
          <p:cNvPr id="53252" name="Rectangle 11">
            <a:extLst>
              <a:ext uri="{FF2B5EF4-FFF2-40B4-BE49-F238E27FC236}">
                <a16:creationId xmlns:a16="http://schemas.microsoft.com/office/drawing/2014/main" id="{23033AD7-F1D9-D0DB-C8A6-42484AA2E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1650" y="4503738"/>
            <a:ext cx="8458200" cy="1941512"/>
          </a:xfrm>
        </p:spPr>
        <p:txBody>
          <a:bodyPr/>
          <a:lstStyle/>
          <a:p>
            <a:r>
              <a:rPr lang="en-US" altLang="en-US"/>
              <a:t>Closing the connection</a:t>
            </a:r>
          </a:p>
          <a:p>
            <a:pPr lvl="1"/>
            <a:r>
              <a:rPr lang="en-US" altLang="en-US"/>
              <a:t>Finish (FIN) to close and receive remaining bytes</a:t>
            </a:r>
          </a:p>
          <a:p>
            <a:pPr lvl="1"/>
            <a:r>
              <a:rPr lang="en-US" altLang="en-US"/>
              <a:t>And other host sends a FIN ACK to acknowledge</a:t>
            </a:r>
          </a:p>
          <a:p>
            <a:pPr lvl="1"/>
            <a:r>
              <a:rPr lang="en-US" altLang="en-US"/>
              <a:t>Reset (RST) to close and not receive remaining bytes</a:t>
            </a:r>
          </a:p>
          <a:p>
            <a:endParaRPr lang="en-US" altLang="en-US"/>
          </a:p>
        </p:txBody>
      </p:sp>
      <p:sp>
        <p:nvSpPr>
          <p:cNvPr id="53253" name="Line 12">
            <a:extLst>
              <a:ext uri="{FF2B5EF4-FFF2-40B4-BE49-F238E27FC236}">
                <a16:creationId xmlns:a16="http://schemas.microsoft.com/office/drawing/2014/main" id="{F4327122-7095-3683-A0DA-97F77CC9E3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44700" y="1758950"/>
            <a:ext cx="287338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Line 13">
            <a:extLst>
              <a:ext uri="{FF2B5EF4-FFF2-40B4-BE49-F238E27FC236}">
                <a16:creationId xmlns:a16="http://schemas.microsoft.com/office/drawing/2014/main" id="{051806B8-4FEF-7159-6D42-62F3C031C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2225" y="1776413"/>
            <a:ext cx="300038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5" name="Line 14">
            <a:extLst>
              <a:ext uri="{FF2B5EF4-FFF2-40B4-BE49-F238E27FC236}">
                <a16:creationId xmlns:a16="http://schemas.microsoft.com/office/drawing/2014/main" id="{6D25B2BE-9E9D-8DC6-68DE-3617553AB1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4363" y="1773238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Line 15">
            <a:extLst>
              <a:ext uri="{FF2B5EF4-FFF2-40B4-BE49-F238E27FC236}">
                <a16:creationId xmlns:a16="http://schemas.microsoft.com/office/drawing/2014/main" id="{34108F38-65E5-7E68-E8F7-3329BEF66D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6175" y="1768475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7" name="Text Box 16">
            <a:extLst>
              <a:ext uri="{FF2B5EF4-FFF2-40B4-BE49-F238E27FC236}">
                <a16:creationId xmlns:a16="http://schemas.microsoft.com/office/drawing/2014/main" id="{B98150AE-5F15-F903-395B-225CB92B20C7}"/>
              </a:ext>
            </a:extLst>
          </p:cNvPr>
          <p:cNvSpPr txBox="1">
            <a:spLocks noChangeArrowheads="1"/>
          </p:cNvSpPr>
          <p:nvPr/>
        </p:nvSpPr>
        <p:spPr bwMode="auto">
          <a:xfrm rot="-4794570">
            <a:off x="1553369" y="2366169"/>
            <a:ext cx="693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SYN</a:t>
            </a:r>
          </a:p>
        </p:txBody>
      </p:sp>
      <p:sp>
        <p:nvSpPr>
          <p:cNvPr id="53258" name="Text Box 17">
            <a:extLst>
              <a:ext uri="{FF2B5EF4-FFF2-40B4-BE49-F238E27FC236}">
                <a16:creationId xmlns:a16="http://schemas.microsoft.com/office/drawing/2014/main" id="{6F13A026-B475-5FBA-8E5A-FD7ACF292939}"/>
              </a:ext>
            </a:extLst>
          </p:cNvPr>
          <p:cNvSpPr txBox="1">
            <a:spLocks noChangeArrowheads="1"/>
          </p:cNvSpPr>
          <p:nvPr/>
        </p:nvSpPr>
        <p:spPr bwMode="auto">
          <a:xfrm rot="4712803">
            <a:off x="2276476" y="2359025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SYN ACK</a:t>
            </a:r>
          </a:p>
        </p:txBody>
      </p:sp>
      <p:sp>
        <p:nvSpPr>
          <p:cNvPr id="53259" name="Text Box 18">
            <a:extLst>
              <a:ext uri="{FF2B5EF4-FFF2-40B4-BE49-F238E27FC236}">
                <a16:creationId xmlns:a16="http://schemas.microsoft.com/office/drawing/2014/main" id="{46C7E984-E8CF-4AFF-612F-C34C57F33FAA}"/>
              </a:ext>
            </a:extLst>
          </p:cNvPr>
          <p:cNvSpPr txBox="1">
            <a:spLocks noChangeArrowheads="1"/>
          </p:cNvSpPr>
          <p:nvPr/>
        </p:nvSpPr>
        <p:spPr bwMode="auto">
          <a:xfrm rot="-4355001">
            <a:off x="2947194" y="2137569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ACK</a:t>
            </a:r>
          </a:p>
        </p:txBody>
      </p:sp>
      <p:sp>
        <p:nvSpPr>
          <p:cNvPr id="53260" name="Text Box 19">
            <a:extLst>
              <a:ext uri="{FF2B5EF4-FFF2-40B4-BE49-F238E27FC236}">
                <a16:creationId xmlns:a16="http://schemas.microsoft.com/office/drawing/2014/main" id="{38A360F0-4DAA-FA41-02E8-B4508691D8FC}"/>
              </a:ext>
            </a:extLst>
          </p:cNvPr>
          <p:cNvSpPr txBox="1">
            <a:spLocks noChangeArrowheads="1"/>
          </p:cNvSpPr>
          <p:nvPr/>
        </p:nvSpPr>
        <p:spPr bwMode="auto">
          <a:xfrm rot="-4396192">
            <a:off x="3397250" y="23796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53261" name="Line 20">
            <a:extLst>
              <a:ext uri="{FF2B5EF4-FFF2-40B4-BE49-F238E27FC236}">
                <a16:creationId xmlns:a16="http://schemas.microsoft.com/office/drawing/2014/main" id="{C8BEE420-A804-5BE0-3BBF-76BEC25521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7213" y="1770063"/>
            <a:ext cx="234950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Line 21">
            <a:extLst>
              <a:ext uri="{FF2B5EF4-FFF2-40B4-BE49-F238E27FC236}">
                <a16:creationId xmlns:a16="http://schemas.microsoft.com/office/drawing/2014/main" id="{B1CE49F6-0164-3981-0EB2-3A96710AD7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9975" y="1768475"/>
            <a:ext cx="277813" cy="157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Text Box 22">
            <a:extLst>
              <a:ext uri="{FF2B5EF4-FFF2-40B4-BE49-F238E27FC236}">
                <a16:creationId xmlns:a16="http://schemas.microsoft.com/office/drawing/2014/main" id="{D1F7B9C5-E8B4-DBB3-F855-4DD00403FB47}"/>
              </a:ext>
            </a:extLst>
          </p:cNvPr>
          <p:cNvSpPr txBox="1">
            <a:spLocks noChangeArrowheads="1"/>
          </p:cNvSpPr>
          <p:nvPr/>
        </p:nvSpPr>
        <p:spPr bwMode="auto">
          <a:xfrm rot="-4702247">
            <a:off x="5308600" y="2336800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53264" name="Text Box 23">
            <a:extLst>
              <a:ext uri="{FF2B5EF4-FFF2-40B4-BE49-F238E27FC236}">
                <a16:creationId xmlns:a16="http://schemas.microsoft.com/office/drawing/2014/main" id="{65F0F418-735D-78DB-7623-245DFE40953B}"/>
              </a:ext>
            </a:extLst>
          </p:cNvPr>
          <p:cNvSpPr txBox="1">
            <a:spLocks noChangeArrowheads="1"/>
          </p:cNvSpPr>
          <p:nvPr/>
        </p:nvSpPr>
        <p:spPr bwMode="auto">
          <a:xfrm rot="4688575">
            <a:off x="5871369" y="2326481"/>
            <a:ext cx="1195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FIN ACK</a:t>
            </a:r>
          </a:p>
        </p:txBody>
      </p:sp>
      <p:sp>
        <p:nvSpPr>
          <p:cNvPr id="53265" name="Line 24">
            <a:extLst>
              <a:ext uri="{FF2B5EF4-FFF2-40B4-BE49-F238E27FC236}">
                <a16:creationId xmlns:a16="http://schemas.microsoft.com/office/drawing/2014/main" id="{44B8F44A-186B-FF51-D91B-357C825FE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1770063"/>
            <a:ext cx="379413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6" name="Line 25">
            <a:extLst>
              <a:ext uri="{FF2B5EF4-FFF2-40B4-BE49-F238E27FC236}">
                <a16:creationId xmlns:a16="http://schemas.microsoft.com/office/drawing/2014/main" id="{F2414E3D-BF5E-C703-B66E-BD7DFBE69F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6738" y="1739900"/>
            <a:ext cx="6421437" cy="3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7" name="Line 26">
            <a:extLst>
              <a:ext uri="{FF2B5EF4-FFF2-40B4-BE49-F238E27FC236}">
                <a16:creationId xmlns:a16="http://schemas.microsoft.com/office/drawing/2014/main" id="{16711E74-E20C-326B-2657-8BD0A40000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52613" y="3352800"/>
            <a:ext cx="64452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8" name="Text Box 27">
            <a:extLst>
              <a:ext uri="{FF2B5EF4-FFF2-40B4-BE49-F238E27FC236}">
                <a16:creationId xmlns:a16="http://schemas.microsoft.com/office/drawing/2014/main" id="{AF6CCFD7-5D74-D07C-F3AE-4C050CC0F075}"/>
              </a:ext>
            </a:extLst>
          </p:cNvPr>
          <p:cNvSpPr txBox="1">
            <a:spLocks noChangeArrowheads="1"/>
          </p:cNvSpPr>
          <p:nvPr/>
        </p:nvSpPr>
        <p:spPr bwMode="auto">
          <a:xfrm rot="4676639">
            <a:off x="4298157" y="2367756"/>
            <a:ext cx="722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ACK</a:t>
            </a:r>
          </a:p>
        </p:txBody>
      </p:sp>
      <p:sp>
        <p:nvSpPr>
          <p:cNvPr id="53269" name="Line 28">
            <a:extLst>
              <a:ext uri="{FF2B5EF4-FFF2-40B4-BE49-F238E27FC236}">
                <a16:creationId xmlns:a16="http://schemas.microsoft.com/office/drawing/2014/main" id="{33F463FB-67DC-5895-2E66-8EBC73837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3594100"/>
            <a:ext cx="177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0" name="Text Box 29">
            <a:extLst>
              <a:ext uri="{FF2B5EF4-FFF2-40B4-BE49-F238E27FC236}">
                <a16:creationId xmlns:a16="http://schemas.microsoft.com/office/drawing/2014/main" id="{45B46CDB-2281-1524-A276-5F230481A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25" y="33956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time</a:t>
            </a:r>
            <a:endParaRPr lang="en-US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1" name="Text Box 30">
            <a:extLst>
              <a:ext uri="{FF2B5EF4-FFF2-40B4-BE49-F238E27FC236}">
                <a16:creationId xmlns:a16="http://schemas.microsoft.com/office/drawing/2014/main" id="{B52ABB79-629B-4861-6068-DBD80C86D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31067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3272" name="Text Box 31">
            <a:extLst>
              <a:ext uri="{FF2B5EF4-FFF2-40B4-BE49-F238E27FC236}">
                <a16:creationId xmlns:a16="http://schemas.microsoft.com/office/drawing/2014/main" id="{AD39DD4A-F8E3-434F-A532-27EDAF5AD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925" y="15684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3273" name="Oval 32">
            <a:extLst>
              <a:ext uri="{FF2B5EF4-FFF2-40B4-BE49-F238E27FC236}">
                <a16:creationId xmlns:a16="http://schemas.microsoft.com/office/drawing/2014/main" id="{AE0AA24A-93C3-AE88-15D4-874FCCC58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3105150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53274" name="Oval 33">
            <a:extLst>
              <a:ext uri="{FF2B5EF4-FFF2-40B4-BE49-F238E27FC236}">
                <a16:creationId xmlns:a16="http://schemas.microsoft.com/office/drawing/2014/main" id="{0409CF8C-8F44-7CEC-9A50-6E9DCDB77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3113088"/>
            <a:ext cx="80963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53275" name="Oval 34">
            <a:extLst>
              <a:ext uri="{FF2B5EF4-FFF2-40B4-BE49-F238E27FC236}">
                <a16:creationId xmlns:a16="http://schemas.microsoft.com/office/drawing/2014/main" id="{88D9672F-73D2-6BEB-3405-EEC50FB13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925" y="3105150"/>
            <a:ext cx="80963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53276" name="Line 35">
            <a:extLst>
              <a:ext uri="{FF2B5EF4-FFF2-40B4-BE49-F238E27FC236}">
                <a16:creationId xmlns:a16="http://schemas.microsoft.com/office/drawing/2014/main" id="{B54665BD-9B48-1ACB-C524-464852295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9263" y="1778000"/>
            <a:ext cx="277812" cy="157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7" name="Text Box 36">
            <a:extLst>
              <a:ext uri="{FF2B5EF4-FFF2-40B4-BE49-F238E27FC236}">
                <a16:creationId xmlns:a16="http://schemas.microsoft.com/office/drawing/2014/main" id="{FC3B5A23-E680-5446-EFE9-8764E4BA23FE}"/>
              </a:ext>
            </a:extLst>
          </p:cNvPr>
          <p:cNvSpPr txBox="1">
            <a:spLocks noChangeArrowheads="1"/>
          </p:cNvSpPr>
          <p:nvPr/>
        </p:nvSpPr>
        <p:spPr bwMode="auto">
          <a:xfrm rot="4688575">
            <a:off x="6821488" y="2336800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53278" name="Line 37">
            <a:extLst>
              <a:ext uri="{FF2B5EF4-FFF2-40B4-BE49-F238E27FC236}">
                <a16:creationId xmlns:a16="http://schemas.microsoft.com/office/drawing/2014/main" id="{AE09D883-6ECE-5D69-C814-F04A4D6A21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02538" y="1739900"/>
            <a:ext cx="234950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9" name="Text Box 38">
            <a:extLst>
              <a:ext uri="{FF2B5EF4-FFF2-40B4-BE49-F238E27FC236}">
                <a16:creationId xmlns:a16="http://schemas.microsoft.com/office/drawing/2014/main" id="{2121975B-5500-439F-D093-1F7804F08F25}"/>
              </a:ext>
            </a:extLst>
          </p:cNvPr>
          <p:cNvSpPr txBox="1">
            <a:spLocks noChangeArrowheads="1"/>
          </p:cNvSpPr>
          <p:nvPr/>
        </p:nvSpPr>
        <p:spPr bwMode="auto">
          <a:xfrm rot="-4702247">
            <a:off x="7209632" y="2304256"/>
            <a:ext cx="722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ACK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>
            <a:extLst>
              <a:ext uri="{FF2B5EF4-FFF2-40B4-BE49-F238E27FC236}">
                <a16:creationId xmlns:a16="http://schemas.microsoft.com/office/drawing/2014/main" id="{5A02B861-52E5-0810-C09D-7E0461C6BD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7754C0-D13E-4475-88C2-7F63FB1696C7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8E34D67-62A7-0B55-B4B2-A8A8DB69C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Sending/Receiving the FIN Packet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EC264C5A-40C7-23D9-3A7C-9D39806036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/>
              <a:t>Sending a FIN: close()</a:t>
            </a:r>
          </a:p>
          <a:p>
            <a:pPr lvl="1"/>
            <a:r>
              <a:rPr lang="en-US" altLang="en-US"/>
              <a:t>Process is done sending data via the socket</a:t>
            </a:r>
          </a:p>
          <a:p>
            <a:pPr lvl="1"/>
            <a:r>
              <a:rPr lang="en-US" altLang="en-US"/>
              <a:t>Process invokes “close()” to close the socket</a:t>
            </a:r>
          </a:p>
          <a:p>
            <a:pPr lvl="1"/>
            <a:r>
              <a:rPr lang="en-US" altLang="en-US"/>
              <a:t>Once TCP has sent all of the outstanding bytes…</a:t>
            </a:r>
          </a:p>
          <a:p>
            <a:pPr lvl="1"/>
            <a:r>
              <a:rPr lang="en-US" altLang="en-US"/>
              <a:t>… then TCP sends a FIN</a:t>
            </a:r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AA34D2D0-86D0-5250-165F-038129C8A02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/>
              <a:t>Receiving a FIN: EOF</a:t>
            </a:r>
          </a:p>
          <a:p>
            <a:pPr lvl="1"/>
            <a:r>
              <a:rPr lang="en-US" altLang="en-US"/>
              <a:t>Process is reading data from the socket</a:t>
            </a:r>
          </a:p>
          <a:p>
            <a:pPr lvl="1"/>
            <a:r>
              <a:rPr lang="en-US" altLang="en-US"/>
              <a:t>Eventually, the attempt to read returns an EOF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683DDA66-CFD2-2A1A-5D48-12C645A57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Font typeface="Helvetica" panose="020B0604020202020204" pitchFamily="34" charset="0"/>
              <a:buChar char="–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10000"/>
              </a:spcBef>
              <a:buChar char="•"/>
              <a:defRPr sz="2000">
                <a:solidFill>
                  <a:schemeClr val="accent2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77A842-8187-4B0F-9ADE-B88BB399B0C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25F4F753-EAC4-3DE3-A878-3BF4A3E4E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57EE3B1-6E85-C4CC-1597-ED9FDE646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Transport protocols</a:t>
            </a:r>
          </a:p>
          <a:p>
            <a:pPr lvl="1"/>
            <a:r>
              <a:rPr lang="en-US" altLang="en-US"/>
              <a:t>Multiplexing and demultiplexing</a:t>
            </a:r>
          </a:p>
          <a:p>
            <a:pPr lvl="1"/>
            <a:r>
              <a:rPr lang="en-US" altLang="en-US"/>
              <a:t>Sequence numbers</a:t>
            </a:r>
          </a:p>
          <a:p>
            <a:pPr lvl="1"/>
            <a:r>
              <a:rPr lang="en-US" altLang="en-US"/>
              <a:t>Window-based flow control</a:t>
            </a:r>
          </a:p>
          <a:p>
            <a:pPr lvl="1"/>
            <a:r>
              <a:rPr lang="en-US" altLang="en-US"/>
              <a:t>Timer-based retransmission</a:t>
            </a:r>
          </a:p>
          <a:p>
            <a:pPr lvl="1"/>
            <a:r>
              <a:rPr lang="en-US" altLang="en-US"/>
              <a:t>Checksum-based error detection</a:t>
            </a:r>
          </a:p>
          <a:p>
            <a:r>
              <a:rPr lang="en-US" altLang="en-US"/>
              <a:t>Reading for this week</a:t>
            </a:r>
          </a:p>
          <a:p>
            <a:pPr lvl="1"/>
            <a:r>
              <a:rPr lang="en-US" altLang="en-US"/>
              <a:t>Sections 2.5, 5.1-5.2, and 6.1-6.4</a:t>
            </a:r>
          </a:p>
          <a:p>
            <a:r>
              <a:rPr lang="en-US" altLang="en-US"/>
              <a:t>Next lecture</a:t>
            </a:r>
          </a:p>
          <a:p>
            <a:pPr lvl="1"/>
            <a:r>
              <a:rPr lang="en-US" altLang="en-US"/>
              <a:t>Congestion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426">
  <a:themeElements>
    <a:clrScheme name="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F47A00"/>
      </a:accent1>
      <a:accent2>
        <a:srgbClr val="000066"/>
      </a:accent2>
      <a:accent3>
        <a:srgbClr val="FFFFFF"/>
      </a:accent3>
      <a:accent4>
        <a:srgbClr val="000000"/>
      </a:accent4>
      <a:accent5>
        <a:srgbClr val="F8BEAA"/>
      </a:accent5>
      <a:accent6>
        <a:srgbClr val="00005C"/>
      </a:accent6>
      <a:hlink>
        <a:srgbClr val="A50021"/>
      </a:hlink>
      <a:folHlink>
        <a:srgbClr val="008000"/>
      </a:folHlink>
    </a:clrScheme>
    <a:fontScheme name="cs426">
      <a:majorFont>
        <a:latin typeface="Helvetica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cs42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426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D:\Funk\Courses\cs217\cs426.pot</Template>
  <TotalTime>12054</TotalTime>
  <Words>2704</Words>
  <Application>Microsoft Office PowerPoint</Application>
  <PresentationFormat>On-screen Show (4:3)</PresentationFormat>
  <Paragraphs>609</Paragraphs>
  <Slides>46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Courier New</vt:lpstr>
      <vt:lpstr>Arial</vt:lpstr>
      <vt:lpstr>Helvetica</vt:lpstr>
      <vt:lpstr>Wingdings</vt:lpstr>
      <vt:lpstr>Times New Roman</vt:lpstr>
      <vt:lpstr>Comic Sans MS</vt:lpstr>
      <vt:lpstr>cs426</vt:lpstr>
      <vt:lpstr>Microsoft Clip Gallery</vt:lpstr>
      <vt:lpstr>Role of Transport Layer</vt:lpstr>
      <vt:lpstr>Transport Protocols</vt:lpstr>
      <vt:lpstr>Internet Transport Protocols</vt:lpstr>
      <vt:lpstr>Multiplexing and Demultiplexing</vt:lpstr>
      <vt:lpstr>Unreliable Message Delivery Service</vt:lpstr>
      <vt:lpstr>Why Would Anyone Use UDP?</vt:lpstr>
      <vt:lpstr>Popular Applications That Use UDP</vt:lpstr>
      <vt:lpstr>Transmission Control Protocol (TCP)</vt:lpstr>
      <vt:lpstr>An Analogy: Talking on a Cell Phone</vt:lpstr>
      <vt:lpstr>Some Take-Aways from the Example</vt:lpstr>
      <vt:lpstr>Challenges of Reliable Data Transfer</vt:lpstr>
      <vt:lpstr>TCP Support for Reliable Delivery</vt:lpstr>
      <vt:lpstr>TCP Segments</vt:lpstr>
      <vt:lpstr>TCP “Stream of Bytes” Service</vt:lpstr>
      <vt:lpstr>…Emulated Using TCP “Segments”</vt:lpstr>
      <vt:lpstr>TCP Segment</vt:lpstr>
      <vt:lpstr>Sequence Numbers</vt:lpstr>
      <vt:lpstr>Initial Sequence Number (ISN)</vt:lpstr>
      <vt:lpstr>TCP Three-Way Handshake</vt:lpstr>
      <vt:lpstr>Establishing a TCP Connection</vt:lpstr>
      <vt:lpstr>TCP Header</vt:lpstr>
      <vt:lpstr>Step 1: A’s Initial SYN Packet</vt:lpstr>
      <vt:lpstr>Step 2: B’s SYN-ACK Packet</vt:lpstr>
      <vt:lpstr>Step 3: A’s ACK of the SYN-ACK</vt:lpstr>
      <vt:lpstr>What if the SYN Packet Gets Lost?</vt:lpstr>
      <vt:lpstr>SYN Loss and Web Downloads</vt:lpstr>
      <vt:lpstr>TCP Retransmissions</vt:lpstr>
      <vt:lpstr>Automatic Repeat reQuest (ARQ)</vt:lpstr>
      <vt:lpstr>Reasons for Retransmission</vt:lpstr>
      <vt:lpstr>How Long Should Sender Wait?</vt:lpstr>
      <vt:lpstr>Example RTT Estimation</vt:lpstr>
      <vt:lpstr>A Flaw in This Approach</vt:lpstr>
      <vt:lpstr>Yet Another Limitation…</vt:lpstr>
      <vt:lpstr>TCP Sliding Window</vt:lpstr>
      <vt:lpstr>Motivation for Sliding Window</vt:lpstr>
      <vt:lpstr>Sliding Window</vt:lpstr>
      <vt:lpstr>Receiver Buffering</vt:lpstr>
      <vt:lpstr>TCP Header for Receiver Buffering</vt:lpstr>
      <vt:lpstr>Fast Retransmission</vt:lpstr>
      <vt:lpstr>Timeout is Inefficient</vt:lpstr>
      <vt:lpstr>Fast Retransmission</vt:lpstr>
      <vt:lpstr>Effectiveness of Fast Retransmit</vt:lpstr>
      <vt:lpstr>Tearing Down the Connection</vt:lpstr>
      <vt:lpstr>Tearing Down the Connection</vt:lpstr>
      <vt:lpstr>Sending/Receiving the FIN Packet</vt:lpstr>
      <vt:lpstr>Conclusions</vt:lpstr>
    </vt:vector>
  </TitlesOfParts>
  <Company>Princeton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</dc:title>
  <dc:creator>Kai Li</dc:creator>
  <cp:lastModifiedBy>Raji R</cp:lastModifiedBy>
  <cp:revision>1038</cp:revision>
  <dcterms:created xsi:type="dcterms:W3CDTF">2001-07-06T14:58:21Z</dcterms:created>
  <dcterms:modified xsi:type="dcterms:W3CDTF">2025-12-29T10:15:22Z</dcterms:modified>
</cp:coreProperties>
</file>