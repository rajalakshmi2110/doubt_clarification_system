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35"/>
  </p:notesMasterIdLst>
  <p:sldIdLst>
    <p:sldId id="564" r:id="rId2"/>
    <p:sldId id="518" r:id="rId3"/>
    <p:sldId id="532" r:id="rId4"/>
    <p:sldId id="534" r:id="rId5"/>
    <p:sldId id="535" r:id="rId6"/>
    <p:sldId id="528" r:id="rId7"/>
    <p:sldId id="537" r:id="rId8"/>
    <p:sldId id="538" r:id="rId9"/>
    <p:sldId id="539" r:id="rId10"/>
    <p:sldId id="540" r:id="rId11"/>
    <p:sldId id="541" r:id="rId12"/>
    <p:sldId id="558" r:id="rId13"/>
    <p:sldId id="570" r:id="rId14"/>
    <p:sldId id="565" r:id="rId15"/>
    <p:sldId id="559" r:id="rId16"/>
    <p:sldId id="542" r:id="rId17"/>
    <p:sldId id="560" r:id="rId18"/>
    <p:sldId id="543" r:id="rId19"/>
    <p:sldId id="544" r:id="rId20"/>
    <p:sldId id="545" r:id="rId21"/>
    <p:sldId id="561" r:id="rId22"/>
    <p:sldId id="571" r:id="rId23"/>
    <p:sldId id="572" r:id="rId24"/>
    <p:sldId id="562" r:id="rId25"/>
    <p:sldId id="566" r:id="rId26"/>
    <p:sldId id="547" r:id="rId27"/>
    <p:sldId id="548" r:id="rId28"/>
    <p:sldId id="549" r:id="rId29"/>
    <p:sldId id="530" r:id="rId30"/>
    <p:sldId id="550" r:id="rId31"/>
    <p:sldId id="573" r:id="rId32"/>
    <p:sldId id="551" r:id="rId33"/>
    <p:sldId id="574" r:id="rId34"/>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6AF4A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1" autoAdjust="0"/>
    <p:restoredTop sz="94707" autoAdjust="0"/>
  </p:normalViewPr>
  <p:slideViewPr>
    <p:cSldViewPr>
      <p:cViewPr varScale="1">
        <p:scale>
          <a:sx n="105" d="100"/>
          <a:sy n="105" d="100"/>
        </p:scale>
        <p:origin x="180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7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19A9B37E-AA9E-8A7C-7B61-3D4921BCDEB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pPr>
              <a:defRPr/>
            </a:pPr>
            <a:endParaRPr lang="en-US"/>
          </a:p>
        </p:txBody>
      </p:sp>
      <p:sp>
        <p:nvSpPr>
          <p:cNvPr id="460803" name="Rectangle 3">
            <a:extLst>
              <a:ext uri="{FF2B5EF4-FFF2-40B4-BE49-F238E27FC236}">
                <a16:creationId xmlns:a16="http://schemas.microsoft.com/office/drawing/2014/main" id="{7224448B-AAD4-9AF6-BB07-2BF13030CCA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pPr>
              <a:defRPr/>
            </a:pPr>
            <a:endParaRPr lang="en-US"/>
          </a:p>
        </p:txBody>
      </p:sp>
      <p:sp>
        <p:nvSpPr>
          <p:cNvPr id="6148" name="Rectangle 4">
            <a:extLst>
              <a:ext uri="{FF2B5EF4-FFF2-40B4-BE49-F238E27FC236}">
                <a16:creationId xmlns:a16="http://schemas.microsoft.com/office/drawing/2014/main" id="{D906B194-8DDB-3BB4-08FE-BC4FA46FFBE8}"/>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05" name="Rectangle 5">
            <a:extLst>
              <a:ext uri="{FF2B5EF4-FFF2-40B4-BE49-F238E27FC236}">
                <a16:creationId xmlns:a16="http://schemas.microsoft.com/office/drawing/2014/main" id="{9B481C25-1101-4881-F49C-E74DDE3B590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06" name="Rectangle 6">
            <a:extLst>
              <a:ext uri="{FF2B5EF4-FFF2-40B4-BE49-F238E27FC236}">
                <a16:creationId xmlns:a16="http://schemas.microsoft.com/office/drawing/2014/main" id="{7041F2A1-79B8-6FFB-5122-C3B1ED0D0E6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pPr>
              <a:defRPr/>
            </a:pPr>
            <a:endParaRPr lang="en-US"/>
          </a:p>
        </p:txBody>
      </p:sp>
      <p:sp>
        <p:nvSpPr>
          <p:cNvPr id="460807" name="Rectangle 7">
            <a:extLst>
              <a:ext uri="{FF2B5EF4-FFF2-40B4-BE49-F238E27FC236}">
                <a16:creationId xmlns:a16="http://schemas.microsoft.com/office/drawing/2014/main" id="{22AE1706-DB2C-9EBF-6669-F7CCA28341F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FC5C80E6-D37B-4648-8C8C-D46877343DA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9ED0A3-BFBA-05BD-5EF6-A39DC17B6C5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3" name="Rounded Rectangle 10">
            <a:extLst>
              <a:ext uri="{FF2B5EF4-FFF2-40B4-BE49-F238E27FC236}">
                <a16:creationId xmlns:a16="http://schemas.microsoft.com/office/drawing/2014/main" id="{4D551381-3E9A-A5A8-09EA-6454B2094D94}"/>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4" name="Rectangle 3">
            <a:extLst>
              <a:ext uri="{FF2B5EF4-FFF2-40B4-BE49-F238E27FC236}">
                <a16:creationId xmlns:a16="http://schemas.microsoft.com/office/drawing/2014/main" id="{E3FD2C25-20C9-F7DA-04AB-5F9E66DABBE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FABCFC7E-44A9-C29B-B252-6E8D1E49A355}"/>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D63DB410-F6F4-3C86-E6E3-D675A6CCBBD8}"/>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Text Box 17">
            <a:extLst>
              <a:ext uri="{FF2B5EF4-FFF2-40B4-BE49-F238E27FC236}">
                <a16:creationId xmlns:a16="http://schemas.microsoft.com/office/drawing/2014/main" id="{8E631462-2944-D4DD-9185-55D6C14BBC31}"/>
              </a:ext>
            </a:extLst>
          </p:cNvPr>
          <p:cNvSpPr txBox="1">
            <a:spLocks noChangeArrowheads="1"/>
          </p:cNvSpPr>
          <p:nvPr userDrawn="1"/>
        </p:nvSpPr>
        <p:spPr bwMode="auto">
          <a:xfrm>
            <a:off x="0" y="65532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eaLnBrk="1" hangingPunct="1">
              <a:spcBef>
                <a:spcPct val="50000"/>
              </a:spcBef>
            </a:pPr>
            <a:r>
              <a:rPr lang="en-US" altLang="en-US" sz="1400" b="0">
                <a:latin typeface="McGrawHill-Italic" charset="0"/>
              </a:rPr>
              <a:t>McGraw-Hill</a:t>
            </a:r>
            <a:endParaRPr lang="en-US" altLang="en-US" sz="2400" b="0">
              <a:latin typeface="Times New Roman" panose="02020603050405020304" pitchFamily="18" charset="0"/>
            </a:endParaRPr>
          </a:p>
        </p:txBody>
      </p:sp>
      <p:sp>
        <p:nvSpPr>
          <p:cNvPr id="10" name="Text Box 18">
            <a:extLst>
              <a:ext uri="{FF2B5EF4-FFF2-40B4-BE49-F238E27FC236}">
                <a16:creationId xmlns:a16="http://schemas.microsoft.com/office/drawing/2014/main" id="{02AE6113-F716-6AB5-7227-638A89A8E538}"/>
              </a:ext>
            </a:extLst>
          </p:cNvPr>
          <p:cNvSpPr txBox="1">
            <a:spLocks noChangeArrowheads="1"/>
          </p:cNvSpPr>
          <p:nvPr userDrawn="1"/>
        </p:nvSpPr>
        <p:spPr bwMode="auto">
          <a:xfrm>
            <a:off x="4572000"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r" eaLnBrk="1" hangingPunct="1">
              <a:spcBef>
                <a:spcPct val="50000"/>
              </a:spcBef>
              <a:buFontTx/>
              <a:buChar char="©"/>
            </a:pPr>
            <a:r>
              <a:rPr lang="en-US" altLang="en-US" sz="1400" b="0">
                <a:latin typeface="McGrawHill-Italic" charset="0"/>
              </a:rPr>
              <a:t>The McGraw-Hill Companies, Inc., 2000</a:t>
            </a:r>
            <a:endParaRPr lang="en-US" altLang="en-US" sz="2400" b="0">
              <a:latin typeface="Times New Roman" panose="02020603050405020304" pitchFamily="18" charset="0"/>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815906D8-380F-2F18-AA2C-B5C2F0EA7A3D}"/>
              </a:ext>
            </a:extLst>
          </p:cNvPr>
          <p:cNvSpPr>
            <a:spLocks noGrp="1"/>
          </p:cNvSpPr>
          <p:nvPr>
            <p:ph type="dt" sz="half" idx="10"/>
          </p:nvPr>
        </p:nvSpPr>
        <p:spPr/>
        <p:txBody>
          <a:bodyPr/>
          <a:lstStyle>
            <a:lvl1pPr>
              <a:defRPr/>
            </a:lvl1pPr>
          </a:lstStyle>
          <a:p>
            <a:pPr>
              <a:defRPr/>
            </a:pPr>
            <a:endParaRPr lang="en-US"/>
          </a:p>
        </p:txBody>
      </p:sp>
      <p:sp>
        <p:nvSpPr>
          <p:cNvPr id="12" name="Footer Placeholder 16">
            <a:extLst>
              <a:ext uri="{FF2B5EF4-FFF2-40B4-BE49-F238E27FC236}">
                <a16:creationId xmlns:a16="http://schemas.microsoft.com/office/drawing/2014/main" id="{BDC77577-0CE0-2854-1935-62FD92D57D18}"/>
              </a:ext>
            </a:extLst>
          </p:cNvPr>
          <p:cNvSpPr>
            <a:spLocks noGrp="1"/>
          </p:cNvSpPr>
          <p:nvPr>
            <p:ph type="ftr" sz="quarter" idx="11"/>
          </p:nvPr>
        </p:nvSpPr>
        <p:spPr/>
        <p:txBody>
          <a:bodyPr/>
          <a:lstStyle>
            <a:lvl1pPr>
              <a:defRPr/>
            </a:lvl1pPr>
          </a:lstStyle>
          <a:p>
            <a:pPr>
              <a:defRPr/>
            </a:pPr>
            <a:r>
              <a:rPr lang="en-US"/>
              <a:t>TCP/IP Protocol Suite</a:t>
            </a:r>
          </a:p>
        </p:txBody>
      </p:sp>
      <p:sp>
        <p:nvSpPr>
          <p:cNvPr id="13" name="Slide Number Placeholder 28">
            <a:extLst>
              <a:ext uri="{FF2B5EF4-FFF2-40B4-BE49-F238E27FC236}">
                <a16:creationId xmlns:a16="http://schemas.microsoft.com/office/drawing/2014/main" id="{971F7C5E-C186-458F-D460-99931D6F5EE3}"/>
              </a:ext>
            </a:extLst>
          </p:cNvPr>
          <p:cNvSpPr>
            <a:spLocks noGrp="1"/>
          </p:cNvSpPr>
          <p:nvPr>
            <p:ph type="sldNum" sz="quarter" idx="12"/>
          </p:nvPr>
        </p:nvSpPr>
        <p:spPr/>
        <p:txBody>
          <a:bodyPr/>
          <a:lstStyle>
            <a:lvl1pPr>
              <a:defRPr/>
            </a:lvl1pPr>
          </a:lstStyle>
          <a:p>
            <a:fld id="{5DB5F1C0-22EF-425F-81C9-5185FD016C52}" type="slidenum">
              <a:rPr lang="en-US" altLang="en-US"/>
              <a:pPr/>
              <a:t>‹#›</a:t>
            </a:fld>
            <a:endParaRPr lang="en-US" altLang="en-US"/>
          </a:p>
        </p:txBody>
      </p:sp>
    </p:spTree>
    <p:extLst>
      <p:ext uri="{BB962C8B-B14F-4D97-AF65-F5344CB8AC3E}">
        <p14:creationId xmlns:p14="http://schemas.microsoft.com/office/powerpoint/2010/main" val="118773654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75F7A046-F966-8793-88E3-F9C645FBA2B9}"/>
              </a:ext>
            </a:extLst>
          </p:cNvPr>
          <p:cNvSpPr>
            <a:spLocks noGrp="1"/>
          </p:cNvSpPr>
          <p:nvPr>
            <p:ph type="dt" sz="half" idx="10"/>
          </p:nvPr>
        </p:nvSpPr>
        <p:spPr/>
        <p:txBody>
          <a:bodyPr/>
          <a:lstStyle>
            <a:lvl1pPr>
              <a:defRPr/>
            </a:lvl1pPr>
          </a:lstStyle>
          <a:p>
            <a:pPr>
              <a:defRPr/>
            </a:pPr>
            <a:fld id="{FE51BBB6-C4CD-47EB-850B-C1E738E42013}" type="datetimeFigureOut">
              <a:rPr lang="en-US"/>
              <a:pPr>
                <a:defRPr/>
              </a:pPr>
              <a:t>12/29/2025</a:t>
            </a:fld>
            <a:endParaRPr lang="en-US" dirty="0"/>
          </a:p>
        </p:txBody>
      </p:sp>
      <p:sp>
        <p:nvSpPr>
          <p:cNvPr id="4" name="Footer Placeholder 2">
            <a:extLst>
              <a:ext uri="{FF2B5EF4-FFF2-40B4-BE49-F238E27FC236}">
                <a16:creationId xmlns:a16="http://schemas.microsoft.com/office/drawing/2014/main" id="{2D6D629C-30AA-057C-9CCE-B007409D5A8D}"/>
              </a:ext>
            </a:extLst>
          </p:cNvPr>
          <p:cNvSpPr>
            <a:spLocks noGrp="1"/>
          </p:cNvSpPr>
          <p:nvPr>
            <p:ph type="ftr" sz="quarter" idx="11"/>
          </p:nvPr>
        </p:nvSpPr>
        <p:spPr/>
        <p:txBody>
          <a:bodyPr/>
          <a:lstStyle>
            <a:lvl1pPr>
              <a:defRPr/>
            </a:lvl1pPr>
          </a:lstStyle>
          <a:p>
            <a:pPr>
              <a:defRPr/>
            </a:pPr>
            <a:r>
              <a:rPr lang="en-US"/>
              <a:t>TCP/IP Protocol Suite</a:t>
            </a:r>
          </a:p>
        </p:txBody>
      </p:sp>
      <p:sp>
        <p:nvSpPr>
          <p:cNvPr id="5" name="Slide Number Placeholder 22">
            <a:extLst>
              <a:ext uri="{FF2B5EF4-FFF2-40B4-BE49-F238E27FC236}">
                <a16:creationId xmlns:a16="http://schemas.microsoft.com/office/drawing/2014/main" id="{F6A673D2-BC51-558F-20E6-E91979E7CEBF}"/>
              </a:ext>
            </a:extLst>
          </p:cNvPr>
          <p:cNvSpPr>
            <a:spLocks noGrp="1"/>
          </p:cNvSpPr>
          <p:nvPr>
            <p:ph type="sldNum" sz="quarter" idx="12"/>
          </p:nvPr>
        </p:nvSpPr>
        <p:spPr/>
        <p:txBody>
          <a:bodyPr/>
          <a:lstStyle>
            <a:lvl1pPr>
              <a:defRPr/>
            </a:lvl1pPr>
          </a:lstStyle>
          <a:p>
            <a:fld id="{2A02FCB7-3732-4555-B5F9-B24DB7AB9C72}" type="slidenum">
              <a:rPr lang="en-US" altLang="en-US"/>
              <a:pPr/>
              <a:t>‹#›</a:t>
            </a:fld>
            <a:endParaRPr lang="en-US" altLang="en-US"/>
          </a:p>
        </p:txBody>
      </p:sp>
    </p:spTree>
    <p:extLst>
      <p:ext uri="{BB962C8B-B14F-4D97-AF65-F5344CB8AC3E}">
        <p14:creationId xmlns:p14="http://schemas.microsoft.com/office/powerpoint/2010/main" val="3993021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8D4375-35CF-0E8B-46EA-2E025D2A4E1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8EAF711F-C192-809C-6B29-6704F7B3172C}"/>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E4BA4C29-2585-7D56-A899-B1714D4297E8}"/>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D22A7821-EA6E-459D-7DAD-68A1FCCBBD88}"/>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15F79E2C-D5D8-CEF7-3CDA-05632C6FBCE2}"/>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72AFEA61-868F-4A45-5E59-2A5BB6F53B32}"/>
              </a:ext>
            </a:extLst>
          </p:cNvPr>
          <p:cNvSpPr>
            <a:spLocks noGrp="1"/>
          </p:cNvSpPr>
          <p:nvPr>
            <p:ph type="dt" sz="half" idx="10"/>
          </p:nvPr>
        </p:nvSpPr>
        <p:spPr/>
        <p:txBody>
          <a:bodyPr/>
          <a:lstStyle>
            <a:lvl1pPr>
              <a:defRPr/>
            </a:lvl1pPr>
          </a:lstStyle>
          <a:p>
            <a:pPr>
              <a:defRPr/>
            </a:pPr>
            <a:fld id="{DE96CED5-753C-4BE3-8D59-C9A5A156D55D}" type="datetimeFigureOut">
              <a:rPr lang="en-US"/>
              <a:pPr>
                <a:defRPr/>
              </a:pPr>
              <a:t>12/29/2025</a:t>
            </a:fld>
            <a:endParaRPr lang="en-US"/>
          </a:p>
        </p:txBody>
      </p:sp>
      <p:sp>
        <p:nvSpPr>
          <p:cNvPr id="10" name="Footer Placeholder 4">
            <a:extLst>
              <a:ext uri="{FF2B5EF4-FFF2-40B4-BE49-F238E27FC236}">
                <a16:creationId xmlns:a16="http://schemas.microsoft.com/office/drawing/2014/main" id="{D008E1E0-9C4C-4E6A-FB4D-AB4F873FACD3}"/>
              </a:ext>
            </a:extLst>
          </p:cNvPr>
          <p:cNvSpPr>
            <a:spLocks noGrp="1"/>
          </p:cNvSpPr>
          <p:nvPr>
            <p:ph type="ftr" sz="quarter" idx="11"/>
          </p:nvPr>
        </p:nvSpPr>
        <p:spPr>
          <a:xfrm>
            <a:off x="800100" y="6172200"/>
            <a:ext cx="4000500" cy="457200"/>
          </a:xfrm>
        </p:spPr>
        <p:txBody>
          <a:bodyPr/>
          <a:lstStyle>
            <a:lvl1pPr>
              <a:defRPr/>
            </a:lvl1pPr>
          </a:lstStyle>
          <a:p>
            <a:pPr>
              <a:defRPr/>
            </a:pPr>
            <a:r>
              <a:rPr lang="en-US"/>
              <a:t>TCP/IP Protocol Suite</a:t>
            </a:r>
          </a:p>
        </p:txBody>
      </p:sp>
      <p:sp>
        <p:nvSpPr>
          <p:cNvPr id="11" name="Slide Number Placeholder 5">
            <a:extLst>
              <a:ext uri="{FF2B5EF4-FFF2-40B4-BE49-F238E27FC236}">
                <a16:creationId xmlns:a16="http://schemas.microsoft.com/office/drawing/2014/main" id="{235B8C13-CB4C-75F8-9D1D-91CC98CE3504}"/>
              </a:ext>
            </a:extLst>
          </p:cNvPr>
          <p:cNvSpPr>
            <a:spLocks noGrp="1"/>
          </p:cNvSpPr>
          <p:nvPr>
            <p:ph type="sldNum" sz="quarter" idx="12"/>
          </p:nvPr>
        </p:nvSpPr>
        <p:spPr>
          <a:xfrm>
            <a:off x="146050" y="6208713"/>
            <a:ext cx="457200" cy="457200"/>
          </a:xfrm>
        </p:spPr>
        <p:txBody>
          <a:bodyPr/>
          <a:lstStyle>
            <a:lvl1pPr>
              <a:defRPr/>
            </a:lvl1pPr>
          </a:lstStyle>
          <a:p>
            <a:fld id="{3C8D11F4-2811-42D0-88DB-D7242A50FEB0}" type="slidenum">
              <a:rPr lang="en-US" altLang="en-US"/>
              <a:pPr/>
              <a:t>‹#›</a:t>
            </a:fld>
            <a:endParaRPr lang="en-US" altLang="en-US"/>
          </a:p>
        </p:txBody>
      </p:sp>
    </p:spTree>
    <p:extLst>
      <p:ext uri="{BB962C8B-B14F-4D97-AF65-F5344CB8AC3E}">
        <p14:creationId xmlns:p14="http://schemas.microsoft.com/office/powerpoint/2010/main" val="195117486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E5D7ADB1-9FC7-1485-6102-52B0C8B70703}"/>
              </a:ext>
            </a:extLst>
          </p:cNvPr>
          <p:cNvSpPr>
            <a:spLocks noGrp="1"/>
          </p:cNvSpPr>
          <p:nvPr>
            <p:ph type="dt" sz="half" idx="10"/>
          </p:nvPr>
        </p:nvSpPr>
        <p:spPr/>
        <p:txBody>
          <a:bodyPr/>
          <a:lstStyle>
            <a:lvl1pPr>
              <a:defRPr/>
            </a:lvl1pPr>
          </a:lstStyle>
          <a:p>
            <a:pPr>
              <a:defRPr/>
            </a:pPr>
            <a:fld id="{EF091E52-DA63-4DB0-99F6-E0D9AF2D3BC3}" type="datetimeFigureOut">
              <a:rPr lang="en-US"/>
              <a:pPr>
                <a:defRPr/>
              </a:pPr>
              <a:t>12/29/2025</a:t>
            </a:fld>
            <a:endParaRPr lang="en-US" dirty="0"/>
          </a:p>
        </p:txBody>
      </p:sp>
      <p:sp>
        <p:nvSpPr>
          <p:cNvPr id="4" name="Footer Placeholder 2">
            <a:extLst>
              <a:ext uri="{FF2B5EF4-FFF2-40B4-BE49-F238E27FC236}">
                <a16:creationId xmlns:a16="http://schemas.microsoft.com/office/drawing/2014/main" id="{1A4D7F48-F39B-2A9E-35F9-C377AD81E70A}"/>
              </a:ext>
            </a:extLst>
          </p:cNvPr>
          <p:cNvSpPr>
            <a:spLocks noGrp="1"/>
          </p:cNvSpPr>
          <p:nvPr>
            <p:ph type="ftr" sz="quarter" idx="11"/>
          </p:nvPr>
        </p:nvSpPr>
        <p:spPr/>
        <p:txBody>
          <a:bodyPr/>
          <a:lstStyle>
            <a:lvl1pPr>
              <a:defRPr/>
            </a:lvl1pPr>
          </a:lstStyle>
          <a:p>
            <a:pPr>
              <a:defRPr/>
            </a:pPr>
            <a:r>
              <a:rPr lang="en-US"/>
              <a:t>TCP/IP Protocol Suite</a:t>
            </a:r>
          </a:p>
        </p:txBody>
      </p:sp>
      <p:sp>
        <p:nvSpPr>
          <p:cNvPr id="5" name="Slide Number Placeholder 22">
            <a:extLst>
              <a:ext uri="{FF2B5EF4-FFF2-40B4-BE49-F238E27FC236}">
                <a16:creationId xmlns:a16="http://schemas.microsoft.com/office/drawing/2014/main" id="{4F327278-F476-5F9B-8DCB-7014E4DA38A1}"/>
              </a:ext>
            </a:extLst>
          </p:cNvPr>
          <p:cNvSpPr>
            <a:spLocks noGrp="1"/>
          </p:cNvSpPr>
          <p:nvPr>
            <p:ph type="sldNum" sz="quarter" idx="12"/>
          </p:nvPr>
        </p:nvSpPr>
        <p:spPr/>
        <p:txBody>
          <a:bodyPr/>
          <a:lstStyle>
            <a:lvl1pPr>
              <a:defRPr/>
            </a:lvl1pPr>
          </a:lstStyle>
          <a:p>
            <a:fld id="{7DC44A0F-92E3-40C0-94C6-B3E0BB5A1996}" type="slidenum">
              <a:rPr lang="en-US" altLang="en-US"/>
              <a:pPr/>
              <a:t>‹#›</a:t>
            </a:fld>
            <a:endParaRPr lang="en-US" altLang="en-US"/>
          </a:p>
        </p:txBody>
      </p:sp>
    </p:spTree>
    <p:extLst>
      <p:ext uri="{BB962C8B-B14F-4D97-AF65-F5344CB8AC3E}">
        <p14:creationId xmlns:p14="http://schemas.microsoft.com/office/powerpoint/2010/main" val="2280381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033DDC3F-62AD-F8EF-99AC-3889FE1E2DB3}"/>
              </a:ext>
            </a:extLst>
          </p:cNvPr>
          <p:cNvSpPr>
            <a:spLocks noGrp="1"/>
          </p:cNvSpPr>
          <p:nvPr>
            <p:ph type="dt" sz="half" idx="10"/>
          </p:nvPr>
        </p:nvSpPr>
        <p:spPr/>
        <p:txBody>
          <a:bodyPr/>
          <a:lstStyle>
            <a:lvl1pPr>
              <a:defRPr/>
            </a:lvl1pPr>
          </a:lstStyle>
          <a:p>
            <a:pPr>
              <a:defRPr/>
            </a:pPr>
            <a:fld id="{E0C7F6C2-538C-49EF-A238-B33346B5D4D7}" type="datetimeFigureOut">
              <a:rPr lang="en-US"/>
              <a:pPr>
                <a:defRPr/>
              </a:pPr>
              <a:t>12/29/2025</a:t>
            </a:fld>
            <a:endParaRPr lang="en-US" dirty="0"/>
          </a:p>
        </p:txBody>
      </p:sp>
      <p:sp>
        <p:nvSpPr>
          <p:cNvPr id="6" name="Footer Placeholder 2">
            <a:extLst>
              <a:ext uri="{FF2B5EF4-FFF2-40B4-BE49-F238E27FC236}">
                <a16:creationId xmlns:a16="http://schemas.microsoft.com/office/drawing/2014/main" id="{9341AF74-28E6-5479-41B7-16B46DDEDB64}"/>
              </a:ext>
            </a:extLst>
          </p:cNvPr>
          <p:cNvSpPr>
            <a:spLocks noGrp="1"/>
          </p:cNvSpPr>
          <p:nvPr>
            <p:ph type="ftr" sz="quarter" idx="11"/>
          </p:nvPr>
        </p:nvSpPr>
        <p:spPr/>
        <p:txBody>
          <a:bodyPr/>
          <a:lstStyle>
            <a:lvl1pPr>
              <a:defRPr/>
            </a:lvl1pPr>
          </a:lstStyle>
          <a:p>
            <a:pPr>
              <a:defRPr/>
            </a:pPr>
            <a:r>
              <a:rPr lang="en-US"/>
              <a:t>TCP/IP Protocol Suite</a:t>
            </a:r>
          </a:p>
        </p:txBody>
      </p:sp>
      <p:sp>
        <p:nvSpPr>
          <p:cNvPr id="7" name="Slide Number Placeholder 22">
            <a:extLst>
              <a:ext uri="{FF2B5EF4-FFF2-40B4-BE49-F238E27FC236}">
                <a16:creationId xmlns:a16="http://schemas.microsoft.com/office/drawing/2014/main" id="{802670CE-A4F0-ECF4-5AED-BEF8E90503A7}"/>
              </a:ext>
            </a:extLst>
          </p:cNvPr>
          <p:cNvSpPr>
            <a:spLocks noGrp="1"/>
          </p:cNvSpPr>
          <p:nvPr>
            <p:ph type="sldNum" sz="quarter" idx="12"/>
          </p:nvPr>
        </p:nvSpPr>
        <p:spPr/>
        <p:txBody>
          <a:bodyPr/>
          <a:lstStyle>
            <a:lvl1pPr>
              <a:defRPr/>
            </a:lvl1pPr>
          </a:lstStyle>
          <a:p>
            <a:fld id="{0A9828FB-BAAF-4675-8B02-94291AA1DE02}" type="slidenum">
              <a:rPr lang="en-US" altLang="en-US"/>
              <a:pPr/>
              <a:t>‹#›</a:t>
            </a:fld>
            <a:endParaRPr lang="en-US" altLang="en-US"/>
          </a:p>
        </p:txBody>
      </p:sp>
    </p:spTree>
    <p:extLst>
      <p:ext uri="{BB962C8B-B14F-4D97-AF65-F5344CB8AC3E}">
        <p14:creationId xmlns:p14="http://schemas.microsoft.com/office/powerpoint/2010/main" val="369614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75C4CC7A-E64D-506B-9E89-0BB3EBF9AEC6}"/>
              </a:ext>
            </a:extLst>
          </p:cNvPr>
          <p:cNvSpPr>
            <a:spLocks noGrp="1"/>
          </p:cNvSpPr>
          <p:nvPr>
            <p:ph type="dt" sz="half" idx="10"/>
          </p:nvPr>
        </p:nvSpPr>
        <p:spPr/>
        <p:txBody>
          <a:bodyPr/>
          <a:lstStyle>
            <a:lvl1pPr>
              <a:defRPr/>
            </a:lvl1pPr>
          </a:lstStyle>
          <a:p>
            <a:pPr>
              <a:defRPr/>
            </a:pPr>
            <a:fld id="{F0DC84FC-4F7D-4A7A-A061-0565791B3CBC}" type="datetimeFigureOut">
              <a:rPr lang="en-US"/>
              <a:pPr>
                <a:defRPr/>
              </a:pPr>
              <a:t>12/29/2025</a:t>
            </a:fld>
            <a:endParaRPr lang="en-US" dirty="0"/>
          </a:p>
        </p:txBody>
      </p:sp>
      <p:sp>
        <p:nvSpPr>
          <p:cNvPr id="4" name="Footer Placeholder 2">
            <a:extLst>
              <a:ext uri="{FF2B5EF4-FFF2-40B4-BE49-F238E27FC236}">
                <a16:creationId xmlns:a16="http://schemas.microsoft.com/office/drawing/2014/main" id="{7FAB71A2-F02B-CE91-724A-1993AB4A57D8}"/>
              </a:ext>
            </a:extLst>
          </p:cNvPr>
          <p:cNvSpPr>
            <a:spLocks noGrp="1"/>
          </p:cNvSpPr>
          <p:nvPr>
            <p:ph type="ftr" sz="quarter" idx="11"/>
          </p:nvPr>
        </p:nvSpPr>
        <p:spPr/>
        <p:txBody>
          <a:bodyPr/>
          <a:lstStyle>
            <a:lvl1pPr>
              <a:defRPr/>
            </a:lvl1pPr>
          </a:lstStyle>
          <a:p>
            <a:pPr>
              <a:defRPr/>
            </a:pPr>
            <a:r>
              <a:rPr lang="en-US"/>
              <a:t>TCP/IP Protocol Suite</a:t>
            </a:r>
          </a:p>
        </p:txBody>
      </p:sp>
      <p:sp>
        <p:nvSpPr>
          <p:cNvPr id="5" name="Slide Number Placeholder 22">
            <a:extLst>
              <a:ext uri="{FF2B5EF4-FFF2-40B4-BE49-F238E27FC236}">
                <a16:creationId xmlns:a16="http://schemas.microsoft.com/office/drawing/2014/main" id="{012489B2-3776-DC45-F7C0-95E40AE0DCDD}"/>
              </a:ext>
            </a:extLst>
          </p:cNvPr>
          <p:cNvSpPr>
            <a:spLocks noGrp="1"/>
          </p:cNvSpPr>
          <p:nvPr>
            <p:ph type="sldNum" sz="quarter" idx="12"/>
          </p:nvPr>
        </p:nvSpPr>
        <p:spPr/>
        <p:txBody>
          <a:bodyPr/>
          <a:lstStyle>
            <a:lvl1pPr>
              <a:defRPr/>
            </a:lvl1pPr>
          </a:lstStyle>
          <a:p>
            <a:fld id="{D5AE36B7-DFB3-4DEF-B42E-DC3A9CE8A3B9}" type="slidenum">
              <a:rPr lang="en-US" altLang="en-US"/>
              <a:pPr/>
              <a:t>‹#›</a:t>
            </a:fld>
            <a:endParaRPr lang="en-US" altLang="en-US"/>
          </a:p>
        </p:txBody>
      </p:sp>
    </p:spTree>
    <p:extLst>
      <p:ext uri="{BB962C8B-B14F-4D97-AF65-F5344CB8AC3E}">
        <p14:creationId xmlns:p14="http://schemas.microsoft.com/office/powerpoint/2010/main" val="101109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F857BCBD-B800-B730-A11E-A3C2581D32CE}"/>
              </a:ext>
            </a:extLst>
          </p:cNvPr>
          <p:cNvSpPr>
            <a:spLocks noGrp="1"/>
          </p:cNvSpPr>
          <p:nvPr>
            <p:ph type="dt" sz="half" idx="10"/>
          </p:nvPr>
        </p:nvSpPr>
        <p:spPr/>
        <p:txBody>
          <a:bodyPr/>
          <a:lstStyle>
            <a:lvl1pPr>
              <a:defRPr/>
            </a:lvl1pPr>
          </a:lstStyle>
          <a:p>
            <a:pPr>
              <a:defRPr/>
            </a:pPr>
            <a:fld id="{40B1A405-7CA8-4DA6-A293-7841500C9724}" type="datetimeFigureOut">
              <a:rPr lang="en-US"/>
              <a:pPr>
                <a:defRPr/>
              </a:pPr>
              <a:t>12/29/2025</a:t>
            </a:fld>
            <a:endParaRPr lang="en-US" dirty="0"/>
          </a:p>
        </p:txBody>
      </p:sp>
      <p:sp>
        <p:nvSpPr>
          <p:cNvPr id="3" name="Footer Placeholder 2">
            <a:extLst>
              <a:ext uri="{FF2B5EF4-FFF2-40B4-BE49-F238E27FC236}">
                <a16:creationId xmlns:a16="http://schemas.microsoft.com/office/drawing/2014/main" id="{AC195899-6089-C76A-96C8-6B340D11AA44}"/>
              </a:ext>
            </a:extLst>
          </p:cNvPr>
          <p:cNvSpPr>
            <a:spLocks noGrp="1"/>
          </p:cNvSpPr>
          <p:nvPr>
            <p:ph type="ftr" sz="quarter" idx="11"/>
          </p:nvPr>
        </p:nvSpPr>
        <p:spPr/>
        <p:txBody>
          <a:bodyPr/>
          <a:lstStyle>
            <a:lvl1pPr>
              <a:defRPr/>
            </a:lvl1pPr>
          </a:lstStyle>
          <a:p>
            <a:pPr>
              <a:defRPr/>
            </a:pPr>
            <a:r>
              <a:rPr lang="en-US"/>
              <a:t>TCP/IP Protocol Suite</a:t>
            </a:r>
          </a:p>
        </p:txBody>
      </p:sp>
      <p:sp>
        <p:nvSpPr>
          <p:cNvPr id="4" name="Slide Number Placeholder 22">
            <a:extLst>
              <a:ext uri="{FF2B5EF4-FFF2-40B4-BE49-F238E27FC236}">
                <a16:creationId xmlns:a16="http://schemas.microsoft.com/office/drawing/2014/main" id="{6CE9FCC4-99C6-134D-1375-F5B47C6AA5B1}"/>
              </a:ext>
            </a:extLst>
          </p:cNvPr>
          <p:cNvSpPr>
            <a:spLocks noGrp="1"/>
          </p:cNvSpPr>
          <p:nvPr>
            <p:ph type="sldNum" sz="quarter" idx="12"/>
          </p:nvPr>
        </p:nvSpPr>
        <p:spPr/>
        <p:txBody>
          <a:bodyPr/>
          <a:lstStyle>
            <a:lvl1pPr>
              <a:defRPr/>
            </a:lvl1pPr>
          </a:lstStyle>
          <a:p>
            <a:fld id="{94F00DB8-8E87-413F-AAA5-F9EAD1BC5C16}" type="slidenum">
              <a:rPr lang="en-US" altLang="en-US"/>
              <a:pPr/>
              <a:t>‹#›</a:t>
            </a:fld>
            <a:endParaRPr lang="en-US" altLang="en-US"/>
          </a:p>
        </p:txBody>
      </p:sp>
    </p:spTree>
    <p:extLst>
      <p:ext uri="{BB962C8B-B14F-4D97-AF65-F5344CB8AC3E}">
        <p14:creationId xmlns:p14="http://schemas.microsoft.com/office/powerpoint/2010/main" val="313794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84B6F-3C91-7BAE-4DB0-136916F90032}"/>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ABA7B5F6-57F5-1FB5-F48D-027521AA821D}"/>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563FF8CA-84A5-B429-5A95-79CEA21717E7}"/>
              </a:ext>
            </a:extLst>
          </p:cNvPr>
          <p:cNvSpPr>
            <a:spLocks noGrp="1"/>
          </p:cNvSpPr>
          <p:nvPr>
            <p:ph type="dt" sz="half" idx="10"/>
          </p:nvPr>
        </p:nvSpPr>
        <p:spPr/>
        <p:txBody>
          <a:bodyPr/>
          <a:lstStyle>
            <a:lvl1pPr>
              <a:defRPr/>
            </a:lvl1pPr>
          </a:lstStyle>
          <a:p>
            <a:pPr>
              <a:defRPr/>
            </a:pPr>
            <a:fld id="{F4CEDA55-ABA9-464A-8387-8724F23F6417}" type="datetimeFigureOut">
              <a:rPr lang="en-US"/>
              <a:pPr>
                <a:defRPr/>
              </a:pPr>
              <a:t>12/29/2025</a:t>
            </a:fld>
            <a:endParaRPr lang="en-US"/>
          </a:p>
        </p:txBody>
      </p:sp>
      <p:sp>
        <p:nvSpPr>
          <p:cNvPr id="7" name="Footer Placeholder 5">
            <a:extLst>
              <a:ext uri="{FF2B5EF4-FFF2-40B4-BE49-F238E27FC236}">
                <a16:creationId xmlns:a16="http://schemas.microsoft.com/office/drawing/2014/main" id="{E648D336-C6A8-D9EB-484D-5102B9F6F8CD}"/>
              </a:ext>
            </a:extLst>
          </p:cNvPr>
          <p:cNvSpPr>
            <a:spLocks noGrp="1"/>
          </p:cNvSpPr>
          <p:nvPr>
            <p:ph type="ftr" sz="quarter" idx="11"/>
          </p:nvPr>
        </p:nvSpPr>
        <p:spPr/>
        <p:txBody>
          <a:bodyPr/>
          <a:lstStyle>
            <a:lvl1pPr>
              <a:defRPr/>
            </a:lvl1pPr>
          </a:lstStyle>
          <a:p>
            <a:pPr>
              <a:defRPr/>
            </a:pPr>
            <a:r>
              <a:rPr lang="en-US"/>
              <a:t>TCP/IP Protocol Suite</a:t>
            </a:r>
          </a:p>
        </p:txBody>
      </p:sp>
      <p:sp>
        <p:nvSpPr>
          <p:cNvPr id="8" name="Slide Number Placeholder 6">
            <a:extLst>
              <a:ext uri="{FF2B5EF4-FFF2-40B4-BE49-F238E27FC236}">
                <a16:creationId xmlns:a16="http://schemas.microsoft.com/office/drawing/2014/main" id="{43287ED4-E61C-A70A-0849-85220ED115BC}"/>
              </a:ext>
            </a:extLst>
          </p:cNvPr>
          <p:cNvSpPr>
            <a:spLocks noGrp="1"/>
          </p:cNvSpPr>
          <p:nvPr>
            <p:ph type="sldNum" sz="quarter" idx="12"/>
          </p:nvPr>
        </p:nvSpPr>
        <p:spPr/>
        <p:txBody>
          <a:bodyPr/>
          <a:lstStyle>
            <a:lvl1pPr>
              <a:defRPr/>
            </a:lvl1pPr>
          </a:lstStyle>
          <a:p>
            <a:fld id="{D99B69DD-A6A5-42E6-8843-3812D146F69C}" type="slidenum">
              <a:rPr lang="en-US" altLang="en-US"/>
              <a:pPr/>
              <a:t>‹#›</a:t>
            </a:fld>
            <a:endParaRPr lang="en-US" altLang="en-US"/>
          </a:p>
        </p:txBody>
      </p:sp>
    </p:spTree>
    <p:extLst>
      <p:ext uri="{BB962C8B-B14F-4D97-AF65-F5344CB8AC3E}">
        <p14:creationId xmlns:p14="http://schemas.microsoft.com/office/powerpoint/2010/main" val="2857900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DE5225-1561-1988-7A66-F51E19E1F73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671D0161-346A-4B6B-F9AE-F2FE87E3C9E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F0A5D5C0-48EB-44AF-27A6-8707A026FF7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F2E16A14-60CD-BB3A-8A73-E8ECBC28B073}"/>
              </a:ext>
            </a:extLst>
          </p:cNvPr>
          <p:cNvSpPr>
            <a:spLocks noGrp="1"/>
          </p:cNvSpPr>
          <p:nvPr>
            <p:ph type="dt" sz="half" idx="10"/>
          </p:nvPr>
        </p:nvSpPr>
        <p:spPr/>
        <p:txBody>
          <a:bodyPr/>
          <a:lstStyle>
            <a:lvl1pPr>
              <a:defRPr/>
            </a:lvl1pPr>
          </a:lstStyle>
          <a:p>
            <a:pPr>
              <a:defRPr/>
            </a:pPr>
            <a:fld id="{E50AAA61-FE9A-413E-9249-67054AC425DF}" type="datetimeFigureOut">
              <a:rPr lang="en-US"/>
              <a:pPr>
                <a:defRPr/>
              </a:pPr>
              <a:t>12/29/2025</a:t>
            </a:fld>
            <a:endParaRPr lang="en-US"/>
          </a:p>
        </p:txBody>
      </p:sp>
      <p:sp>
        <p:nvSpPr>
          <p:cNvPr id="9" name="Footer Placeholder 5">
            <a:extLst>
              <a:ext uri="{FF2B5EF4-FFF2-40B4-BE49-F238E27FC236}">
                <a16:creationId xmlns:a16="http://schemas.microsoft.com/office/drawing/2014/main" id="{E37A3892-1614-1D11-F834-3C112B9C79E0}"/>
              </a:ext>
            </a:extLst>
          </p:cNvPr>
          <p:cNvSpPr>
            <a:spLocks noGrp="1"/>
          </p:cNvSpPr>
          <p:nvPr>
            <p:ph type="ftr" sz="quarter" idx="11"/>
          </p:nvPr>
        </p:nvSpPr>
        <p:spPr>
          <a:xfrm>
            <a:off x="914400" y="6172200"/>
            <a:ext cx="3886200" cy="457200"/>
          </a:xfrm>
        </p:spPr>
        <p:txBody>
          <a:bodyPr/>
          <a:lstStyle>
            <a:lvl1pPr>
              <a:defRPr/>
            </a:lvl1pPr>
          </a:lstStyle>
          <a:p>
            <a:pPr>
              <a:defRPr/>
            </a:pPr>
            <a:r>
              <a:rPr lang="en-US"/>
              <a:t>TCP/IP Protocol Suite</a:t>
            </a:r>
          </a:p>
        </p:txBody>
      </p:sp>
      <p:sp>
        <p:nvSpPr>
          <p:cNvPr id="10" name="Slide Number Placeholder 6">
            <a:extLst>
              <a:ext uri="{FF2B5EF4-FFF2-40B4-BE49-F238E27FC236}">
                <a16:creationId xmlns:a16="http://schemas.microsoft.com/office/drawing/2014/main" id="{D88454A4-D41B-A7D0-4267-5558EB99266E}"/>
              </a:ext>
            </a:extLst>
          </p:cNvPr>
          <p:cNvSpPr>
            <a:spLocks noGrp="1"/>
          </p:cNvSpPr>
          <p:nvPr>
            <p:ph type="sldNum" sz="quarter" idx="12"/>
          </p:nvPr>
        </p:nvSpPr>
        <p:spPr>
          <a:xfrm>
            <a:off x="146050" y="6208713"/>
            <a:ext cx="457200" cy="457200"/>
          </a:xfrm>
        </p:spPr>
        <p:txBody>
          <a:bodyPr/>
          <a:lstStyle>
            <a:lvl1pPr>
              <a:defRPr/>
            </a:lvl1pPr>
          </a:lstStyle>
          <a:p>
            <a:fld id="{D69DD4E0-7E75-4AC1-AB7B-F0F7AE12DE30}" type="slidenum">
              <a:rPr lang="en-US" altLang="en-US"/>
              <a:pPr/>
              <a:t>‹#›</a:t>
            </a:fld>
            <a:endParaRPr lang="en-US" altLang="en-US"/>
          </a:p>
        </p:txBody>
      </p:sp>
    </p:spTree>
    <p:extLst>
      <p:ext uri="{BB962C8B-B14F-4D97-AF65-F5344CB8AC3E}">
        <p14:creationId xmlns:p14="http://schemas.microsoft.com/office/powerpoint/2010/main" val="3963451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B0E866B-9C86-EC70-E605-E8164DB91FDD}"/>
              </a:ext>
            </a:extLst>
          </p:cNvPr>
          <p:cNvSpPr>
            <a:spLocks noGrp="1"/>
          </p:cNvSpPr>
          <p:nvPr>
            <p:ph type="dt" sz="half" idx="10"/>
          </p:nvPr>
        </p:nvSpPr>
        <p:spPr/>
        <p:txBody>
          <a:bodyPr/>
          <a:lstStyle>
            <a:lvl1pPr>
              <a:defRPr/>
            </a:lvl1pPr>
          </a:lstStyle>
          <a:p>
            <a:pPr>
              <a:defRPr/>
            </a:pPr>
            <a:fld id="{E52F803A-8F31-44D6-98EF-84CF482FC3D5}" type="datetimeFigureOut">
              <a:rPr lang="en-US"/>
              <a:pPr>
                <a:defRPr/>
              </a:pPr>
              <a:t>12/29/2025</a:t>
            </a:fld>
            <a:endParaRPr lang="en-US" dirty="0"/>
          </a:p>
        </p:txBody>
      </p:sp>
      <p:sp>
        <p:nvSpPr>
          <p:cNvPr id="5" name="Footer Placeholder 2">
            <a:extLst>
              <a:ext uri="{FF2B5EF4-FFF2-40B4-BE49-F238E27FC236}">
                <a16:creationId xmlns:a16="http://schemas.microsoft.com/office/drawing/2014/main" id="{F9001B95-8D67-B9D1-0B6C-8BF96F20B4CE}"/>
              </a:ext>
            </a:extLst>
          </p:cNvPr>
          <p:cNvSpPr>
            <a:spLocks noGrp="1"/>
          </p:cNvSpPr>
          <p:nvPr>
            <p:ph type="ftr" sz="quarter" idx="11"/>
          </p:nvPr>
        </p:nvSpPr>
        <p:spPr/>
        <p:txBody>
          <a:bodyPr/>
          <a:lstStyle>
            <a:lvl1pPr>
              <a:defRPr/>
            </a:lvl1pPr>
          </a:lstStyle>
          <a:p>
            <a:pPr>
              <a:defRPr/>
            </a:pPr>
            <a:r>
              <a:rPr lang="en-US"/>
              <a:t>TCP/IP Protocol Suite</a:t>
            </a:r>
          </a:p>
        </p:txBody>
      </p:sp>
      <p:sp>
        <p:nvSpPr>
          <p:cNvPr id="6" name="Slide Number Placeholder 22">
            <a:extLst>
              <a:ext uri="{FF2B5EF4-FFF2-40B4-BE49-F238E27FC236}">
                <a16:creationId xmlns:a16="http://schemas.microsoft.com/office/drawing/2014/main" id="{ECF8359F-CD57-E488-3CD6-80FF6C7ED67F}"/>
              </a:ext>
            </a:extLst>
          </p:cNvPr>
          <p:cNvSpPr>
            <a:spLocks noGrp="1"/>
          </p:cNvSpPr>
          <p:nvPr>
            <p:ph type="sldNum" sz="quarter" idx="12"/>
          </p:nvPr>
        </p:nvSpPr>
        <p:spPr/>
        <p:txBody>
          <a:bodyPr/>
          <a:lstStyle>
            <a:lvl1pPr>
              <a:defRPr/>
            </a:lvl1pPr>
          </a:lstStyle>
          <a:p>
            <a:fld id="{5178DEE8-9137-4102-A5A2-AB45B496A457}" type="slidenum">
              <a:rPr lang="en-US" altLang="en-US"/>
              <a:pPr/>
              <a:t>‹#›</a:t>
            </a:fld>
            <a:endParaRPr lang="en-US" altLang="en-US"/>
          </a:p>
        </p:txBody>
      </p:sp>
    </p:spTree>
    <p:extLst>
      <p:ext uri="{BB962C8B-B14F-4D97-AF65-F5344CB8AC3E}">
        <p14:creationId xmlns:p14="http://schemas.microsoft.com/office/powerpoint/2010/main" val="369050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C9E5ABD8-DD6F-CDE5-7C89-6DFB082ADE93}"/>
              </a:ext>
            </a:extLst>
          </p:cNvPr>
          <p:cNvSpPr>
            <a:spLocks noGrp="1"/>
          </p:cNvSpPr>
          <p:nvPr>
            <p:ph type="dt" sz="half" idx="10"/>
          </p:nvPr>
        </p:nvSpPr>
        <p:spPr/>
        <p:txBody>
          <a:bodyPr/>
          <a:lstStyle>
            <a:lvl1pPr>
              <a:defRPr/>
            </a:lvl1pPr>
          </a:lstStyle>
          <a:p>
            <a:pPr>
              <a:defRPr/>
            </a:pPr>
            <a:fld id="{02023200-E501-4C7B-9F4E-D79E1F646031}" type="datetimeFigureOut">
              <a:rPr lang="en-US"/>
              <a:pPr>
                <a:defRPr/>
              </a:pPr>
              <a:t>12/29/2025</a:t>
            </a:fld>
            <a:endParaRPr lang="en-US" dirty="0"/>
          </a:p>
        </p:txBody>
      </p:sp>
      <p:sp>
        <p:nvSpPr>
          <p:cNvPr id="5" name="Footer Placeholder 2">
            <a:extLst>
              <a:ext uri="{FF2B5EF4-FFF2-40B4-BE49-F238E27FC236}">
                <a16:creationId xmlns:a16="http://schemas.microsoft.com/office/drawing/2014/main" id="{1B8CD5BE-E949-EB1E-DD18-79FE0CE9BCEE}"/>
              </a:ext>
            </a:extLst>
          </p:cNvPr>
          <p:cNvSpPr>
            <a:spLocks noGrp="1"/>
          </p:cNvSpPr>
          <p:nvPr>
            <p:ph type="ftr" sz="quarter" idx="11"/>
          </p:nvPr>
        </p:nvSpPr>
        <p:spPr/>
        <p:txBody>
          <a:bodyPr/>
          <a:lstStyle>
            <a:lvl1pPr>
              <a:defRPr/>
            </a:lvl1pPr>
          </a:lstStyle>
          <a:p>
            <a:pPr>
              <a:defRPr/>
            </a:pPr>
            <a:r>
              <a:rPr lang="en-US"/>
              <a:t>TCP/IP Protocol Suite</a:t>
            </a:r>
          </a:p>
        </p:txBody>
      </p:sp>
      <p:sp>
        <p:nvSpPr>
          <p:cNvPr id="6" name="Slide Number Placeholder 22">
            <a:extLst>
              <a:ext uri="{FF2B5EF4-FFF2-40B4-BE49-F238E27FC236}">
                <a16:creationId xmlns:a16="http://schemas.microsoft.com/office/drawing/2014/main" id="{72394033-FC40-DC32-3039-FD9694B626FC}"/>
              </a:ext>
            </a:extLst>
          </p:cNvPr>
          <p:cNvSpPr>
            <a:spLocks noGrp="1"/>
          </p:cNvSpPr>
          <p:nvPr>
            <p:ph type="sldNum" sz="quarter" idx="12"/>
          </p:nvPr>
        </p:nvSpPr>
        <p:spPr/>
        <p:txBody>
          <a:bodyPr/>
          <a:lstStyle>
            <a:lvl1pPr>
              <a:defRPr/>
            </a:lvl1pPr>
          </a:lstStyle>
          <a:p>
            <a:fld id="{A0A09566-8DF9-41AC-81AE-E846E84AC6F8}" type="slidenum">
              <a:rPr lang="en-US" altLang="en-US"/>
              <a:pPr/>
              <a:t>‹#›</a:t>
            </a:fld>
            <a:endParaRPr lang="en-US" altLang="en-US"/>
          </a:p>
        </p:txBody>
      </p:sp>
    </p:spTree>
    <p:extLst>
      <p:ext uri="{BB962C8B-B14F-4D97-AF65-F5344CB8AC3E}">
        <p14:creationId xmlns:p14="http://schemas.microsoft.com/office/powerpoint/2010/main" val="40986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20EDE9-9914-76F1-0ADD-2CADF53272B2}"/>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B7BFAC4E-5827-C2E4-7F20-4EDAD0205454}"/>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a:extLst>
              <a:ext uri="{FF2B5EF4-FFF2-40B4-BE49-F238E27FC236}">
                <a16:creationId xmlns:a16="http://schemas.microsoft.com/office/drawing/2014/main" id="{1F81962E-7116-D3D1-55CC-FA941820A71B}"/>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a:extLst>
              <a:ext uri="{FF2B5EF4-FFF2-40B4-BE49-F238E27FC236}">
                <a16:creationId xmlns:a16="http://schemas.microsoft.com/office/drawing/2014/main" id="{0684C8A3-DF55-9B6C-15F1-77A4981B5CEC}"/>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96C83AEE-8647-9CA7-EB74-EF386A190BEA}"/>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fld id="{997697D4-2D46-4BB4-9868-D745F9E5DF56}" type="datetimeFigureOut">
              <a:rPr lang="en-US"/>
              <a:pPr>
                <a:defRPr/>
              </a:pPr>
              <a:t>12/29/2025</a:t>
            </a:fld>
            <a:endParaRPr lang="en-US" dirty="0"/>
          </a:p>
        </p:txBody>
      </p:sp>
      <p:sp>
        <p:nvSpPr>
          <p:cNvPr id="3" name="Footer Placeholder 2">
            <a:extLst>
              <a:ext uri="{FF2B5EF4-FFF2-40B4-BE49-F238E27FC236}">
                <a16:creationId xmlns:a16="http://schemas.microsoft.com/office/drawing/2014/main" id="{32DC0AFA-5732-D520-A59F-409DB875C194}"/>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r>
              <a:rPr lang="en-US"/>
              <a:t>TCP/IP Protocol Suite</a:t>
            </a:r>
          </a:p>
        </p:txBody>
      </p:sp>
      <p:sp>
        <p:nvSpPr>
          <p:cNvPr id="23" name="Slide Number Placeholder 22">
            <a:extLst>
              <a:ext uri="{FF2B5EF4-FFF2-40B4-BE49-F238E27FC236}">
                <a16:creationId xmlns:a16="http://schemas.microsoft.com/office/drawing/2014/main" id="{6995BC6B-C707-EFB6-4F6C-91DB56F974BA}"/>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C6DBA736-7D0E-477E-A545-E4020AF08EF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4" r:id="rId1"/>
    <p:sldLayoutId id="2147483707" r:id="rId2"/>
    <p:sldLayoutId id="2147483715" r:id="rId3"/>
    <p:sldLayoutId id="2147483708" r:id="rId4"/>
    <p:sldLayoutId id="2147483709" r:id="rId5"/>
    <p:sldLayoutId id="2147483710" r:id="rId6"/>
    <p:sldLayoutId id="2147483711" r:id="rId7"/>
    <p:sldLayoutId id="2147483716" r:id="rId8"/>
    <p:sldLayoutId id="2147483717" r:id="rId9"/>
    <p:sldLayoutId id="2147483712" r:id="rId10"/>
    <p:sldLayoutId id="2147483713"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2">
            <a:extLst>
              <a:ext uri="{FF2B5EF4-FFF2-40B4-BE49-F238E27FC236}">
                <a16:creationId xmlns:a16="http://schemas.microsoft.com/office/drawing/2014/main" id="{0F5EEC81-5CB6-122A-2991-14F777D08CEE}"/>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7C9C21A-EE01-4B99-9C3C-BECC86885F16}" type="slidenum">
              <a:rPr lang="en-US" altLang="en-US">
                <a:solidFill>
                  <a:srgbClr val="FFFFFF"/>
                </a:solidFill>
                <a:latin typeface="Franklin Gothic Book" panose="020B0503020102020204" pitchFamily="34" charset="0"/>
              </a:rPr>
              <a:pPr/>
              <a:t>1</a:t>
            </a:fld>
            <a:endParaRPr lang="en-US" altLang="en-US">
              <a:solidFill>
                <a:srgbClr val="FFFFFF"/>
              </a:solidFill>
              <a:latin typeface="Franklin Gothic Book" panose="020B0503020102020204" pitchFamily="34" charset="0"/>
            </a:endParaRPr>
          </a:p>
        </p:txBody>
      </p:sp>
      <p:sp>
        <p:nvSpPr>
          <p:cNvPr id="7171" name="Line 2">
            <a:extLst>
              <a:ext uri="{FF2B5EF4-FFF2-40B4-BE49-F238E27FC236}">
                <a16:creationId xmlns:a16="http://schemas.microsoft.com/office/drawing/2014/main" id="{F0AF02B1-C003-6AFA-4BAC-1CF9F4C7BCD1}"/>
              </a:ext>
            </a:extLst>
          </p:cNvPr>
          <p:cNvSpPr>
            <a:spLocks noChangeShapeType="1"/>
          </p:cNvSpPr>
          <p:nvPr/>
        </p:nvSpPr>
        <p:spPr bwMode="auto">
          <a:xfrm>
            <a:off x="228600" y="2743200"/>
            <a:ext cx="8610600" cy="0"/>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 name="Rectangle 4">
            <a:extLst>
              <a:ext uri="{FF2B5EF4-FFF2-40B4-BE49-F238E27FC236}">
                <a16:creationId xmlns:a16="http://schemas.microsoft.com/office/drawing/2014/main" id="{E447024E-2FC7-8502-205B-FD4AF43CD5BC}"/>
              </a:ext>
            </a:extLst>
          </p:cNvPr>
          <p:cNvSpPr>
            <a:spLocks noChangeArrowheads="1"/>
          </p:cNvSpPr>
          <p:nvPr/>
        </p:nvSpPr>
        <p:spPr bwMode="auto">
          <a:xfrm>
            <a:off x="228600" y="3352800"/>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hlink"/>
                </a:solidFill>
                <a:latin typeface="Times New Roman" panose="02020603050405020304" pitchFamily="18" charset="0"/>
              </a:rPr>
              <a:t>Upon completion you will be able to:</a:t>
            </a:r>
            <a:endParaRPr lang="en-US" altLang="en-US" sz="2400">
              <a:solidFill>
                <a:schemeClr val="hlink"/>
              </a:solidFill>
              <a:latin typeface="Times New Roman" panose="02020603050405020304" pitchFamily="18" charset="0"/>
            </a:endParaRPr>
          </a:p>
        </p:txBody>
      </p:sp>
      <p:sp>
        <p:nvSpPr>
          <p:cNvPr id="510981" name="Text Box 5">
            <a:extLst>
              <a:ext uri="{FF2B5EF4-FFF2-40B4-BE49-F238E27FC236}">
                <a16:creationId xmlns:a16="http://schemas.microsoft.com/office/drawing/2014/main" id="{410293C3-9502-4592-6D24-A730BB244CE4}"/>
              </a:ext>
            </a:extLst>
          </p:cNvPr>
          <p:cNvSpPr txBox="1">
            <a:spLocks noChangeArrowheads="1"/>
          </p:cNvSpPr>
          <p:nvPr/>
        </p:nvSpPr>
        <p:spPr bwMode="auto">
          <a:xfrm>
            <a:off x="1524000" y="914400"/>
            <a:ext cx="6265863" cy="1555750"/>
          </a:xfrm>
          <a:prstGeom prst="rect">
            <a:avLst/>
          </a:prstGeom>
          <a:noFill/>
          <a:ln w="9525">
            <a:noFill/>
            <a:miter lim="800000"/>
            <a:headEnd/>
            <a:tailEnd/>
          </a:ln>
          <a:effectLst/>
        </p:spPr>
        <p:txBody>
          <a:bodyPr wrap="none">
            <a:spAutoFit/>
          </a:bodyPr>
          <a:lstStyle/>
          <a:p>
            <a:pPr algn="ctr">
              <a:defRPr/>
            </a:pPr>
            <a:r>
              <a:rPr lang="en-US" sz="4800" i="1">
                <a:effectLst>
                  <a:outerShdw blurRad="38100" dist="38100" dir="2700000" algn="tl">
                    <a:srgbClr val="C0C0C0"/>
                  </a:outerShdw>
                </a:effectLst>
                <a:latin typeface="Times New Roman" pitchFamily="18" charset="0"/>
              </a:rPr>
              <a:t>Electronic Mail:</a:t>
            </a:r>
          </a:p>
          <a:p>
            <a:pPr algn="ctr">
              <a:defRPr/>
            </a:pPr>
            <a:r>
              <a:rPr lang="en-US" sz="4800" i="1">
                <a:effectLst>
                  <a:outerShdw blurRad="38100" dist="38100" dir="2700000" algn="tl">
                    <a:srgbClr val="C0C0C0"/>
                  </a:outerShdw>
                </a:effectLst>
                <a:latin typeface="Times New Roman" pitchFamily="18" charset="0"/>
              </a:rPr>
              <a:t>SMTP, POP, and IMAP</a:t>
            </a:r>
          </a:p>
        </p:txBody>
      </p:sp>
      <p:sp>
        <p:nvSpPr>
          <p:cNvPr id="7174" name="Text Box 6">
            <a:extLst>
              <a:ext uri="{FF2B5EF4-FFF2-40B4-BE49-F238E27FC236}">
                <a16:creationId xmlns:a16="http://schemas.microsoft.com/office/drawing/2014/main" id="{1EFDFF0E-FCDF-EEE2-C4DB-79F2D1B4615A}"/>
              </a:ext>
            </a:extLst>
          </p:cNvPr>
          <p:cNvSpPr txBox="1">
            <a:spLocks noChangeArrowheads="1"/>
          </p:cNvSpPr>
          <p:nvPr/>
        </p:nvSpPr>
        <p:spPr bwMode="auto">
          <a:xfrm>
            <a:off x="80391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7175" name="Rectangle 8">
            <a:extLst>
              <a:ext uri="{FF2B5EF4-FFF2-40B4-BE49-F238E27FC236}">
                <a16:creationId xmlns:a16="http://schemas.microsoft.com/office/drawing/2014/main" id="{6634A8F2-943E-076F-3077-A7689939C55A}"/>
              </a:ext>
            </a:extLst>
          </p:cNvPr>
          <p:cNvSpPr>
            <a:spLocks noChangeArrowheads="1"/>
          </p:cNvSpPr>
          <p:nvPr/>
        </p:nvSpPr>
        <p:spPr bwMode="auto">
          <a:xfrm>
            <a:off x="228600" y="4025900"/>
            <a:ext cx="85344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Tx/>
              <a:buChar char="•"/>
            </a:pPr>
            <a:r>
              <a:rPr lang="en-US" altLang="en-US" sz="2400" i="1">
                <a:latin typeface="Times New Roman" panose="02020603050405020304" pitchFamily="18" charset="0"/>
              </a:rPr>
              <a:t> Understand four configurations of email architecture</a:t>
            </a:r>
          </a:p>
          <a:p>
            <a:pPr>
              <a:buFontTx/>
              <a:buChar char="•"/>
            </a:pPr>
            <a:r>
              <a:rPr lang="en-US" altLang="en-US" sz="2400" i="1">
                <a:latin typeface="Times New Roman" panose="02020603050405020304" pitchFamily="18" charset="0"/>
              </a:rPr>
              <a:t> Understand the functions and formats of a user agent</a:t>
            </a:r>
          </a:p>
          <a:p>
            <a:pPr>
              <a:buFontTx/>
              <a:buChar char="•"/>
            </a:pPr>
            <a:r>
              <a:rPr lang="en-US" altLang="en-US" sz="2400" i="1">
                <a:latin typeface="Times New Roman" panose="02020603050405020304" pitchFamily="18" charset="0"/>
              </a:rPr>
              <a:t> Understand MIME and its capabilities and data types</a:t>
            </a:r>
          </a:p>
          <a:p>
            <a:pPr>
              <a:buFontTx/>
              <a:buChar char="•"/>
            </a:pPr>
            <a:r>
              <a:rPr lang="en-US" altLang="en-US" sz="2400" i="1">
                <a:latin typeface="Times New Roman" panose="02020603050405020304" pitchFamily="18" charset="0"/>
              </a:rPr>
              <a:t> Understand the functions and commands of an  MTA</a:t>
            </a:r>
          </a:p>
          <a:p>
            <a:pPr>
              <a:buFontTx/>
              <a:buChar char="•"/>
            </a:pPr>
            <a:r>
              <a:rPr lang="en-US" altLang="en-US" sz="2400" i="1">
                <a:latin typeface="Times New Roman" panose="02020603050405020304" pitchFamily="18" charset="0"/>
              </a:rPr>
              <a:t> Understand the function of POP3 and IMAP4</a:t>
            </a:r>
          </a:p>
        </p:txBody>
      </p:sp>
      <p:sp>
        <p:nvSpPr>
          <p:cNvPr id="7176" name="Rectangle 9">
            <a:extLst>
              <a:ext uri="{FF2B5EF4-FFF2-40B4-BE49-F238E27FC236}">
                <a16:creationId xmlns:a16="http://schemas.microsoft.com/office/drawing/2014/main" id="{6A7B4972-33D1-2929-4D56-0E92192FD443}"/>
              </a:ext>
            </a:extLst>
          </p:cNvPr>
          <p:cNvSpPr>
            <a:spLocks noChangeArrowheads="1"/>
          </p:cNvSpPr>
          <p:nvPr/>
        </p:nvSpPr>
        <p:spPr bwMode="auto">
          <a:xfrm>
            <a:off x="228600" y="2741613"/>
            <a:ext cx="76962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hlink"/>
                </a:solidFill>
                <a:latin typeface="Times New Roman" panose="02020603050405020304" pitchFamily="18" charset="0"/>
              </a:rPr>
              <a:t>Objectives </a:t>
            </a:r>
            <a:br>
              <a:rPr lang="en-US" altLang="en-US" sz="2800">
                <a:solidFill>
                  <a:schemeClr val="hlink"/>
                </a:solidFill>
                <a:latin typeface="Times New Roman" panose="02020603050405020304" pitchFamily="18" charset="0"/>
              </a:rPr>
            </a:br>
            <a:endParaRPr lang="en-US" altLang="en-US" sz="2800">
              <a:latin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2">
            <a:extLst>
              <a:ext uri="{FF2B5EF4-FFF2-40B4-BE49-F238E27FC236}">
                <a16:creationId xmlns:a16="http://schemas.microsoft.com/office/drawing/2014/main" id="{C5A4498F-83DD-BCD9-E691-200D65BA54ED}"/>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167AFFD-45BD-4F84-A17E-40396211A248}" type="slidenum">
              <a:rPr lang="en-US" altLang="en-US">
                <a:solidFill>
                  <a:srgbClr val="FFFFFF"/>
                </a:solidFill>
                <a:latin typeface="Franklin Gothic Book" panose="020B0503020102020204" pitchFamily="34" charset="0"/>
              </a:rPr>
              <a:pPr/>
              <a:t>2</a:t>
            </a:fld>
            <a:endParaRPr lang="en-US" altLang="en-US">
              <a:solidFill>
                <a:srgbClr val="FFFFFF"/>
              </a:solidFill>
              <a:latin typeface="Franklin Gothic Book" panose="020B0503020102020204" pitchFamily="34" charset="0"/>
            </a:endParaRPr>
          </a:p>
        </p:txBody>
      </p:sp>
      <p:grpSp>
        <p:nvGrpSpPr>
          <p:cNvPr id="8195" name="Group 2">
            <a:extLst>
              <a:ext uri="{FF2B5EF4-FFF2-40B4-BE49-F238E27FC236}">
                <a16:creationId xmlns:a16="http://schemas.microsoft.com/office/drawing/2014/main" id="{F4F876A1-D84E-0202-538A-4DA261B14EFB}"/>
              </a:ext>
            </a:extLst>
          </p:cNvPr>
          <p:cNvGrpSpPr>
            <a:grpSpLocks/>
          </p:cNvGrpSpPr>
          <p:nvPr/>
        </p:nvGrpSpPr>
        <p:grpSpPr bwMode="auto">
          <a:xfrm>
            <a:off x="0" y="0"/>
            <a:ext cx="8686800" cy="6400800"/>
            <a:chOff x="0" y="96"/>
            <a:chExt cx="5472" cy="3840"/>
          </a:xfrm>
        </p:grpSpPr>
        <p:sp>
          <p:nvSpPr>
            <p:cNvPr id="8198" name="AutoShape 3">
              <a:extLst>
                <a:ext uri="{FF2B5EF4-FFF2-40B4-BE49-F238E27FC236}">
                  <a16:creationId xmlns:a16="http://schemas.microsoft.com/office/drawing/2014/main" id="{0C55A621-E9BA-BF3F-2C06-108E976FEA4D}"/>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8199" name="AutoShape 4">
              <a:extLst>
                <a:ext uri="{FF2B5EF4-FFF2-40B4-BE49-F238E27FC236}">
                  <a16:creationId xmlns:a16="http://schemas.microsoft.com/office/drawing/2014/main" id="{69EAA598-07F2-B534-CCBE-F755391441B2}"/>
                </a:ext>
              </a:extLst>
            </p:cNvPr>
            <p:cNvSpPr>
              <a:spLocks noChangeArrowheads="1"/>
            </p:cNvSpPr>
            <p:nvPr/>
          </p:nvSpPr>
          <p:spPr bwMode="blackWhite">
            <a:xfrm>
              <a:off x="0" y="96"/>
              <a:ext cx="5376" cy="768"/>
            </a:xfrm>
            <a:custGeom>
              <a:avLst/>
              <a:gdLst>
                <a:gd name="T0" fmla="*/ 0 w 7000"/>
                <a:gd name="T1" fmla="*/ 0 h 1000"/>
                <a:gd name="T2" fmla="*/ 3639 w 7000"/>
                <a:gd name="T3" fmla="*/ 0 h 1000"/>
                <a:gd name="T4" fmla="*/ 3934 w 7000"/>
                <a:gd name="T5" fmla="*/ 295 h 1000"/>
                <a:gd name="T6" fmla="*/ 3640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00" name="Line 5">
              <a:extLst>
                <a:ext uri="{FF2B5EF4-FFF2-40B4-BE49-F238E27FC236}">
                  <a16:creationId xmlns:a16="http://schemas.microsoft.com/office/drawing/2014/main" id="{C4EB0E92-2D4F-FDD3-D05E-130395244A06}"/>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96" name="Text Box 6">
            <a:extLst>
              <a:ext uri="{FF2B5EF4-FFF2-40B4-BE49-F238E27FC236}">
                <a16:creationId xmlns:a16="http://schemas.microsoft.com/office/drawing/2014/main" id="{04E9ACC9-6C9A-455E-BFEF-2A1A09B59094}"/>
              </a:ext>
            </a:extLst>
          </p:cNvPr>
          <p:cNvSpPr txBox="1">
            <a:spLocks noChangeArrowheads="1"/>
          </p:cNvSpPr>
          <p:nvPr/>
        </p:nvSpPr>
        <p:spPr bwMode="auto">
          <a:xfrm>
            <a:off x="228600" y="354013"/>
            <a:ext cx="40655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Arial" panose="020B0604020202020204" pitchFamily="34" charset="0"/>
              </a:rPr>
              <a:t>  ARCHITECTURE</a:t>
            </a:r>
          </a:p>
        </p:txBody>
      </p:sp>
      <p:sp>
        <p:nvSpPr>
          <p:cNvPr id="450568" name="Rectangle 8">
            <a:extLst>
              <a:ext uri="{FF2B5EF4-FFF2-40B4-BE49-F238E27FC236}">
                <a16:creationId xmlns:a16="http://schemas.microsoft.com/office/drawing/2014/main" id="{1F1E28D1-7EF9-4DBB-E703-99808C43D353}"/>
              </a:ext>
            </a:extLst>
          </p:cNvPr>
          <p:cNvSpPr>
            <a:spLocks noChangeArrowheads="1"/>
          </p:cNvSpPr>
          <p:nvPr/>
        </p:nvSpPr>
        <p:spPr bwMode="auto">
          <a:xfrm>
            <a:off x="533400" y="1371600"/>
            <a:ext cx="7848600" cy="4054475"/>
          </a:xfrm>
          <a:prstGeom prst="rect">
            <a:avLst/>
          </a:prstGeom>
          <a:noFill/>
          <a:ln w="9525">
            <a:noFill/>
            <a:miter lim="800000"/>
            <a:headEnd/>
            <a:tailEnd/>
          </a:ln>
          <a:effectLst/>
        </p:spPr>
        <p:txBody>
          <a:bodyPr>
            <a:spAutoFit/>
          </a:bodyPr>
          <a:lstStyle/>
          <a:p>
            <a:pPr algn="just">
              <a:defRPr/>
            </a:pPr>
            <a:r>
              <a:rPr lang="en-US" sz="2000" i="1">
                <a:effectLst>
                  <a:outerShdw blurRad="38100" dist="38100" dir="2700000" algn="tl">
                    <a:srgbClr val="C0C0C0"/>
                  </a:outerShdw>
                </a:effectLst>
                <a:latin typeface="Times New Roman" pitchFamily="18" charset="0"/>
              </a:rPr>
              <a:t>To explain the architecture of email, we give four scenarios. We begin with the simplest situation and add complexity as we proceed. The fourth scenario is the most common in the exchange of email.</a:t>
            </a:r>
          </a:p>
          <a:p>
            <a:pPr algn="just">
              <a:defRPr/>
            </a:pPr>
            <a:endParaRPr lang="en-US" sz="2000" i="1">
              <a:effectLst>
                <a:outerShdw blurRad="38100" dist="38100" dir="2700000" algn="tl">
                  <a:srgbClr val="C0C0C0"/>
                </a:outerShdw>
              </a:effectLst>
              <a:latin typeface="Times New Roman" pitchFamily="18" charset="0"/>
            </a:endParaRPr>
          </a:p>
          <a:p>
            <a:pPr algn="just">
              <a:defRPr/>
            </a:pPr>
            <a:endParaRPr lang="en-US" sz="2000" i="1">
              <a:effectLst>
                <a:outerShdw blurRad="38100" dist="38100" dir="2700000" algn="tl">
                  <a:srgbClr val="C0C0C0"/>
                </a:outerShdw>
              </a:effectLst>
              <a:latin typeface="Times New Roman" pitchFamily="18" charset="0"/>
            </a:endParaRPr>
          </a:p>
          <a:p>
            <a:pPr algn="just">
              <a:defRPr/>
            </a:pPr>
            <a:r>
              <a:rPr lang="en-US" sz="2000" i="1">
                <a:effectLst>
                  <a:outerShdw blurRad="38100" dist="38100" dir="2700000" algn="tl">
                    <a:srgbClr val="C0C0C0"/>
                  </a:outerShdw>
                </a:effectLst>
                <a:latin typeface="Times New Roman" pitchFamily="18" charset="0"/>
              </a:rPr>
              <a:t>User Agent - software program that composes, reads, replies to, and forwards messages.  It also handles mailboxes.</a:t>
            </a:r>
          </a:p>
          <a:p>
            <a:pPr algn="just">
              <a:defRPr/>
            </a:pPr>
            <a:endParaRPr lang="en-US" sz="2000" i="1">
              <a:effectLst>
                <a:outerShdw blurRad="38100" dist="38100" dir="2700000" algn="tl">
                  <a:srgbClr val="C0C0C0"/>
                </a:outerShdw>
              </a:effectLst>
              <a:latin typeface="Times New Roman" pitchFamily="18" charset="0"/>
            </a:endParaRPr>
          </a:p>
          <a:p>
            <a:pPr algn="just">
              <a:defRPr/>
            </a:pPr>
            <a:r>
              <a:rPr lang="en-US" sz="2000" i="1">
                <a:effectLst>
                  <a:outerShdw blurRad="38100" dist="38100" dir="2700000" algn="tl">
                    <a:srgbClr val="C0C0C0"/>
                  </a:outerShdw>
                </a:effectLst>
                <a:latin typeface="Times New Roman" pitchFamily="18" charset="0"/>
              </a:rPr>
              <a:t>Message Transfer Agent - the actual mail transfer is done through message transfer agents.  SMTP is an example of an MTA.</a:t>
            </a:r>
          </a:p>
          <a:p>
            <a:pPr algn="just">
              <a:defRPr/>
            </a:pPr>
            <a:endParaRPr lang="en-US" sz="2000" i="1">
              <a:effectLst>
                <a:outerShdw blurRad="38100" dist="38100" dir="2700000" algn="tl">
                  <a:srgbClr val="C0C0C0"/>
                </a:outerShdw>
              </a:effectLst>
              <a:latin typeface="Times New Roman" pitchFamily="18" charset="0"/>
            </a:endParaRPr>
          </a:p>
          <a:p>
            <a:pPr algn="just">
              <a:defRPr/>
            </a:pPr>
            <a:r>
              <a:rPr lang="en-US" sz="2000" i="1">
                <a:effectLst>
                  <a:outerShdw blurRad="38100" dist="38100" dir="2700000" algn="tl">
                    <a:srgbClr val="C0C0C0"/>
                  </a:outerShdw>
                </a:effectLst>
                <a:latin typeface="Times New Roman" pitchFamily="18" charset="0"/>
              </a:rPr>
              <a:t>Message Access Agent - the software that pulls messages out of a mailbox.  POP3 and IMAP4 are examples of MAAs.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2">
            <a:extLst>
              <a:ext uri="{FF2B5EF4-FFF2-40B4-BE49-F238E27FC236}">
                <a16:creationId xmlns:a16="http://schemas.microsoft.com/office/drawing/2014/main" id="{6B6CF150-9860-0640-0B90-DD0B3CCA8792}"/>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EAEDC30-E021-4F52-855E-029CC387F184}" type="slidenum">
              <a:rPr lang="en-US" altLang="en-US">
                <a:solidFill>
                  <a:srgbClr val="FFFFFF"/>
                </a:solidFill>
                <a:latin typeface="Franklin Gothic Book" panose="020B0503020102020204" pitchFamily="34" charset="0"/>
              </a:rPr>
              <a:pPr/>
              <a:t>3</a:t>
            </a:fld>
            <a:endParaRPr lang="en-US" altLang="en-US">
              <a:solidFill>
                <a:srgbClr val="FFFFFF"/>
              </a:solidFill>
              <a:latin typeface="Franklin Gothic Book" panose="020B0503020102020204" pitchFamily="34" charset="0"/>
            </a:endParaRPr>
          </a:p>
        </p:txBody>
      </p:sp>
      <p:sp>
        <p:nvSpPr>
          <p:cNvPr id="9219" name="Text Box 2">
            <a:extLst>
              <a:ext uri="{FF2B5EF4-FFF2-40B4-BE49-F238E27FC236}">
                <a16:creationId xmlns:a16="http://schemas.microsoft.com/office/drawing/2014/main" id="{915737CA-6300-2EE7-66C6-C6BE5192B801}"/>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First and second scenario</a:t>
            </a:r>
          </a:p>
        </p:txBody>
      </p:sp>
      <p:sp>
        <p:nvSpPr>
          <p:cNvPr id="9220" name="Rectangle 3">
            <a:extLst>
              <a:ext uri="{FF2B5EF4-FFF2-40B4-BE49-F238E27FC236}">
                <a16:creationId xmlns:a16="http://schemas.microsoft.com/office/drawing/2014/main" id="{C466F92A-F6A4-B1AB-CA23-991B78281E0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1" name="Rectangle 4">
            <a:extLst>
              <a:ext uri="{FF2B5EF4-FFF2-40B4-BE49-F238E27FC236}">
                <a16:creationId xmlns:a16="http://schemas.microsoft.com/office/drawing/2014/main" id="{8CED14B1-A4AF-D876-F8C4-A58C5FCB156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2" name="Rectangle 5">
            <a:extLst>
              <a:ext uri="{FF2B5EF4-FFF2-40B4-BE49-F238E27FC236}">
                <a16:creationId xmlns:a16="http://schemas.microsoft.com/office/drawing/2014/main" id="{FB648735-B2E6-8F7D-7780-A8C7F7903F3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3" name="Rectangle 6">
            <a:extLst>
              <a:ext uri="{FF2B5EF4-FFF2-40B4-BE49-F238E27FC236}">
                <a16:creationId xmlns:a16="http://schemas.microsoft.com/office/drawing/2014/main" id="{CF0F4D22-9332-B18A-2266-B89369CB35F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4" name="Rectangle 7">
            <a:extLst>
              <a:ext uri="{FF2B5EF4-FFF2-40B4-BE49-F238E27FC236}">
                <a16:creationId xmlns:a16="http://schemas.microsoft.com/office/drawing/2014/main" id="{6BB92E59-C3D0-8D71-433C-6243E5245E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5" name="Rectangle 8">
            <a:extLst>
              <a:ext uri="{FF2B5EF4-FFF2-40B4-BE49-F238E27FC236}">
                <a16:creationId xmlns:a16="http://schemas.microsoft.com/office/drawing/2014/main" id="{D2D2E301-FAFC-DEE1-12A6-9896D4E602C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26" name="Rectangle 9">
            <a:extLst>
              <a:ext uri="{FF2B5EF4-FFF2-40B4-BE49-F238E27FC236}">
                <a16:creationId xmlns:a16="http://schemas.microsoft.com/office/drawing/2014/main" id="{53B9ABB1-627A-9B66-E227-A24F2A09B71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9227" name="Picture 12">
            <a:extLst>
              <a:ext uri="{FF2B5EF4-FFF2-40B4-BE49-F238E27FC236}">
                <a16:creationId xmlns:a16="http://schemas.microsoft.com/office/drawing/2014/main" id="{45FF804F-4C99-DFF9-36DE-135757C0B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4606925"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13">
            <a:extLst>
              <a:ext uri="{FF2B5EF4-FFF2-40B4-BE49-F238E27FC236}">
                <a16:creationId xmlns:a16="http://schemas.microsoft.com/office/drawing/2014/main" id="{67EC1646-A588-3865-8320-CCCF53CE30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200400"/>
            <a:ext cx="8345488"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9" name="Text Box 14">
            <a:extLst>
              <a:ext uri="{FF2B5EF4-FFF2-40B4-BE49-F238E27FC236}">
                <a16:creationId xmlns:a16="http://schemas.microsoft.com/office/drawing/2014/main" id="{80D486B5-DA08-6992-8837-F70490206B8F}"/>
              </a:ext>
            </a:extLst>
          </p:cNvPr>
          <p:cNvSpPr txBox="1">
            <a:spLocks noChangeArrowheads="1"/>
          </p:cNvSpPr>
          <p:nvPr/>
        </p:nvSpPr>
        <p:spPr bwMode="auto">
          <a:xfrm>
            <a:off x="5699125" y="641350"/>
            <a:ext cx="3151188"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First scenario: sender and</a:t>
            </a:r>
          </a:p>
          <a:p>
            <a:r>
              <a:rPr lang="en-US" altLang="en-US"/>
              <a:t>receiver on same system</a:t>
            </a:r>
          </a:p>
          <a:p>
            <a:r>
              <a:rPr lang="en-US" altLang="en-US"/>
              <a:t>so need only two UAs.</a:t>
            </a:r>
          </a:p>
          <a:p>
            <a:endParaRPr lang="en-US" altLang="en-US"/>
          </a:p>
          <a:p>
            <a:endParaRPr lang="en-US" altLang="en-US"/>
          </a:p>
          <a:p>
            <a:endParaRPr lang="en-US" altLang="en-US"/>
          </a:p>
          <a:p>
            <a:r>
              <a:rPr lang="en-US" altLang="en-US"/>
              <a:t>Second scenario: sender</a:t>
            </a:r>
          </a:p>
          <a:p>
            <a:r>
              <a:rPr lang="en-US" altLang="en-US"/>
              <a:t>and receiver on different</a:t>
            </a:r>
          </a:p>
          <a:p>
            <a:r>
              <a:rPr lang="en-US" altLang="en-US"/>
              <a:t>systems so need two</a:t>
            </a:r>
          </a:p>
          <a:p>
            <a:r>
              <a:rPr lang="en-US" altLang="en-US"/>
              <a:t>UAs and pair of MTAs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2">
            <a:extLst>
              <a:ext uri="{FF2B5EF4-FFF2-40B4-BE49-F238E27FC236}">
                <a16:creationId xmlns:a16="http://schemas.microsoft.com/office/drawing/2014/main" id="{5B9D569A-C056-C85D-A226-51AAC64400E3}"/>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131E047-6F6D-4827-A3C9-34B62A09AC5F}" type="slidenum">
              <a:rPr lang="en-US" altLang="en-US">
                <a:solidFill>
                  <a:srgbClr val="FFFFFF"/>
                </a:solidFill>
                <a:latin typeface="Franklin Gothic Book" panose="020B0503020102020204" pitchFamily="34" charset="0"/>
              </a:rPr>
              <a:pPr/>
              <a:t>4</a:t>
            </a:fld>
            <a:endParaRPr lang="en-US" altLang="en-US">
              <a:solidFill>
                <a:srgbClr val="FFFFFF"/>
              </a:solidFill>
              <a:latin typeface="Franklin Gothic Book" panose="020B0503020102020204" pitchFamily="34" charset="0"/>
            </a:endParaRPr>
          </a:p>
        </p:txBody>
      </p:sp>
      <p:sp>
        <p:nvSpPr>
          <p:cNvPr id="10243" name="Text Box 2">
            <a:extLst>
              <a:ext uri="{FF2B5EF4-FFF2-40B4-BE49-F238E27FC236}">
                <a16:creationId xmlns:a16="http://schemas.microsoft.com/office/drawing/2014/main" id="{897F04DB-6FFF-494C-8063-F5989CADE0EE}"/>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Third scenario</a:t>
            </a:r>
          </a:p>
        </p:txBody>
      </p:sp>
      <p:sp>
        <p:nvSpPr>
          <p:cNvPr id="10244" name="Rectangle 3">
            <a:extLst>
              <a:ext uri="{FF2B5EF4-FFF2-40B4-BE49-F238E27FC236}">
                <a16:creationId xmlns:a16="http://schemas.microsoft.com/office/drawing/2014/main" id="{D02BABC8-053F-75A0-C72E-CAF8D1A2A48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5" name="Rectangle 4">
            <a:extLst>
              <a:ext uri="{FF2B5EF4-FFF2-40B4-BE49-F238E27FC236}">
                <a16:creationId xmlns:a16="http://schemas.microsoft.com/office/drawing/2014/main" id="{ECD6DD63-98F7-E659-4F3E-37BC12EFD64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6" name="Rectangle 5">
            <a:extLst>
              <a:ext uri="{FF2B5EF4-FFF2-40B4-BE49-F238E27FC236}">
                <a16:creationId xmlns:a16="http://schemas.microsoft.com/office/drawing/2014/main" id="{574382A9-BA9B-B98C-BCDB-988EC655027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7" name="Rectangle 6">
            <a:extLst>
              <a:ext uri="{FF2B5EF4-FFF2-40B4-BE49-F238E27FC236}">
                <a16:creationId xmlns:a16="http://schemas.microsoft.com/office/drawing/2014/main" id="{B9ABB191-900D-39B4-D0F0-5FD6CB9ABC0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8" name="Rectangle 7">
            <a:extLst>
              <a:ext uri="{FF2B5EF4-FFF2-40B4-BE49-F238E27FC236}">
                <a16:creationId xmlns:a16="http://schemas.microsoft.com/office/drawing/2014/main" id="{145CB8D8-0DBC-96AD-E027-56940EFCE45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9" name="Rectangle 8">
            <a:extLst>
              <a:ext uri="{FF2B5EF4-FFF2-40B4-BE49-F238E27FC236}">
                <a16:creationId xmlns:a16="http://schemas.microsoft.com/office/drawing/2014/main" id="{39C58C75-9E65-1D66-95C7-B1A85EC78D6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50" name="Rectangle 9">
            <a:extLst>
              <a:ext uri="{FF2B5EF4-FFF2-40B4-BE49-F238E27FC236}">
                <a16:creationId xmlns:a16="http://schemas.microsoft.com/office/drawing/2014/main" id="{7FEF7478-211F-B9A5-7492-7229199882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0251" name="Picture 10">
            <a:extLst>
              <a:ext uri="{FF2B5EF4-FFF2-40B4-BE49-F238E27FC236}">
                <a16:creationId xmlns:a16="http://schemas.microsoft.com/office/drawing/2014/main" id="{8703E29A-E8AA-7E49-2F8A-FBA0EEB07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990600"/>
            <a:ext cx="70485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2">
            <a:extLst>
              <a:ext uri="{FF2B5EF4-FFF2-40B4-BE49-F238E27FC236}">
                <a16:creationId xmlns:a16="http://schemas.microsoft.com/office/drawing/2014/main" id="{35D2C8BC-1B37-D6C3-F9B6-476C6A7B3255}"/>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23B7C00-B4DB-4122-8340-8F63D234F25B}" type="slidenum">
              <a:rPr lang="en-US" altLang="en-US">
                <a:solidFill>
                  <a:srgbClr val="FFFFFF"/>
                </a:solidFill>
                <a:latin typeface="Franklin Gothic Book" panose="020B0503020102020204" pitchFamily="34" charset="0"/>
              </a:rPr>
              <a:pPr/>
              <a:t>5</a:t>
            </a:fld>
            <a:endParaRPr lang="en-US" altLang="en-US">
              <a:solidFill>
                <a:srgbClr val="FFFFFF"/>
              </a:solidFill>
              <a:latin typeface="Franklin Gothic Book" panose="020B0503020102020204" pitchFamily="34" charset="0"/>
            </a:endParaRPr>
          </a:p>
        </p:txBody>
      </p:sp>
      <p:sp>
        <p:nvSpPr>
          <p:cNvPr id="11267" name="Text Box 2">
            <a:extLst>
              <a:ext uri="{FF2B5EF4-FFF2-40B4-BE49-F238E27FC236}">
                <a16:creationId xmlns:a16="http://schemas.microsoft.com/office/drawing/2014/main" id="{9F9D7E6E-7B44-76D0-67AD-4C30EC8622E1}"/>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Fourth scenario</a:t>
            </a:r>
          </a:p>
        </p:txBody>
      </p:sp>
      <p:sp>
        <p:nvSpPr>
          <p:cNvPr id="11268" name="Rectangle 3">
            <a:extLst>
              <a:ext uri="{FF2B5EF4-FFF2-40B4-BE49-F238E27FC236}">
                <a16:creationId xmlns:a16="http://schemas.microsoft.com/office/drawing/2014/main" id="{FA9563C7-D37B-BD37-9688-BE95E13E079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69" name="Rectangle 4">
            <a:extLst>
              <a:ext uri="{FF2B5EF4-FFF2-40B4-BE49-F238E27FC236}">
                <a16:creationId xmlns:a16="http://schemas.microsoft.com/office/drawing/2014/main" id="{EDE2B0CD-AC96-16A3-18BE-E9EB6740B65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70" name="Rectangle 5">
            <a:extLst>
              <a:ext uri="{FF2B5EF4-FFF2-40B4-BE49-F238E27FC236}">
                <a16:creationId xmlns:a16="http://schemas.microsoft.com/office/drawing/2014/main" id="{2B863B55-0980-9108-A1B1-E39F0F59BA7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71" name="Rectangle 6">
            <a:extLst>
              <a:ext uri="{FF2B5EF4-FFF2-40B4-BE49-F238E27FC236}">
                <a16:creationId xmlns:a16="http://schemas.microsoft.com/office/drawing/2014/main" id="{EB8F20E6-6B3F-B0C1-AC0D-07E712DB551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72" name="Rectangle 7">
            <a:extLst>
              <a:ext uri="{FF2B5EF4-FFF2-40B4-BE49-F238E27FC236}">
                <a16:creationId xmlns:a16="http://schemas.microsoft.com/office/drawing/2014/main" id="{8F134D94-05BD-B231-71FB-60990EE4FBD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73" name="Rectangle 8">
            <a:extLst>
              <a:ext uri="{FF2B5EF4-FFF2-40B4-BE49-F238E27FC236}">
                <a16:creationId xmlns:a16="http://schemas.microsoft.com/office/drawing/2014/main" id="{8458C312-553F-3F0E-F928-1CA07123075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1274" name="Rectangle 9">
            <a:extLst>
              <a:ext uri="{FF2B5EF4-FFF2-40B4-BE49-F238E27FC236}">
                <a16:creationId xmlns:a16="http://schemas.microsoft.com/office/drawing/2014/main" id="{36AFF441-831A-2F89-6A3F-1C66A33CAD3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1275" name="Picture 10">
            <a:extLst>
              <a:ext uri="{FF2B5EF4-FFF2-40B4-BE49-F238E27FC236}">
                <a16:creationId xmlns:a16="http://schemas.microsoft.com/office/drawing/2014/main" id="{83E7AA0C-2540-ABB9-BEEA-18C4D973A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19200"/>
            <a:ext cx="5862638"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6" name="Text Box 11">
            <a:extLst>
              <a:ext uri="{FF2B5EF4-FFF2-40B4-BE49-F238E27FC236}">
                <a16:creationId xmlns:a16="http://schemas.microsoft.com/office/drawing/2014/main" id="{E48268EF-8AEF-22DF-5CE4-F4EB4D7278A1}"/>
              </a:ext>
            </a:extLst>
          </p:cNvPr>
          <p:cNvSpPr txBox="1">
            <a:spLocks noChangeArrowheads="1"/>
          </p:cNvSpPr>
          <p:nvPr/>
        </p:nvSpPr>
        <p:spPr bwMode="auto">
          <a:xfrm>
            <a:off x="6232525" y="852488"/>
            <a:ext cx="2682875"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b="0">
                <a:latin typeface="Times New Roman" panose="02020603050405020304" pitchFamily="18" charset="0"/>
              </a:rPr>
              <a:t>When both sender and</a:t>
            </a:r>
          </a:p>
          <a:p>
            <a:r>
              <a:rPr lang="en-US" altLang="en-US" sz="2000" b="0">
                <a:latin typeface="Times New Roman" panose="02020603050405020304" pitchFamily="18" charset="0"/>
              </a:rPr>
              <a:t>receiver are connected</a:t>
            </a:r>
          </a:p>
          <a:p>
            <a:r>
              <a:rPr lang="en-US" altLang="en-US" sz="2000" b="0">
                <a:latin typeface="Times New Roman" panose="02020603050405020304" pitchFamily="18" charset="0"/>
              </a:rPr>
              <a:t>to the mail server via a</a:t>
            </a:r>
          </a:p>
          <a:p>
            <a:r>
              <a:rPr lang="en-US" altLang="en-US" sz="2000" b="0">
                <a:latin typeface="Times New Roman" panose="02020603050405020304" pitchFamily="18" charset="0"/>
              </a:rPr>
              <a:t>LAN or a WAN, we need</a:t>
            </a:r>
          </a:p>
          <a:p>
            <a:r>
              <a:rPr lang="en-US" altLang="en-US" sz="2000" b="0">
                <a:latin typeface="Times New Roman" panose="02020603050405020304" pitchFamily="18" charset="0"/>
              </a:rPr>
              <a:t>two UAs, two pairs of </a:t>
            </a:r>
          </a:p>
          <a:p>
            <a:r>
              <a:rPr lang="en-US" altLang="en-US" sz="2000" b="0">
                <a:latin typeface="Times New Roman" panose="02020603050405020304" pitchFamily="18" charset="0"/>
              </a:rPr>
              <a:t>MTAs (client and server),and a pair of MAAs (client and server). </a:t>
            </a:r>
          </a:p>
          <a:p>
            <a:r>
              <a:rPr lang="en-US" altLang="en-US" sz="2000" b="0">
                <a:solidFill>
                  <a:schemeClr val="hlink"/>
                </a:solidFill>
                <a:latin typeface="Times New Roman" panose="02020603050405020304" pitchFamily="18" charset="0"/>
              </a:rPr>
              <a:t>This is the most common </a:t>
            </a:r>
          </a:p>
          <a:p>
            <a:r>
              <a:rPr lang="en-US" altLang="en-US" sz="2000" b="0">
                <a:solidFill>
                  <a:schemeClr val="hlink"/>
                </a:solidFill>
                <a:latin typeface="Times New Roman" panose="02020603050405020304" pitchFamily="18" charset="0"/>
              </a:rPr>
              <a:t>situation today.</a:t>
            </a:r>
          </a:p>
          <a:p>
            <a:endParaRPr lang="en-US" altLang="en-US" sz="2000" b="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Slide Number Placeholder 2">
            <a:extLst>
              <a:ext uri="{FF2B5EF4-FFF2-40B4-BE49-F238E27FC236}">
                <a16:creationId xmlns:a16="http://schemas.microsoft.com/office/drawing/2014/main" id="{E822EF42-3670-C7C0-C145-8C81D631A008}"/>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5D81389-32E1-42E0-96F0-DF91B8742545}" type="slidenum">
              <a:rPr lang="en-US" altLang="en-US">
                <a:solidFill>
                  <a:srgbClr val="FFFFFF"/>
                </a:solidFill>
                <a:latin typeface="Franklin Gothic Book" panose="020B0503020102020204" pitchFamily="34" charset="0"/>
              </a:rPr>
              <a:pPr/>
              <a:t>6</a:t>
            </a:fld>
            <a:endParaRPr lang="en-US" altLang="en-US">
              <a:solidFill>
                <a:srgbClr val="FFFFFF"/>
              </a:solidFill>
              <a:latin typeface="Franklin Gothic Book" panose="020B0503020102020204" pitchFamily="34" charset="0"/>
            </a:endParaRPr>
          </a:p>
        </p:txBody>
      </p:sp>
      <p:grpSp>
        <p:nvGrpSpPr>
          <p:cNvPr id="12291" name="Group 2">
            <a:extLst>
              <a:ext uri="{FF2B5EF4-FFF2-40B4-BE49-F238E27FC236}">
                <a16:creationId xmlns:a16="http://schemas.microsoft.com/office/drawing/2014/main" id="{72FE1748-5641-A345-7B64-E2AB79EB0F5F}"/>
              </a:ext>
            </a:extLst>
          </p:cNvPr>
          <p:cNvGrpSpPr>
            <a:grpSpLocks/>
          </p:cNvGrpSpPr>
          <p:nvPr/>
        </p:nvGrpSpPr>
        <p:grpSpPr bwMode="auto">
          <a:xfrm>
            <a:off x="0" y="0"/>
            <a:ext cx="8686800" cy="6400800"/>
            <a:chOff x="0" y="96"/>
            <a:chExt cx="5472" cy="3840"/>
          </a:xfrm>
        </p:grpSpPr>
        <p:sp>
          <p:nvSpPr>
            <p:cNvPr id="12296" name="AutoShape 3">
              <a:extLst>
                <a:ext uri="{FF2B5EF4-FFF2-40B4-BE49-F238E27FC236}">
                  <a16:creationId xmlns:a16="http://schemas.microsoft.com/office/drawing/2014/main" id="{6C347D50-7FD5-CC63-4F6B-6AC9B6EE258C}"/>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12297" name="AutoShape 4">
              <a:extLst>
                <a:ext uri="{FF2B5EF4-FFF2-40B4-BE49-F238E27FC236}">
                  <a16:creationId xmlns:a16="http://schemas.microsoft.com/office/drawing/2014/main" id="{EDD8E0DC-81DD-9C2D-10E1-73C8FF147AF0}"/>
                </a:ext>
              </a:extLst>
            </p:cNvPr>
            <p:cNvSpPr>
              <a:spLocks noChangeArrowheads="1"/>
            </p:cNvSpPr>
            <p:nvPr/>
          </p:nvSpPr>
          <p:spPr bwMode="blackWhite">
            <a:xfrm>
              <a:off x="0" y="96"/>
              <a:ext cx="5376" cy="768"/>
            </a:xfrm>
            <a:custGeom>
              <a:avLst/>
              <a:gdLst>
                <a:gd name="T0" fmla="*/ 0 w 7000"/>
                <a:gd name="T1" fmla="*/ 0 h 1000"/>
                <a:gd name="T2" fmla="*/ 3639 w 7000"/>
                <a:gd name="T3" fmla="*/ 0 h 1000"/>
                <a:gd name="T4" fmla="*/ 3934 w 7000"/>
                <a:gd name="T5" fmla="*/ 295 h 1000"/>
                <a:gd name="T6" fmla="*/ 3640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298" name="Line 5">
              <a:extLst>
                <a:ext uri="{FF2B5EF4-FFF2-40B4-BE49-F238E27FC236}">
                  <a16:creationId xmlns:a16="http://schemas.microsoft.com/office/drawing/2014/main" id="{7AA57ED3-32AC-BBD6-8A28-FABFE114647E}"/>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292" name="Text Box 6">
            <a:extLst>
              <a:ext uri="{FF2B5EF4-FFF2-40B4-BE49-F238E27FC236}">
                <a16:creationId xmlns:a16="http://schemas.microsoft.com/office/drawing/2014/main" id="{18DADCEC-3C5F-8BE5-A766-102DEE777806}"/>
              </a:ext>
            </a:extLst>
          </p:cNvPr>
          <p:cNvSpPr txBox="1">
            <a:spLocks noChangeArrowheads="1"/>
          </p:cNvSpPr>
          <p:nvPr/>
        </p:nvSpPr>
        <p:spPr bwMode="auto">
          <a:xfrm>
            <a:off x="228600" y="354013"/>
            <a:ext cx="35782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Arial" panose="020B0604020202020204" pitchFamily="34" charset="0"/>
              </a:rPr>
              <a:t>   USER AGENT</a:t>
            </a:r>
          </a:p>
        </p:txBody>
      </p:sp>
      <p:sp>
        <p:nvSpPr>
          <p:cNvPr id="474119" name="Rectangle 7">
            <a:extLst>
              <a:ext uri="{FF2B5EF4-FFF2-40B4-BE49-F238E27FC236}">
                <a16:creationId xmlns:a16="http://schemas.microsoft.com/office/drawing/2014/main" id="{7E03E4EA-1ACD-0BD1-EFF5-8A01CE19DD8E}"/>
              </a:ext>
            </a:extLst>
          </p:cNvPr>
          <p:cNvSpPr>
            <a:spLocks noChangeArrowheads="1"/>
          </p:cNvSpPr>
          <p:nvPr/>
        </p:nvSpPr>
        <p:spPr bwMode="auto">
          <a:xfrm>
            <a:off x="533400" y="1371600"/>
            <a:ext cx="7848600" cy="701675"/>
          </a:xfrm>
          <a:prstGeom prst="rect">
            <a:avLst/>
          </a:prstGeom>
          <a:noFill/>
          <a:ln w="9525">
            <a:noFill/>
            <a:miter lim="800000"/>
            <a:headEnd/>
            <a:tailEnd/>
          </a:ln>
          <a:effectLst/>
        </p:spPr>
        <p:txBody>
          <a:bodyPr>
            <a:spAutoFit/>
          </a:bodyPr>
          <a:lstStyle/>
          <a:p>
            <a:pPr algn="just">
              <a:defRPr/>
            </a:pPr>
            <a:r>
              <a:rPr lang="en-US" sz="2000" i="1">
                <a:effectLst>
                  <a:outerShdw blurRad="38100" dist="38100" dir="2700000" algn="tl">
                    <a:srgbClr val="C0C0C0"/>
                  </a:outerShdw>
                </a:effectLst>
                <a:latin typeface="Times New Roman" pitchFamily="18" charset="0"/>
              </a:rPr>
              <a:t>The user agent (UA) provides service to the user to make the process of sending and receiving a message easier.</a:t>
            </a:r>
          </a:p>
        </p:txBody>
      </p:sp>
      <p:sp>
        <p:nvSpPr>
          <p:cNvPr id="474120" name="Rectangle 8">
            <a:extLst>
              <a:ext uri="{FF2B5EF4-FFF2-40B4-BE49-F238E27FC236}">
                <a16:creationId xmlns:a16="http://schemas.microsoft.com/office/drawing/2014/main" id="{5B6F5706-528B-B41E-2706-14A064ED37D1}"/>
              </a:ext>
            </a:extLst>
          </p:cNvPr>
          <p:cNvSpPr>
            <a:spLocks noChangeArrowheads="1"/>
          </p:cNvSpPr>
          <p:nvPr/>
        </p:nvSpPr>
        <p:spPr bwMode="auto">
          <a:xfrm>
            <a:off x="685800" y="3048000"/>
            <a:ext cx="7848600" cy="396875"/>
          </a:xfrm>
          <a:prstGeom prst="rect">
            <a:avLst/>
          </a:prstGeom>
          <a:noFill/>
          <a:ln w="9525">
            <a:noFill/>
            <a:miter lim="800000"/>
            <a:headEnd/>
            <a:tailEnd/>
          </a:ln>
          <a:effectLst/>
        </p:spPr>
        <p:txBody>
          <a:bodyPr>
            <a:spAutoFit/>
          </a:bodyPr>
          <a:lstStyle/>
          <a:p>
            <a:pPr>
              <a:defRPr/>
            </a:pPr>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4121" name="Rectangle 9">
            <a:extLst>
              <a:ext uri="{FF2B5EF4-FFF2-40B4-BE49-F238E27FC236}">
                <a16:creationId xmlns:a16="http://schemas.microsoft.com/office/drawing/2014/main" id="{1990AFDD-84DA-1E92-D944-9A8833ED1C9C}"/>
              </a:ext>
            </a:extLst>
          </p:cNvPr>
          <p:cNvSpPr>
            <a:spLocks noChangeArrowheads="1"/>
          </p:cNvSpPr>
          <p:nvPr/>
        </p:nvSpPr>
        <p:spPr bwMode="auto">
          <a:xfrm>
            <a:off x="685800" y="3581400"/>
            <a:ext cx="7315200" cy="2225675"/>
          </a:xfrm>
          <a:prstGeom prst="rect">
            <a:avLst/>
          </a:prstGeom>
          <a:noFill/>
          <a:ln w="76200">
            <a:noFill/>
            <a:miter lim="800000"/>
            <a:headEnd/>
            <a:tailEnd/>
          </a:ln>
          <a:effectLst/>
        </p:spPr>
        <p:txBody>
          <a:bodyPr>
            <a:spAutoFit/>
          </a:bodyPr>
          <a:lstStyle/>
          <a:p>
            <a:pPr>
              <a:defRPr/>
            </a:pPr>
            <a:r>
              <a:rPr lang="en-US" sz="2000" i="1">
                <a:effectLst>
                  <a:outerShdw blurRad="38100" dist="38100" dir="2700000" algn="tl">
                    <a:srgbClr val="C0C0C0"/>
                  </a:outerShdw>
                </a:effectLst>
                <a:latin typeface="Times New Roman" pitchFamily="18" charset="0"/>
              </a:rPr>
              <a:t>Services Provided by a User Agent </a:t>
            </a:r>
          </a:p>
          <a:p>
            <a:pPr>
              <a:defRPr/>
            </a:pPr>
            <a:r>
              <a:rPr lang="en-US" sz="2000" i="1">
                <a:effectLst>
                  <a:outerShdw blurRad="38100" dist="38100" dir="2700000" algn="tl">
                    <a:srgbClr val="C0C0C0"/>
                  </a:outerShdw>
                </a:effectLst>
                <a:latin typeface="Times New Roman" pitchFamily="18" charset="0"/>
              </a:rPr>
              <a:t>User Agent Types </a:t>
            </a:r>
          </a:p>
          <a:p>
            <a:pPr>
              <a:defRPr/>
            </a:pPr>
            <a:r>
              <a:rPr lang="en-US" sz="2000" i="1">
                <a:effectLst>
                  <a:outerShdw blurRad="38100" dist="38100" dir="2700000" algn="tl">
                    <a:srgbClr val="C0C0C0"/>
                  </a:outerShdw>
                </a:effectLst>
                <a:latin typeface="Times New Roman" pitchFamily="18" charset="0"/>
              </a:rPr>
              <a:t>Sending Mail </a:t>
            </a:r>
          </a:p>
          <a:p>
            <a:pPr>
              <a:defRPr/>
            </a:pPr>
            <a:r>
              <a:rPr lang="en-US" sz="2000" i="1">
                <a:effectLst>
                  <a:outerShdw blurRad="38100" dist="38100" dir="2700000" algn="tl">
                    <a:srgbClr val="C0C0C0"/>
                  </a:outerShdw>
                </a:effectLst>
                <a:latin typeface="Times New Roman" pitchFamily="18" charset="0"/>
              </a:rPr>
              <a:t>Receiving Mail </a:t>
            </a:r>
          </a:p>
          <a:p>
            <a:pPr>
              <a:defRPr/>
            </a:pPr>
            <a:r>
              <a:rPr lang="en-US" sz="2000" i="1">
                <a:effectLst>
                  <a:outerShdw blurRad="38100" dist="38100" dir="2700000" algn="tl">
                    <a:srgbClr val="C0C0C0"/>
                  </a:outerShdw>
                </a:effectLst>
                <a:latin typeface="Times New Roman" pitchFamily="18" charset="0"/>
              </a:rPr>
              <a:t>Addresses </a:t>
            </a:r>
          </a:p>
          <a:p>
            <a:pPr>
              <a:defRPr/>
            </a:pPr>
            <a:r>
              <a:rPr lang="en-US" sz="2000" i="1">
                <a:effectLst>
                  <a:outerShdw blurRad="38100" dist="38100" dir="2700000" algn="tl">
                    <a:srgbClr val="C0C0C0"/>
                  </a:outerShdw>
                </a:effectLst>
                <a:latin typeface="Times New Roman" pitchFamily="18" charset="0"/>
              </a:rPr>
              <a:t>Mailing List </a:t>
            </a:r>
          </a:p>
          <a:p>
            <a:pPr>
              <a:defRPr/>
            </a:pPr>
            <a:r>
              <a:rPr lang="en-US" sz="2000" i="1">
                <a:effectLst>
                  <a:outerShdw blurRad="38100" dist="38100" dir="2700000" algn="tl">
                    <a:srgbClr val="C0C0C0"/>
                  </a:outerShdw>
                </a:effectLst>
                <a:latin typeface="Times New Roman" pitchFamily="18" charset="0"/>
              </a:rPr>
              <a:t>MIME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2">
            <a:extLst>
              <a:ext uri="{FF2B5EF4-FFF2-40B4-BE49-F238E27FC236}">
                <a16:creationId xmlns:a16="http://schemas.microsoft.com/office/drawing/2014/main" id="{0B0B7FBF-B328-2B99-79BC-D3A9090DB5DF}"/>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FBB9EEA-3C73-46B6-BE24-FB4D031D6755}" type="slidenum">
              <a:rPr lang="en-US" altLang="en-US">
                <a:solidFill>
                  <a:srgbClr val="FFFFFF"/>
                </a:solidFill>
                <a:latin typeface="Franklin Gothic Book" panose="020B0503020102020204" pitchFamily="34" charset="0"/>
              </a:rPr>
              <a:pPr/>
              <a:t>7</a:t>
            </a:fld>
            <a:endParaRPr lang="en-US" altLang="en-US">
              <a:solidFill>
                <a:srgbClr val="FFFFFF"/>
              </a:solidFill>
              <a:latin typeface="Franklin Gothic Book" panose="020B0503020102020204" pitchFamily="34" charset="0"/>
            </a:endParaRPr>
          </a:p>
        </p:txBody>
      </p:sp>
      <p:sp>
        <p:nvSpPr>
          <p:cNvPr id="13315" name="Text Box 2">
            <a:extLst>
              <a:ext uri="{FF2B5EF4-FFF2-40B4-BE49-F238E27FC236}">
                <a16:creationId xmlns:a16="http://schemas.microsoft.com/office/drawing/2014/main" id="{17A66DA9-A3A0-8F03-4220-A160FB3CDEF2}"/>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User agent</a:t>
            </a:r>
          </a:p>
        </p:txBody>
      </p:sp>
      <p:sp>
        <p:nvSpPr>
          <p:cNvPr id="13316" name="Rectangle 3">
            <a:extLst>
              <a:ext uri="{FF2B5EF4-FFF2-40B4-BE49-F238E27FC236}">
                <a16:creationId xmlns:a16="http://schemas.microsoft.com/office/drawing/2014/main" id="{6CB76BC9-CE40-5201-39DF-F727B7F4A70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17" name="Rectangle 4">
            <a:extLst>
              <a:ext uri="{FF2B5EF4-FFF2-40B4-BE49-F238E27FC236}">
                <a16:creationId xmlns:a16="http://schemas.microsoft.com/office/drawing/2014/main" id="{D8BFCCDE-F6AA-744A-BC89-A7D26E51983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18" name="Rectangle 5">
            <a:extLst>
              <a:ext uri="{FF2B5EF4-FFF2-40B4-BE49-F238E27FC236}">
                <a16:creationId xmlns:a16="http://schemas.microsoft.com/office/drawing/2014/main" id="{3DF1DA0D-0F9A-23D3-574E-EF25C86E88D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19" name="Rectangle 6">
            <a:extLst>
              <a:ext uri="{FF2B5EF4-FFF2-40B4-BE49-F238E27FC236}">
                <a16:creationId xmlns:a16="http://schemas.microsoft.com/office/drawing/2014/main" id="{DBD79CE2-DB7B-4139-EB0A-C40174BF489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20" name="Rectangle 7">
            <a:extLst>
              <a:ext uri="{FF2B5EF4-FFF2-40B4-BE49-F238E27FC236}">
                <a16:creationId xmlns:a16="http://schemas.microsoft.com/office/drawing/2014/main" id="{ACB17ECD-A62E-DFD0-B790-E64F4558478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21" name="Rectangle 8">
            <a:extLst>
              <a:ext uri="{FF2B5EF4-FFF2-40B4-BE49-F238E27FC236}">
                <a16:creationId xmlns:a16="http://schemas.microsoft.com/office/drawing/2014/main" id="{666CF11A-CB26-44EC-8124-C9EE666C16E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3322" name="Rectangle 9">
            <a:extLst>
              <a:ext uri="{FF2B5EF4-FFF2-40B4-BE49-F238E27FC236}">
                <a16:creationId xmlns:a16="http://schemas.microsoft.com/office/drawing/2014/main" id="{61FBAB20-A752-5E0C-4C3B-325868CA19F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3323" name="Picture 10">
            <a:extLst>
              <a:ext uri="{FF2B5EF4-FFF2-40B4-BE49-F238E27FC236}">
                <a16:creationId xmlns:a16="http://schemas.microsoft.com/office/drawing/2014/main" id="{EF713007-490D-DF48-DB4D-24AAB26D2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025" y="2105025"/>
            <a:ext cx="808037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Text Box 11">
            <a:extLst>
              <a:ext uri="{FF2B5EF4-FFF2-40B4-BE49-F238E27FC236}">
                <a16:creationId xmlns:a16="http://schemas.microsoft.com/office/drawing/2014/main" id="{5AE43DB9-22FA-8CB1-7B2C-8ED58A0F561D}"/>
              </a:ext>
            </a:extLst>
          </p:cNvPr>
          <p:cNvSpPr txBox="1">
            <a:spLocks noChangeArrowheads="1"/>
          </p:cNvSpPr>
          <p:nvPr/>
        </p:nvSpPr>
        <p:spPr bwMode="auto">
          <a:xfrm>
            <a:off x="898525" y="4603750"/>
            <a:ext cx="75406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Like many applications, email programs can be command driven</a:t>
            </a:r>
          </a:p>
          <a:p>
            <a:r>
              <a:rPr lang="en-US" altLang="en-US"/>
              <a:t>or GUI-based.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2">
            <a:extLst>
              <a:ext uri="{FF2B5EF4-FFF2-40B4-BE49-F238E27FC236}">
                <a16:creationId xmlns:a16="http://schemas.microsoft.com/office/drawing/2014/main" id="{F3C20439-A101-3501-06B8-348125DC9A11}"/>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F314BF9-5005-41CC-9BDA-C73ADFF72879}" type="slidenum">
              <a:rPr lang="en-US" altLang="en-US">
                <a:solidFill>
                  <a:srgbClr val="FFFFFF"/>
                </a:solidFill>
                <a:latin typeface="Franklin Gothic Book" panose="020B0503020102020204" pitchFamily="34" charset="0"/>
              </a:rPr>
              <a:pPr/>
              <a:t>8</a:t>
            </a:fld>
            <a:endParaRPr lang="en-US" altLang="en-US">
              <a:solidFill>
                <a:srgbClr val="FFFFFF"/>
              </a:solidFill>
              <a:latin typeface="Franklin Gothic Book" panose="020B0503020102020204" pitchFamily="34" charset="0"/>
            </a:endParaRPr>
          </a:p>
        </p:txBody>
      </p:sp>
      <p:sp>
        <p:nvSpPr>
          <p:cNvPr id="14339" name="Text Box 2">
            <a:extLst>
              <a:ext uri="{FF2B5EF4-FFF2-40B4-BE49-F238E27FC236}">
                <a16:creationId xmlns:a16="http://schemas.microsoft.com/office/drawing/2014/main" id="{4CF86E10-24A8-7A60-3997-BA6B6E622F5B}"/>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Format of an email</a:t>
            </a:r>
          </a:p>
        </p:txBody>
      </p:sp>
      <p:sp>
        <p:nvSpPr>
          <p:cNvPr id="14340" name="Rectangle 3">
            <a:extLst>
              <a:ext uri="{FF2B5EF4-FFF2-40B4-BE49-F238E27FC236}">
                <a16:creationId xmlns:a16="http://schemas.microsoft.com/office/drawing/2014/main" id="{6B9DE01B-17C5-8E59-A78A-9A4819B1D0C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1" name="Rectangle 4">
            <a:extLst>
              <a:ext uri="{FF2B5EF4-FFF2-40B4-BE49-F238E27FC236}">
                <a16:creationId xmlns:a16="http://schemas.microsoft.com/office/drawing/2014/main" id="{5B3D72D6-2C01-4514-DE50-3A3C161B458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2" name="Rectangle 5">
            <a:extLst>
              <a:ext uri="{FF2B5EF4-FFF2-40B4-BE49-F238E27FC236}">
                <a16:creationId xmlns:a16="http://schemas.microsoft.com/office/drawing/2014/main" id="{D43A5592-0271-9895-124B-14AD692B77F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3" name="Rectangle 6">
            <a:extLst>
              <a:ext uri="{FF2B5EF4-FFF2-40B4-BE49-F238E27FC236}">
                <a16:creationId xmlns:a16="http://schemas.microsoft.com/office/drawing/2014/main" id="{F87647D8-8491-4234-A81D-CA071423667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4" name="Rectangle 7">
            <a:extLst>
              <a:ext uri="{FF2B5EF4-FFF2-40B4-BE49-F238E27FC236}">
                <a16:creationId xmlns:a16="http://schemas.microsoft.com/office/drawing/2014/main" id="{71A1D982-D3E8-92FC-5968-18C4115848A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5" name="Rectangle 8">
            <a:extLst>
              <a:ext uri="{FF2B5EF4-FFF2-40B4-BE49-F238E27FC236}">
                <a16:creationId xmlns:a16="http://schemas.microsoft.com/office/drawing/2014/main" id="{807A2C13-99F0-91E9-88BE-7E0B26A10A1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6" name="Rectangle 9">
            <a:extLst>
              <a:ext uri="{FF2B5EF4-FFF2-40B4-BE49-F238E27FC236}">
                <a16:creationId xmlns:a16="http://schemas.microsoft.com/office/drawing/2014/main" id="{A2FC11F8-A946-220A-74FC-80943EC0A3E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4347" name="Picture 10">
            <a:extLst>
              <a:ext uri="{FF2B5EF4-FFF2-40B4-BE49-F238E27FC236}">
                <a16:creationId xmlns:a16="http://schemas.microsoft.com/office/drawing/2014/main" id="{A74BD183-DC1B-96BC-9A4B-3E4C92E20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5" y="762000"/>
            <a:ext cx="7477125" cy="554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2">
            <a:extLst>
              <a:ext uri="{FF2B5EF4-FFF2-40B4-BE49-F238E27FC236}">
                <a16:creationId xmlns:a16="http://schemas.microsoft.com/office/drawing/2014/main" id="{C130BDB6-F0E3-CD4E-0D84-3F446329F15D}"/>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06980EE-DB4D-4F3D-9F46-A596F011B7B8}" type="slidenum">
              <a:rPr lang="en-US" altLang="en-US">
                <a:solidFill>
                  <a:srgbClr val="FFFFFF"/>
                </a:solidFill>
                <a:latin typeface="Franklin Gothic Book" panose="020B0503020102020204" pitchFamily="34" charset="0"/>
              </a:rPr>
              <a:pPr/>
              <a:t>9</a:t>
            </a:fld>
            <a:endParaRPr lang="en-US" altLang="en-US">
              <a:solidFill>
                <a:srgbClr val="FFFFFF"/>
              </a:solidFill>
              <a:latin typeface="Franklin Gothic Book" panose="020B0503020102020204" pitchFamily="34" charset="0"/>
            </a:endParaRPr>
          </a:p>
        </p:txBody>
      </p:sp>
      <p:sp>
        <p:nvSpPr>
          <p:cNvPr id="15363" name="Text Box 2">
            <a:extLst>
              <a:ext uri="{FF2B5EF4-FFF2-40B4-BE49-F238E27FC236}">
                <a16:creationId xmlns:a16="http://schemas.microsoft.com/office/drawing/2014/main" id="{B322EC15-00AD-BDC2-40B7-97A6C64C33BA}"/>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Email address</a:t>
            </a:r>
          </a:p>
        </p:txBody>
      </p:sp>
      <p:sp>
        <p:nvSpPr>
          <p:cNvPr id="15364" name="Rectangle 3">
            <a:extLst>
              <a:ext uri="{FF2B5EF4-FFF2-40B4-BE49-F238E27FC236}">
                <a16:creationId xmlns:a16="http://schemas.microsoft.com/office/drawing/2014/main" id="{2CED0757-158A-0C98-EEA2-11D0E453665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65" name="Rectangle 4">
            <a:extLst>
              <a:ext uri="{FF2B5EF4-FFF2-40B4-BE49-F238E27FC236}">
                <a16:creationId xmlns:a16="http://schemas.microsoft.com/office/drawing/2014/main" id="{4A0DAA9D-F31E-9D9C-7677-4F4D081477D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66" name="Rectangle 5">
            <a:extLst>
              <a:ext uri="{FF2B5EF4-FFF2-40B4-BE49-F238E27FC236}">
                <a16:creationId xmlns:a16="http://schemas.microsoft.com/office/drawing/2014/main" id="{9743CB19-F6CE-4A9B-3C1C-074D4797EFB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67" name="Rectangle 6">
            <a:extLst>
              <a:ext uri="{FF2B5EF4-FFF2-40B4-BE49-F238E27FC236}">
                <a16:creationId xmlns:a16="http://schemas.microsoft.com/office/drawing/2014/main" id="{68732336-A8B0-B3CA-3BF9-D8832F9514C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68" name="Rectangle 7">
            <a:extLst>
              <a:ext uri="{FF2B5EF4-FFF2-40B4-BE49-F238E27FC236}">
                <a16:creationId xmlns:a16="http://schemas.microsoft.com/office/drawing/2014/main" id="{DEC3D2B8-830D-E293-A025-66E9FACD2CF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69" name="Rectangle 8">
            <a:extLst>
              <a:ext uri="{FF2B5EF4-FFF2-40B4-BE49-F238E27FC236}">
                <a16:creationId xmlns:a16="http://schemas.microsoft.com/office/drawing/2014/main" id="{3E56DCF7-FA09-AC0E-3545-011FD417276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5370" name="Rectangle 9">
            <a:extLst>
              <a:ext uri="{FF2B5EF4-FFF2-40B4-BE49-F238E27FC236}">
                <a16:creationId xmlns:a16="http://schemas.microsoft.com/office/drawing/2014/main" id="{1A84FA3B-BA60-6582-AC62-B37884D2AF5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5371" name="Picture 10">
            <a:extLst>
              <a:ext uri="{FF2B5EF4-FFF2-40B4-BE49-F238E27FC236}">
                <a16:creationId xmlns:a16="http://schemas.microsoft.com/office/drawing/2014/main" id="{DBFFB765-2A1A-67E4-5402-28ABED3BC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8" y="2365375"/>
            <a:ext cx="7794625"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2" name="Text Box 11">
            <a:extLst>
              <a:ext uri="{FF2B5EF4-FFF2-40B4-BE49-F238E27FC236}">
                <a16:creationId xmlns:a16="http://schemas.microsoft.com/office/drawing/2014/main" id="{C67DBA16-BFD8-871A-2E08-27D19F0DC84A}"/>
              </a:ext>
            </a:extLst>
          </p:cNvPr>
          <p:cNvSpPr txBox="1">
            <a:spLocks noChangeArrowheads="1"/>
          </p:cNvSpPr>
          <p:nvPr/>
        </p:nvSpPr>
        <p:spPr bwMode="auto">
          <a:xfrm>
            <a:off x="685800" y="5029200"/>
            <a:ext cx="786606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Email also allows one name, an alias, to represent several different</a:t>
            </a:r>
          </a:p>
          <a:p>
            <a:r>
              <a:rPr lang="en-US" altLang="en-US"/>
              <a:t>email addresses: this is called a </a:t>
            </a:r>
            <a:r>
              <a:rPr lang="en-US" altLang="en-US" i="1"/>
              <a:t>mailing list</a:t>
            </a:r>
            <a:r>
              <a:rPr lang="en-US" altLang="en-US"/>
              <a:t>.  Every time an email</a:t>
            </a:r>
          </a:p>
          <a:p>
            <a:r>
              <a:rPr lang="en-US" altLang="en-US"/>
              <a:t>is sent, the system checks the recipient’s name against the</a:t>
            </a:r>
          </a:p>
          <a:p>
            <a:r>
              <a:rPr lang="en-US" altLang="en-US"/>
              <a:t>alias database.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2">
            <a:extLst>
              <a:ext uri="{FF2B5EF4-FFF2-40B4-BE49-F238E27FC236}">
                <a16:creationId xmlns:a16="http://schemas.microsoft.com/office/drawing/2014/main" id="{1F3AD43E-2C28-6420-AE28-CBD93062D2FF}"/>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F3E4234-647F-4C2C-94B7-02E0F78637F4}" type="slidenum">
              <a:rPr lang="en-US" altLang="en-US">
                <a:solidFill>
                  <a:srgbClr val="FFFFFF"/>
                </a:solidFill>
                <a:latin typeface="Franklin Gothic Book" panose="020B0503020102020204" pitchFamily="34" charset="0"/>
              </a:rPr>
              <a:pPr/>
              <a:t>10</a:t>
            </a:fld>
            <a:endParaRPr lang="en-US" altLang="en-US">
              <a:solidFill>
                <a:srgbClr val="FFFFFF"/>
              </a:solidFill>
              <a:latin typeface="Franklin Gothic Book" panose="020B0503020102020204" pitchFamily="34" charset="0"/>
            </a:endParaRPr>
          </a:p>
        </p:txBody>
      </p:sp>
      <p:sp>
        <p:nvSpPr>
          <p:cNvPr id="16387" name="Text Box 2">
            <a:extLst>
              <a:ext uri="{FF2B5EF4-FFF2-40B4-BE49-F238E27FC236}">
                <a16:creationId xmlns:a16="http://schemas.microsoft.com/office/drawing/2014/main" id="{1A4753B4-06F6-C3D4-3197-A0AC0D7CEA09}"/>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MIME</a:t>
            </a:r>
          </a:p>
        </p:txBody>
      </p:sp>
      <p:sp>
        <p:nvSpPr>
          <p:cNvPr id="16388" name="Rectangle 3">
            <a:extLst>
              <a:ext uri="{FF2B5EF4-FFF2-40B4-BE49-F238E27FC236}">
                <a16:creationId xmlns:a16="http://schemas.microsoft.com/office/drawing/2014/main" id="{30267CCF-6C35-E534-1809-1C4E3FF7A92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89" name="Rectangle 4">
            <a:extLst>
              <a:ext uri="{FF2B5EF4-FFF2-40B4-BE49-F238E27FC236}">
                <a16:creationId xmlns:a16="http://schemas.microsoft.com/office/drawing/2014/main" id="{41C3785D-5E38-129B-CCB0-97BE7A2CFF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0" name="Rectangle 5">
            <a:extLst>
              <a:ext uri="{FF2B5EF4-FFF2-40B4-BE49-F238E27FC236}">
                <a16:creationId xmlns:a16="http://schemas.microsoft.com/office/drawing/2014/main" id="{185D0F49-FD69-D7F3-0688-69B12369769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1" name="Rectangle 6">
            <a:extLst>
              <a:ext uri="{FF2B5EF4-FFF2-40B4-BE49-F238E27FC236}">
                <a16:creationId xmlns:a16="http://schemas.microsoft.com/office/drawing/2014/main" id="{AFF6F102-C1E1-659B-E357-CC9B0A8C218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2" name="Rectangle 7">
            <a:extLst>
              <a:ext uri="{FF2B5EF4-FFF2-40B4-BE49-F238E27FC236}">
                <a16:creationId xmlns:a16="http://schemas.microsoft.com/office/drawing/2014/main" id="{5A4A13E9-B928-8E32-9755-467C4776113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3" name="Rectangle 8">
            <a:extLst>
              <a:ext uri="{FF2B5EF4-FFF2-40B4-BE49-F238E27FC236}">
                <a16:creationId xmlns:a16="http://schemas.microsoft.com/office/drawing/2014/main" id="{CD73D9F4-040F-1CB8-681D-529B87C98B8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4" name="Rectangle 9">
            <a:extLst>
              <a:ext uri="{FF2B5EF4-FFF2-40B4-BE49-F238E27FC236}">
                <a16:creationId xmlns:a16="http://schemas.microsoft.com/office/drawing/2014/main" id="{157CF122-B322-2AAE-5C05-C63CF61E42D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6395" name="Picture 10">
            <a:extLst>
              <a:ext uri="{FF2B5EF4-FFF2-40B4-BE49-F238E27FC236}">
                <a16:creationId xmlns:a16="http://schemas.microsoft.com/office/drawing/2014/main" id="{106205BF-B25F-0210-E4F2-3F0A1267BD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50" y="1703388"/>
            <a:ext cx="7029450" cy="370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Text Box 11">
            <a:extLst>
              <a:ext uri="{FF2B5EF4-FFF2-40B4-BE49-F238E27FC236}">
                <a16:creationId xmlns:a16="http://schemas.microsoft.com/office/drawing/2014/main" id="{80312495-F70B-7740-4857-0EB44AF55237}"/>
              </a:ext>
            </a:extLst>
          </p:cNvPr>
          <p:cNvSpPr txBox="1">
            <a:spLocks noChangeArrowheads="1"/>
          </p:cNvSpPr>
          <p:nvPr/>
        </p:nvSpPr>
        <p:spPr bwMode="auto">
          <a:xfrm>
            <a:off x="1431925" y="717550"/>
            <a:ext cx="71374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Email can only send messages composed of 7-bit NVT ASCII.</a:t>
            </a:r>
          </a:p>
          <a:p>
            <a:r>
              <a:rPr lang="en-US" altLang="en-US"/>
              <a:t>(NVT = network virtual terminal)  What if you tried to send</a:t>
            </a:r>
          </a:p>
          <a:p>
            <a:r>
              <a:rPr lang="en-US" altLang="en-US"/>
              <a:t>a file that was not in 7-bit ASCII?</a:t>
            </a:r>
          </a:p>
        </p:txBody>
      </p:sp>
      <p:sp>
        <p:nvSpPr>
          <p:cNvPr id="16397" name="Text Box 12">
            <a:extLst>
              <a:ext uri="{FF2B5EF4-FFF2-40B4-BE49-F238E27FC236}">
                <a16:creationId xmlns:a16="http://schemas.microsoft.com/office/drawing/2014/main" id="{4BB0A634-2AF6-85DE-BB64-5A66EC69C71F}"/>
              </a:ext>
            </a:extLst>
          </p:cNvPr>
          <p:cNvSpPr txBox="1">
            <a:spLocks noChangeArrowheads="1"/>
          </p:cNvSpPr>
          <p:nvPr/>
        </p:nvSpPr>
        <p:spPr bwMode="auto">
          <a:xfrm>
            <a:off x="517525" y="5670550"/>
            <a:ext cx="736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MIME (Multipurpose Internet Mail Extensions) allows an email</a:t>
            </a:r>
          </a:p>
          <a:p>
            <a:r>
              <a:rPr lang="en-US" altLang="en-US"/>
              <a:t>system to send non-ASCII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2">
            <a:extLst>
              <a:ext uri="{FF2B5EF4-FFF2-40B4-BE49-F238E27FC236}">
                <a16:creationId xmlns:a16="http://schemas.microsoft.com/office/drawing/2014/main" id="{CB469EE8-4199-47F8-E99C-BD1530A010A7}"/>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5B865BB-2C27-4BD2-8DC3-6C304C5CCC21}" type="slidenum">
              <a:rPr lang="en-US" altLang="en-US">
                <a:solidFill>
                  <a:srgbClr val="FFFFFF"/>
                </a:solidFill>
                <a:latin typeface="Franklin Gothic Book" panose="020B0503020102020204" pitchFamily="34" charset="0"/>
              </a:rPr>
              <a:pPr/>
              <a:t>11</a:t>
            </a:fld>
            <a:endParaRPr lang="en-US" altLang="en-US">
              <a:solidFill>
                <a:srgbClr val="FFFFFF"/>
              </a:solidFill>
              <a:latin typeface="Franklin Gothic Book" panose="020B0503020102020204" pitchFamily="34" charset="0"/>
            </a:endParaRPr>
          </a:p>
        </p:txBody>
      </p:sp>
      <p:sp>
        <p:nvSpPr>
          <p:cNvPr id="17411" name="Text Box 2">
            <a:extLst>
              <a:ext uri="{FF2B5EF4-FFF2-40B4-BE49-F238E27FC236}">
                <a16:creationId xmlns:a16="http://schemas.microsoft.com/office/drawing/2014/main" id="{71EC54FF-390E-63D6-2358-A1B58C443B88}"/>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MIME header</a:t>
            </a:r>
          </a:p>
        </p:txBody>
      </p:sp>
      <p:sp>
        <p:nvSpPr>
          <p:cNvPr id="17412" name="Rectangle 3">
            <a:extLst>
              <a:ext uri="{FF2B5EF4-FFF2-40B4-BE49-F238E27FC236}">
                <a16:creationId xmlns:a16="http://schemas.microsoft.com/office/drawing/2014/main" id="{595589F0-B706-685E-5FB6-D4660FF069B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3" name="Rectangle 4">
            <a:extLst>
              <a:ext uri="{FF2B5EF4-FFF2-40B4-BE49-F238E27FC236}">
                <a16:creationId xmlns:a16="http://schemas.microsoft.com/office/drawing/2014/main" id="{970C3B08-C124-1B72-563E-CEEF7184766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4" name="Rectangle 5">
            <a:extLst>
              <a:ext uri="{FF2B5EF4-FFF2-40B4-BE49-F238E27FC236}">
                <a16:creationId xmlns:a16="http://schemas.microsoft.com/office/drawing/2014/main" id="{8688A99B-CDDC-CD88-D243-EB43A72BB97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5" name="Rectangle 6">
            <a:extLst>
              <a:ext uri="{FF2B5EF4-FFF2-40B4-BE49-F238E27FC236}">
                <a16:creationId xmlns:a16="http://schemas.microsoft.com/office/drawing/2014/main" id="{D11CF84F-B856-AD4A-E637-1F38219945D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6" name="Rectangle 7">
            <a:extLst>
              <a:ext uri="{FF2B5EF4-FFF2-40B4-BE49-F238E27FC236}">
                <a16:creationId xmlns:a16="http://schemas.microsoft.com/office/drawing/2014/main" id="{358B6C78-CC61-94F8-1E6A-451CF95E0E7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7" name="Rectangle 8">
            <a:extLst>
              <a:ext uri="{FF2B5EF4-FFF2-40B4-BE49-F238E27FC236}">
                <a16:creationId xmlns:a16="http://schemas.microsoft.com/office/drawing/2014/main" id="{36B66CFB-9C97-E19F-34DD-F601A329E4B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7418" name="Rectangle 9">
            <a:extLst>
              <a:ext uri="{FF2B5EF4-FFF2-40B4-BE49-F238E27FC236}">
                <a16:creationId xmlns:a16="http://schemas.microsoft.com/office/drawing/2014/main" id="{24D52248-968D-536D-55D4-A6B3A6C6DE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7419" name="Picture 10">
            <a:extLst>
              <a:ext uri="{FF2B5EF4-FFF2-40B4-BE49-F238E27FC236}">
                <a16:creationId xmlns:a16="http://schemas.microsoft.com/office/drawing/2014/main" id="{0889348D-A43F-A410-793C-413C2D0B65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590800"/>
            <a:ext cx="716597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 Box 11">
            <a:extLst>
              <a:ext uri="{FF2B5EF4-FFF2-40B4-BE49-F238E27FC236}">
                <a16:creationId xmlns:a16="http://schemas.microsoft.com/office/drawing/2014/main" id="{C6AB0913-C8F4-AB7C-BB9B-A5CBA3A0300A}"/>
              </a:ext>
            </a:extLst>
          </p:cNvPr>
          <p:cNvSpPr txBox="1">
            <a:spLocks noChangeArrowheads="1"/>
          </p:cNvSpPr>
          <p:nvPr/>
        </p:nvSpPr>
        <p:spPr bwMode="auto">
          <a:xfrm>
            <a:off x="1295400" y="1219200"/>
            <a:ext cx="67611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MIME defines 5 headers that can be added to the original</a:t>
            </a:r>
          </a:p>
          <a:p>
            <a:r>
              <a:rPr lang="en-US" altLang="en-US"/>
              <a:t>email header section to define the transformation</a:t>
            </a:r>
          </a:p>
          <a:p>
            <a:r>
              <a:rPr lang="en-US" altLang="en-US"/>
              <a:t>parameters:</a:t>
            </a:r>
          </a:p>
        </p:txBody>
      </p:sp>
      <p:sp>
        <p:nvSpPr>
          <p:cNvPr id="17421" name="Text Box 12">
            <a:extLst>
              <a:ext uri="{FF2B5EF4-FFF2-40B4-BE49-F238E27FC236}">
                <a16:creationId xmlns:a16="http://schemas.microsoft.com/office/drawing/2014/main" id="{B7AAB049-3ABA-5E12-77F3-DAF69B3C5C7E}"/>
              </a:ext>
            </a:extLst>
          </p:cNvPr>
          <p:cNvSpPr txBox="1">
            <a:spLocks noChangeArrowheads="1"/>
          </p:cNvSpPr>
          <p:nvPr/>
        </p:nvSpPr>
        <p:spPr bwMode="auto">
          <a:xfrm>
            <a:off x="1447800" y="5715000"/>
            <a:ext cx="3543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MIME version is currently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2">
            <a:extLst>
              <a:ext uri="{FF2B5EF4-FFF2-40B4-BE49-F238E27FC236}">
                <a16:creationId xmlns:a16="http://schemas.microsoft.com/office/drawing/2014/main" id="{C8938360-4D54-831E-E64C-9B1AA4771838}"/>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E4B75AB-E33B-4FB5-8A55-220D412EF86E}" type="slidenum">
              <a:rPr lang="en-US" altLang="en-US">
                <a:solidFill>
                  <a:srgbClr val="FFFFFF"/>
                </a:solidFill>
                <a:latin typeface="Franklin Gothic Book" panose="020B0503020102020204" pitchFamily="34" charset="0"/>
              </a:rPr>
              <a:pPr/>
              <a:t>12</a:t>
            </a:fld>
            <a:endParaRPr lang="en-US" altLang="en-US">
              <a:solidFill>
                <a:srgbClr val="FFFFFF"/>
              </a:solidFill>
              <a:latin typeface="Franklin Gothic Book" panose="020B0503020102020204" pitchFamily="34" charset="0"/>
            </a:endParaRPr>
          </a:p>
        </p:txBody>
      </p:sp>
      <p:sp>
        <p:nvSpPr>
          <p:cNvPr id="504835" name="Text Box 3">
            <a:extLst>
              <a:ext uri="{FF2B5EF4-FFF2-40B4-BE49-F238E27FC236}">
                <a16:creationId xmlns:a16="http://schemas.microsoft.com/office/drawing/2014/main" id="{58FB386D-52EE-5633-9B2D-60DD9B14DD0B}"/>
              </a:ext>
            </a:extLst>
          </p:cNvPr>
          <p:cNvSpPr txBox="1">
            <a:spLocks noChangeArrowheads="1"/>
          </p:cNvSpPr>
          <p:nvPr/>
        </p:nvSpPr>
        <p:spPr bwMode="auto">
          <a:xfrm>
            <a:off x="685800" y="1905000"/>
            <a:ext cx="4503738"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Data types and subtypes in MIME</a:t>
            </a:r>
          </a:p>
        </p:txBody>
      </p:sp>
      <p:pic>
        <p:nvPicPr>
          <p:cNvPr id="18436" name="Picture 42">
            <a:extLst>
              <a:ext uri="{FF2B5EF4-FFF2-40B4-BE49-F238E27FC236}">
                <a16:creationId xmlns:a16="http://schemas.microsoft.com/office/drawing/2014/main" id="{48A78C24-888B-0CCD-606E-639081492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14600"/>
            <a:ext cx="8189913"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 Box 46">
            <a:extLst>
              <a:ext uri="{FF2B5EF4-FFF2-40B4-BE49-F238E27FC236}">
                <a16:creationId xmlns:a16="http://schemas.microsoft.com/office/drawing/2014/main" id="{87D6563E-0A7C-2EE5-7698-3EDC44C3F95F}"/>
              </a:ext>
            </a:extLst>
          </p:cNvPr>
          <p:cNvSpPr txBox="1">
            <a:spLocks noChangeArrowheads="1"/>
          </p:cNvSpPr>
          <p:nvPr/>
        </p:nvSpPr>
        <p:spPr bwMode="auto">
          <a:xfrm>
            <a:off x="1050925" y="565150"/>
            <a:ext cx="66087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MIME allows seven different types of data (five of those</a:t>
            </a:r>
          </a:p>
          <a:p>
            <a:r>
              <a:rPr lang="en-US" altLang="en-US"/>
              <a:t>have subtypes).</a:t>
            </a:r>
          </a:p>
        </p:txBody>
      </p:sp>
      <p:sp>
        <p:nvSpPr>
          <p:cNvPr id="18438" name="Text Box 47">
            <a:extLst>
              <a:ext uri="{FF2B5EF4-FFF2-40B4-BE49-F238E27FC236}">
                <a16:creationId xmlns:a16="http://schemas.microsoft.com/office/drawing/2014/main" id="{6363C3DF-25DA-664D-2776-DF49EFC5BECD}"/>
              </a:ext>
            </a:extLst>
          </p:cNvPr>
          <p:cNvSpPr txBox="1">
            <a:spLocks noChangeArrowheads="1"/>
          </p:cNvSpPr>
          <p:nvPr/>
        </p:nvSpPr>
        <p:spPr bwMode="auto">
          <a:xfrm>
            <a:off x="746125" y="5365750"/>
            <a:ext cx="77676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Text: the original message is in 7-bit ASCII and no transformation</a:t>
            </a:r>
          </a:p>
          <a:p>
            <a:r>
              <a:rPr lang="en-US" altLang="en-US"/>
              <a:t>by MIME is needed.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2">
            <a:extLst>
              <a:ext uri="{FF2B5EF4-FFF2-40B4-BE49-F238E27FC236}">
                <a16:creationId xmlns:a16="http://schemas.microsoft.com/office/drawing/2014/main" id="{6CBAA88E-12BC-79E3-E61E-174DFA538B38}"/>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07FD4CC-09E3-4C24-B535-D903A13413BB}" type="slidenum">
              <a:rPr lang="en-US" altLang="en-US">
                <a:solidFill>
                  <a:srgbClr val="FFFFFF"/>
                </a:solidFill>
                <a:latin typeface="Franklin Gothic Book" panose="020B0503020102020204" pitchFamily="34" charset="0"/>
              </a:rPr>
              <a:pPr/>
              <a:t>13</a:t>
            </a:fld>
            <a:endParaRPr lang="en-US" altLang="en-US">
              <a:solidFill>
                <a:srgbClr val="FFFFFF"/>
              </a:solidFill>
              <a:latin typeface="Franklin Gothic Book" panose="020B0503020102020204" pitchFamily="34" charset="0"/>
            </a:endParaRPr>
          </a:p>
        </p:txBody>
      </p:sp>
      <p:pic>
        <p:nvPicPr>
          <p:cNvPr id="19459" name="Picture 3">
            <a:extLst>
              <a:ext uri="{FF2B5EF4-FFF2-40B4-BE49-F238E27FC236}">
                <a16:creationId xmlns:a16="http://schemas.microsoft.com/office/drawing/2014/main" id="{D6E26799-6A74-64DA-93B5-E8C28FCC8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1000"/>
            <a:ext cx="8189913"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5">
            <a:extLst>
              <a:ext uri="{FF2B5EF4-FFF2-40B4-BE49-F238E27FC236}">
                <a16:creationId xmlns:a16="http://schemas.microsoft.com/office/drawing/2014/main" id="{3F967C81-5F16-82C2-1653-64B464D3ED6E}"/>
              </a:ext>
            </a:extLst>
          </p:cNvPr>
          <p:cNvSpPr txBox="1">
            <a:spLocks noChangeArrowheads="1"/>
          </p:cNvSpPr>
          <p:nvPr/>
        </p:nvSpPr>
        <p:spPr bwMode="auto">
          <a:xfrm>
            <a:off x="685800" y="3200400"/>
            <a:ext cx="7704138"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Multipart: the body contains multiple, independent parts.  Some</a:t>
            </a:r>
          </a:p>
          <a:p>
            <a:r>
              <a:rPr lang="en-US" altLang="en-US"/>
              <a:t>type of boundary is defined and this boundary is used to separate</a:t>
            </a:r>
          </a:p>
          <a:p>
            <a:r>
              <a:rPr lang="en-US" altLang="en-US"/>
              <a:t>the parts.  For example:</a:t>
            </a:r>
          </a:p>
          <a:p>
            <a:endParaRPr lang="en-US" altLang="en-US"/>
          </a:p>
          <a:p>
            <a:r>
              <a:rPr lang="en-US" altLang="en-US" sz="1600">
                <a:latin typeface="Courier New" panose="02070309020205020404" pitchFamily="49" charset="0"/>
              </a:rPr>
              <a:t>Content-Type: multipart/mixed; boundary=xxxx</a:t>
            </a:r>
          </a:p>
          <a:p>
            <a:r>
              <a:rPr lang="en-US" altLang="en-US" sz="1600">
                <a:latin typeface="Courier New" panose="02070309020205020404" pitchFamily="49" charset="0"/>
              </a:rPr>
              <a:t>	--xxxx</a:t>
            </a:r>
          </a:p>
          <a:p>
            <a:r>
              <a:rPr lang="en-US" altLang="en-US" sz="1600">
                <a:latin typeface="Courier New" panose="02070309020205020404" pitchFamily="49" charset="0"/>
              </a:rPr>
              <a:t>	Content-type: text/plain;</a:t>
            </a:r>
          </a:p>
          <a:p>
            <a:r>
              <a:rPr lang="en-US" altLang="en-US" sz="1600">
                <a:latin typeface="Courier New" panose="02070309020205020404" pitchFamily="49" charset="0"/>
              </a:rPr>
              <a:t>	…………………….</a:t>
            </a:r>
          </a:p>
          <a:p>
            <a:r>
              <a:rPr lang="en-US" altLang="en-US" sz="1600">
                <a:latin typeface="Courier New" panose="02070309020205020404" pitchFamily="49" charset="0"/>
              </a:rPr>
              <a:t>	--xxxx</a:t>
            </a:r>
          </a:p>
          <a:p>
            <a:r>
              <a:rPr lang="en-US" altLang="en-US" sz="1600">
                <a:latin typeface="Courier New" panose="02070309020205020404" pitchFamily="49" charset="0"/>
              </a:rPr>
              <a:t>	Content-type: image/gif;</a:t>
            </a:r>
          </a:p>
          <a:p>
            <a:r>
              <a:rPr lang="en-US" altLang="en-US" sz="1600">
                <a:latin typeface="Courier New" panose="02070309020205020404" pitchFamily="49" charset="0"/>
              </a:rPr>
              <a:t>	…………………….</a:t>
            </a:r>
          </a:p>
          <a:p>
            <a:r>
              <a:rPr lang="en-US" altLang="en-US" sz="1600">
                <a:latin typeface="Courier New" panose="02070309020205020404" pitchFamily="49" charset="0"/>
              </a:rPr>
              <a:t>	--xxxx--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2">
            <a:extLst>
              <a:ext uri="{FF2B5EF4-FFF2-40B4-BE49-F238E27FC236}">
                <a16:creationId xmlns:a16="http://schemas.microsoft.com/office/drawing/2014/main" id="{CB956C92-8DE8-68D1-AF7E-3F83B365A83A}"/>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A896CBA-4204-4BF8-A485-01E5EE0A3F48}" type="slidenum">
              <a:rPr lang="en-US" altLang="en-US">
                <a:solidFill>
                  <a:srgbClr val="FFFFFF"/>
                </a:solidFill>
                <a:latin typeface="Franklin Gothic Book" panose="020B0503020102020204" pitchFamily="34" charset="0"/>
              </a:rPr>
              <a:pPr/>
              <a:t>14</a:t>
            </a:fld>
            <a:endParaRPr lang="en-US" altLang="en-US">
              <a:solidFill>
                <a:srgbClr val="FFFFFF"/>
              </a:solidFill>
              <a:latin typeface="Franklin Gothic Book" panose="020B0503020102020204" pitchFamily="34" charset="0"/>
            </a:endParaRPr>
          </a:p>
        </p:txBody>
      </p:sp>
      <p:sp>
        <p:nvSpPr>
          <p:cNvPr id="512002" name="Text Box 2">
            <a:extLst>
              <a:ext uri="{FF2B5EF4-FFF2-40B4-BE49-F238E27FC236}">
                <a16:creationId xmlns:a16="http://schemas.microsoft.com/office/drawing/2014/main" id="{0AAE43AA-E236-A56E-E5AA-C44EC4C02465}"/>
              </a:ext>
            </a:extLst>
          </p:cNvPr>
          <p:cNvSpPr txBox="1">
            <a:spLocks noChangeArrowheads="1"/>
          </p:cNvSpPr>
          <p:nvPr/>
        </p:nvSpPr>
        <p:spPr bwMode="auto">
          <a:xfrm>
            <a:off x="685800" y="228600"/>
            <a:ext cx="6118225"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Data types and subtypes in MIME (Continued)</a:t>
            </a:r>
          </a:p>
        </p:txBody>
      </p:sp>
      <p:pic>
        <p:nvPicPr>
          <p:cNvPr id="20484" name="Picture 4">
            <a:extLst>
              <a:ext uri="{FF2B5EF4-FFF2-40B4-BE49-F238E27FC236}">
                <a16:creationId xmlns:a16="http://schemas.microsoft.com/office/drawing/2014/main" id="{65C6601F-27D2-C096-33F7-8EBA1460D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281988"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a:extLst>
              <a:ext uri="{FF2B5EF4-FFF2-40B4-BE49-F238E27FC236}">
                <a16:creationId xmlns:a16="http://schemas.microsoft.com/office/drawing/2014/main" id="{7EA699CC-4C68-8ADB-3B41-504F504D9E0F}"/>
              </a:ext>
            </a:extLst>
          </p:cNvPr>
          <p:cNvSpPr txBox="1">
            <a:spLocks noChangeArrowheads="1"/>
          </p:cNvSpPr>
          <p:nvPr/>
        </p:nvSpPr>
        <p:spPr bwMode="auto">
          <a:xfrm>
            <a:off x="746125" y="4908550"/>
            <a:ext cx="74533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Video: MPEG - if the video includes sound, then the sound must</a:t>
            </a:r>
          </a:p>
          <a:p>
            <a:r>
              <a:rPr lang="en-US" altLang="en-US"/>
              <a:t>be sent separately using the audio content type</a:t>
            </a:r>
          </a:p>
          <a:p>
            <a:endParaRPr lang="en-US" altLang="en-US"/>
          </a:p>
          <a:p>
            <a:r>
              <a:rPr lang="en-US" altLang="en-US"/>
              <a:t>Application: Octet-stream - used for binary files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a:extLst>
              <a:ext uri="{FF2B5EF4-FFF2-40B4-BE49-F238E27FC236}">
                <a16:creationId xmlns:a16="http://schemas.microsoft.com/office/drawing/2014/main" id="{41AA6763-31ED-4903-32F6-3E91424CADF0}"/>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140EAD0-B5B5-4C53-81E3-91B3643D58EB}" type="slidenum">
              <a:rPr lang="en-US" altLang="en-US">
                <a:solidFill>
                  <a:srgbClr val="FFFFFF"/>
                </a:solidFill>
                <a:latin typeface="Franklin Gothic Book" panose="020B0503020102020204" pitchFamily="34" charset="0"/>
              </a:rPr>
              <a:pPr/>
              <a:t>15</a:t>
            </a:fld>
            <a:endParaRPr lang="en-US" altLang="en-US">
              <a:solidFill>
                <a:srgbClr val="FFFFFF"/>
              </a:solidFill>
              <a:latin typeface="Franklin Gothic Book" panose="020B0503020102020204" pitchFamily="34" charset="0"/>
            </a:endParaRPr>
          </a:p>
        </p:txBody>
      </p:sp>
      <p:sp>
        <p:nvSpPr>
          <p:cNvPr id="505859" name="Text Box 3">
            <a:extLst>
              <a:ext uri="{FF2B5EF4-FFF2-40B4-BE49-F238E27FC236}">
                <a16:creationId xmlns:a16="http://schemas.microsoft.com/office/drawing/2014/main" id="{91AE3A44-8A99-3D14-9D4C-22FA425A06D8}"/>
              </a:ext>
            </a:extLst>
          </p:cNvPr>
          <p:cNvSpPr txBox="1">
            <a:spLocks noChangeArrowheads="1"/>
          </p:cNvSpPr>
          <p:nvPr/>
        </p:nvSpPr>
        <p:spPr bwMode="auto">
          <a:xfrm>
            <a:off x="838200" y="1752600"/>
            <a:ext cx="3570288"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Content-transfer-encoding</a:t>
            </a:r>
          </a:p>
        </p:txBody>
      </p:sp>
      <p:pic>
        <p:nvPicPr>
          <p:cNvPr id="21508" name="Picture 41">
            <a:extLst>
              <a:ext uri="{FF2B5EF4-FFF2-40B4-BE49-F238E27FC236}">
                <a16:creationId xmlns:a16="http://schemas.microsoft.com/office/drawing/2014/main" id="{16CB20A0-89F8-B734-D58E-AE2D9F7CC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14600"/>
            <a:ext cx="7769225"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42">
            <a:extLst>
              <a:ext uri="{FF2B5EF4-FFF2-40B4-BE49-F238E27FC236}">
                <a16:creationId xmlns:a16="http://schemas.microsoft.com/office/drawing/2014/main" id="{CC05FDCE-0D08-E756-1BDF-9EB3CB6542B4}"/>
              </a:ext>
            </a:extLst>
          </p:cNvPr>
          <p:cNvSpPr txBox="1">
            <a:spLocks noChangeArrowheads="1"/>
          </p:cNvSpPr>
          <p:nvPr/>
        </p:nvSpPr>
        <p:spPr bwMode="auto">
          <a:xfrm>
            <a:off x="822325" y="488950"/>
            <a:ext cx="7791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The next header defines the method used to encode the messages</a:t>
            </a:r>
          </a:p>
          <a:p>
            <a:r>
              <a:rPr lang="en-US" altLang="en-US"/>
              <a:t>into 0s and 1s for transport.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08965693-808D-2D35-60D5-AEB448748BC7}"/>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2AFFC51-6FC5-4327-A38C-824220218427}" type="slidenum">
              <a:rPr lang="en-US" altLang="en-US">
                <a:solidFill>
                  <a:srgbClr val="FFFFFF"/>
                </a:solidFill>
                <a:latin typeface="Franklin Gothic Book" panose="020B0503020102020204" pitchFamily="34" charset="0"/>
              </a:rPr>
              <a:pPr/>
              <a:t>16</a:t>
            </a:fld>
            <a:endParaRPr lang="en-US" altLang="en-US">
              <a:solidFill>
                <a:srgbClr val="FFFFFF"/>
              </a:solidFill>
              <a:latin typeface="Franklin Gothic Book" panose="020B0503020102020204" pitchFamily="34" charset="0"/>
            </a:endParaRPr>
          </a:p>
        </p:txBody>
      </p:sp>
      <p:sp>
        <p:nvSpPr>
          <p:cNvPr id="22531" name="Text Box 2">
            <a:extLst>
              <a:ext uri="{FF2B5EF4-FFF2-40B4-BE49-F238E27FC236}">
                <a16:creationId xmlns:a16="http://schemas.microsoft.com/office/drawing/2014/main" id="{73396645-E1E5-8ABC-EB8A-72A357AD5183}"/>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Base64</a:t>
            </a:r>
          </a:p>
        </p:txBody>
      </p:sp>
      <p:sp>
        <p:nvSpPr>
          <p:cNvPr id="22532" name="Rectangle 3">
            <a:extLst>
              <a:ext uri="{FF2B5EF4-FFF2-40B4-BE49-F238E27FC236}">
                <a16:creationId xmlns:a16="http://schemas.microsoft.com/office/drawing/2014/main" id="{8A40134A-A0DB-7213-EFD8-E0F40B44E25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3" name="Rectangle 4">
            <a:extLst>
              <a:ext uri="{FF2B5EF4-FFF2-40B4-BE49-F238E27FC236}">
                <a16:creationId xmlns:a16="http://schemas.microsoft.com/office/drawing/2014/main" id="{95ED5435-1D8F-5329-2720-43BC3ABDCA4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4" name="Rectangle 5">
            <a:extLst>
              <a:ext uri="{FF2B5EF4-FFF2-40B4-BE49-F238E27FC236}">
                <a16:creationId xmlns:a16="http://schemas.microsoft.com/office/drawing/2014/main" id="{894D45F3-8C23-EFF8-4F92-6706069D54C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5" name="Rectangle 6">
            <a:extLst>
              <a:ext uri="{FF2B5EF4-FFF2-40B4-BE49-F238E27FC236}">
                <a16:creationId xmlns:a16="http://schemas.microsoft.com/office/drawing/2014/main" id="{894B3D41-4999-482F-E87E-883840C86B7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6" name="Rectangle 7">
            <a:extLst>
              <a:ext uri="{FF2B5EF4-FFF2-40B4-BE49-F238E27FC236}">
                <a16:creationId xmlns:a16="http://schemas.microsoft.com/office/drawing/2014/main" id="{873425A9-FFBB-0AA6-C48E-E099BCE4841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7" name="Rectangle 8">
            <a:extLst>
              <a:ext uri="{FF2B5EF4-FFF2-40B4-BE49-F238E27FC236}">
                <a16:creationId xmlns:a16="http://schemas.microsoft.com/office/drawing/2014/main" id="{15AA5ABA-CF2C-226E-A9F1-04B7B01FA95A}"/>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8" name="Rectangle 9">
            <a:extLst>
              <a:ext uri="{FF2B5EF4-FFF2-40B4-BE49-F238E27FC236}">
                <a16:creationId xmlns:a16="http://schemas.microsoft.com/office/drawing/2014/main" id="{8A9ED9A3-57ED-5902-72F1-10143824991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2539" name="Picture 10">
            <a:extLst>
              <a:ext uri="{FF2B5EF4-FFF2-40B4-BE49-F238E27FC236}">
                <a16:creationId xmlns:a16="http://schemas.microsoft.com/office/drawing/2014/main" id="{9D2CEDBB-A32B-0E57-5C4D-4A49CF120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525" y="1268413"/>
            <a:ext cx="7091363"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0" name="Text Box 11">
            <a:extLst>
              <a:ext uri="{FF2B5EF4-FFF2-40B4-BE49-F238E27FC236}">
                <a16:creationId xmlns:a16="http://schemas.microsoft.com/office/drawing/2014/main" id="{716CFBBC-A31A-CCA8-51A4-957B862948A9}"/>
              </a:ext>
            </a:extLst>
          </p:cNvPr>
          <p:cNvSpPr txBox="1">
            <a:spLocks noChangeArrowheads="1"/>
          </p:cNvSpPr>
          <p:nvPr/>
        </p:nvSpPr>
        <p:spPr bwMode="auto">
          <a:xfrm>
            <a:off x="365125" y="3636963"/>
            <a:ext cx="202247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600"/>
              <a:t>These values here</a:t>
            </a:r>
          </a:p>
          <a:p>
            <a:r>
              <a:rPr lang="en-US" altLang="en-US" sz="1600"/>
              <a:t>come from the</a:t>
            </a:r>
          </a:p>
          <a:p>
            <a:r>
              <a:rPr lang="en-US" altLang="en-US" sz="1600"/>
              <a:t>table on the next</a:t>
            </a:r>
          </a:p>
          <a:p>
            <a:r>
              <a:rPr lang="en-US" altLang="en-US" sz="1600"/>
              <a:t>slide.</a:t>
            </a:r>
          </a:p>
        </p:txBody>
      </p:sp>
      <p:sp>
        <p:nvSpPr>
          <p:cNvPr id="22541" name="Line 12">
            <a:extLst>
              <a:ext uri="{FF2B5EF4-FFF2-40B4-BE49-F238E27FC236}">
                <a16:creationId xmlns:a16="http://schemas.microsoft.com/office/drawing/2014/main" id="{D747E181-A11F-F743-162C-1657CB1E1E88}"/>
              </a:ext>
            </a:extLst>
          </p:cNvPr>
          <p:cNvSpPr>
            <a:spLocks noChangeShapeType="1"/>
          </p:cNvSpPr>
          <p:nvPr/>
        </p:nvSpPr>
        <p:spPr bwMode="auto">
          <a:xfrm>
            <a:off x="1524000" y="4495800"/>
            <a:ext cx="1066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2">
            <a:extLst>
              <a:ext uri="{FF2B5EF4-FFF2-40B4-BE49-F238E27FC236}">
                <a16:creationId xmlns:a16="http://schemas.microsoft.com/office/drawing/2014/main" id="{D3F355DD-869A-6A60-0684-A5AD5DD58CD8}"/>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5171E53-6B12-4E28-B889-1852B8B6DC5B}" type="slidenum">
              <a:rPr lang="en-US" altLang="en-US">
                <a:solidFill>
                  <a:srgbClr val="FFFFFF"/>
                </a:solidFill>
                <a:latin typeface="Franklin Gothic Book" panose="020B0503020102020204" pitchFamily="34" charset="0"/>
              </a:rPr>
              <a:pPr/>
              <a:t>17</a:t>
            </a:fld>
            <a:endParaRPr lang="en-US" altLang="en-US">
              <a:solidFill>
                <a:srgbClr val="FFFFFF"/>
              </a:solidFill>
              <a:latin typeface="Franklin Gothic Book" panose="020B0503020102020204" pitchFamily="34" charset="0"/>
            </a:endParaRPr>
          </a:p>
        </p:txBody>
      </p:sp>
      <p:sp>
        <p:nvSpPr>
          <p:cNvPr id="506883" name="Text Box 3">
            <a:extLst>
              <a:ext uri="{FF2B5EF4-FFF2-40B4-BE49-F238E27FC236}">
                <a16:creationId xmlns:a16="http://schemas.microsoft.com/office/drawing/2014/main" id="{6BC7EE91-EFB9-7F18-B71F-A7111BD0D78A}"/>
              </a:ext>
            </a:extLst>
          </p:cNvPr>
          <p:cNvSpPr txBox="1">
            <a:spLocks noChangeArrowheads="1"/>
          </p:cNvSpPr>
          <p:nvPr/>
        </p:nvSpPr>
        <p:spPr bwMode="auto">
          <a:xfrm>
            <a:off x="368300" y="838200"/>
            <a:ext cx="3038475"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Base64 encoding table</a:t>
            </a:r>
          </a:p>
        </p:txBody>
      </p:sp>
      <p:pic>
        <p:nvPicPr>
          <p:cNvPr id="23556" name="Picture 41">
            <a:extLst>
              <a:ext uri="{FF2B5EF4-FFF2-40B4-BE49-F238E27FC236}">
                <a16:creationId xmlns:a16="http://schemas.microsoft.com/office/drawing/2014/main" id="{07EEEF45-C57C-CB27-4CC4-53D2BBD1D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371600"/>
            <a:ext cx="8775700" cy="410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2">
            <a:extLst>
              <a:ext uri="{FF2B5EF4-FFF2-40B4-BE49-F238E27FC236}">
                <a16:creationId xmlns:a16="http://schemas.microsoft.com/office/drawing/2014/main" id="{3D5C0748-1429-A1BB-A8DA-EF940E1EE526}"/>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6EF7D22-C415-415E-9697-7065101F4C0C}" type="slidenum">
              <a:rPr lang="en-US" altLang="en-US">
                <a:solidFill>
                  <a:srgbClr val="FFFFFF"/>
                </a:solidFill>
                <a:latin typeface="Franklin Gothic Book" panose="020B0503020102020204" pitchFamily="34" charset="0"/>
              </a:rPr>
              <a:pPr/>
              <a:t>18</a:t>
            </a:fld>
            <a:endParaRPr lang="en-US" altLang="en-US">
              <a:solidFill>
                <a:srgbClr val="FFFFFF"/>
              </a:solidFill>
              <a:latin typeface="Franklin Gothic Book" panose="020B0503020102020204" pitchFamily="34" charset="0"/>
            </a:endParaRPr>
          </a:p>
        </p:txBody>
      </p:sp>
      <p:sp>
        <p:nvSpPr>
          <p:cNvPr id="24579" name="Text Box 2">
            <a:extLst>
              <a:ext uri="{FF2B5EF4-FFF2-40B4-BE49-F238E27FC236}">
                <a16:creationId xmlns:a16="http://schemas.microsoft.com/office/drawing/2014/main" id="{BB4935BA-5E92-FF7D-B56A-55441AD6CE3B}"/>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Quoted-printable</a:t>
            </a:r>
          </a:p>
        </p:txBody>
      </p:sp>
      <p:sp>
        <p:nvSpPr>
          <p:cNvPr id="24580" name="Rectangle 3">
            <a:extLst>
              <a:ext uri="{FF2B5EF4-FFF2-40B4-BE49-F238E27FC236}">
                <a16:creationId xmlns:a16="http://schemas.microsoft.com/office/drawing/2014/main" id="{B0D7DF7D-6DC7-057D-1046-BDC71566A1B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1" name="Rectangle 4">
            <a:extLst>
              <a:ext uri="{FF2B5EF4-FFF2-40B4-BE49-F238E27FC236}">
                <a16:creationId xmlns:a16="http://schemas.microsoft.com/office/drawing/2014/main" id="{7A54D390-F781-5B6B-B240-0EB72C5C248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2" name="Rectangle 5">
            <a:extLst>
              <a:ext uri="{FF2B5EF4-FFF2-40B4-BE49-F238E27FC236}">
                <a16:creationId xmlns:a16="http://schemas.microsoft.com/office/drawing/2014/main" id="{C2CDD791-AF0E-2031-567F-88AC098830E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3" name="Rectangle 6">
            <a:extLst>
              <a:ext uri="{FF2B5EF4-FFF2-40B4-BE49-F238E27FC236}">
                <a16:creationId xmlns:a16="http://schemas.microsoft.com/office/drawing/2014/main" id="{B7F19AFE-660E-9A04-1187-C6F351C71A1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4" name="Rectangle 7">
            <a:extLst>
              <a:ext uri="{FF2B5EF4-FFF2-40B4-BE49-F238E27FC236}">
                <a16:creationId xmlns:a16="http://schemas.microsoft.com/office/drawing/2014/main" id="{F32FFFBE-C62F-0381-F8C7-10DEDB7E470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5" name="Rectangle 8">
            <a:extLst>
              <a:ext uri="{FF2B5EF4-FFF2-40B4-BE49-F238E27FC236}">
                <a16:creationId xmlns:a16="http://schemas.microsoft.com/office/drawing/2014/main" id="{CE7E837C-5C52-73E6-7C6B-5F6EB21312D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4586" name="Rectangle 9">
            <a:extLst>
              <a:ext uri="{FF2B5EF4-FFF2-40B4-BE49-F238E27FC236}">
                <a16:creationId xmlns:a16="http://schemas.microsoft.com/office/drawing/2014/main" id="{0B93116A-6F5A-BA3F-5CD9-11AD30D963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4587" name="Picture 10">
            <a:extLst>
              <a:ext uri="{FF2B5EF4-FFF2-40B4-BE49-F238E27FC236}">
                <a16:creationId xmlns:a16="http://schemas.microsoft.com/office/drawing/2014/main" id="{3FDE6EA9-21FE-F244-33F5-BA9EA1835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057400"/>
            <a:ext cx="7924800" cy="373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8" name="Text Box 11">
            <a:extLst>
              <a:ext uri="{FF2B5EF4-FFF2-40B4-BE49-F238E27FC236}">
                <a16:creationId xmlns:a16="http://schemas.microsoft.com/office/drawing/2014/main" id="{23F3724F-DBD8-5870-BC79-794D62AF0922}"/>
              </a:ext>
            </a:extLst>
          </p:cNvPr>
          <p:cNvSpPr txBox="1">
            <a:spLocks noChangeArrowheads="1"/>
          </p:cNvSpPr>
          <p:nvPr/>
        </p:nvSpPr>
        <p:spPr bwMode="auto">
          <a:xfrm>
            <a:off x="1355725" y="717550"/>
            <a:ext cx="633253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Base-64 has a 25% overhead.  If the data has a high</a:t>
            </a:r>
          </a:p>
          <a:p>
            <a:r>
              <a:rPr lang="en-US" altLang="en-US"/>
              <a:t>percentage of ASCII characters already, then use this</a:t>
            </a:r>
          </a:p>
          <a:p>
            <a:r>
              <a:rPr lang="en-US" altLang="en-US"/>
              <a:t>technique.  (Not as common as Base-64.)</a:t>
            </a:r>
          </a:p>
        </p:txBody>
      </p:sp>
      <p:sp>
        <p:nvSpPr>
          <p:cNvPr id="24589" name="Text Box 12">
            <a:extLst>
              <a:ext uri="{FF2B5EF4-FFF2-40B4-BE49-F238E27FC236}">
                <a16:creationId xmlns:a16="http://schemas.microsoft.com/office/drawing/2014/main" id="{5FCA9548-3DDF-48E2-FFA0-1BAABDEA85F3}"/>
              </a:ext>
            </a:extLst>
          </p:cNvPr>
          <p:cNvSpPr txBox="1">
            <a:spLocks noChangeArrowheads="1"/>
          </p:cNvSpPr>
          <p:nvPr/>
        </p:nvSpPr>
        <p:spPr bwMode="auto">
          <a:xfrm>
            <a:off x="1981200" y="5791200"/>
            <a:ext cx="6049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 sign (not a 5) 	9D is ASCII rep of hex data</a:t>
            </a:r>
          </a:p>
        </p:txBody>
      </p:sp>
      <p:sp>
        <p:nvSpPr>
          <p:cNvPr id="24590" name="Line 14">
            <a:extLst>
              <a:ext uri="{FF2B5EF4-FFF2-40B4-BE49-F238E27FC236}">
                <a16:creationId xmlns:a16="http://schemas.microsoft.com/office/drawing/2014/main" id="{A4F5CECE-2009-E134-2078-75E116FA920D}"/>
              </a:ext>
            </a:extLst>
          </p:cNvPr>
          <p:cNvSpPr>
            <a:spLocks noChangeShapeType="1"/>
          </p:cNvSpPr>
          <p:nvPr/>
        </p:nvSpPr>
        <p:spPr bwMode="auto">
          <a:xfrm flipV="1">
            <a:off x="3048000" y="5486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2">
            <a:extLst>
              <a:ext uri="{FF2B5EF4-FFF2-40B4-BE49-F238E27FC236}">
                <a16:creationId xmlns:a16="http://schemas.microsoft.com/office/drawing/2014/main" id="{468B1399-027A-7F0C-F2C3-078B897C711E}"/>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CC4007E-B7F5-48CF-A47A-E0F0E90FB764}" type="slidenum">
              <a:rPr lang="en-US" altLang="en-US">
                <a:solidFill>
                  <a:srgbClr val="FFFFFF"/>
                </a:solidFill>
                <a:latin typeface="Franklin Gothic Book" panose="020B0503020102020204" pitchFamily="34" charset="0"/>
              </a:rPr>
              <a:pPr/>
              <a:t>19</a:t>
            </a:fld>
            <a:endParaRPr lang="en-US" altLang="en-US">
              <a:solidFill>
                <a:srgbClr val="FFFFFF"/>
              </a:solidFill>
              <a:latin typeface="Franklin Gothic Book" panose="020B0503020102020204" pitchFamily="34" charset="0"/>
            </a:endParaRPr>
          </a:p>
        </p:txBody>
      </p:sp>
      <p:sp>
        <p:nvSpPr>
          <p:cNvPr id="25603" name="Text Box 2">
            <a:extLst>
              <a:ext uri="{FF2B5EF4-FFF2-40B4-BE49-F238E27FC236}">
                <a16:creationId xmlns:a16="http://schemas.microsoft.com/office/drawing/2014/main" id="{098BB954-33AB-54C8-CC3A-F6B64EABDE7C}"/>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SMTP range</a:t>
            </a:r>
          </a:p>
        </p:txBody>
      </p:sp>
      <p:sp>
        <p:nvSpPr>
          <p:cNvPr id="25604" name="Rectangle 3">
            <a:extLst>
              <a:ext uri="{FF2B5EF4-FFF2-40B4-BE49-F238E27FC236}">
                <a16:creationId xmlns:a16="http://schemas.microsoft.com/office/drawing/2014/main" id="{DC5CA384-EF61-D57B-D810-EAF581FF686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05" name="Rectangle 4">
            <a:extLst>
              <a:ext uri="{FF2B5EF4-FFF2-40B4-BE49-F238E27FC236}">
                <a16:creationId xmlns:a16="http://schemas.microsoft.com/office/drawing/2014/main" id="{A3982F6B-63AD-2FEB-DFB1-043D331CC56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06" name="Rectangle 5">
            <a:extLst>
              <a:ext uri="{FF2B5EF4-FFF2-40B4-BE49-F238E27FC236}">
                <a16:creationId xmlns:a16="http://schemas.microsoft.com/office/drawing/2014/main" id="{56C064C5-67FD-CD3B-00BC-7C2CAD5AA41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07" name="Rectangle 6">
            <a:extLst>
              <a:ext uri="{FF2B5EF4-FFF2-40B4-BE49-F238E27FC236}">
                <a16:creationId xmlns:a16="http://schemas.microsoft.com/office/drawing/2014/main" id="{61815B5E-EAF9-F552-1702-DA06D3C286E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08" name="Rectangle 7">
            <a:extLst>
              <a:ext uri="{FF2B5EF4-FFF2-40B4-BE49-F238E27FC236}">
                <a16:creationId xmlns:a16="http://schemas.microsoft.com/office/drawing/2014/main" id="{DE35EC9E-F09F-9F0E-E1E3-48D3C5F6D6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09" name="Rectangle 8">
            <a:extLst>
              <a:ext uri="{FF2B5EF4-FFF2-40B4-BE49-F238E27FC236}">
                <a16:creationId xmlns:a16="http://schemas.microsoft.com/office/drawing/2014/main" id="{BA50D21D-4D25-5B3C-E34C-789768C435D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5610" name="Rectangle 9">
            <a:extLst>
              <a:ext uri="{FF2B5EF4-FFF2-40B4-BE49-F238E27FC236}">
                <a16:creationId xmlns:a16="http://schemas.microsoft.com/office/drawing/2014/main" id="{D913FFFD-73B9-0422-5815-15B60435B6B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5611" name="Picture 10">
            <a:extLst>
              <a:ext uri="{FF2B5EF4-FFF2-40B4-BE49-F238E27FC236}">
                <a16:creationId xmlns:a16="http://schemas.microsoft.com/office/drawing/2014/main" id="{BF8EF363-38F9-5F6F-A908-E68A24611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5" y="2057400"/>
            <a:ext cx="7997825"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Text Box 11">
            <a:extLst>
              <a:ext uri="{FF2B5EF4-FFF2-40B4-BE49-F238E27FC236}">
                <a16:creationId xmlns:a16="http://schemas.microsoft.com/office/drawing/2014/main" id="{A69C7C02-43C4-71EA-F2C6-414D21D80068}"/>
              </a:ext>
            </a:extLst>
          </p:cNvPr>
          <p:cNvSpPr txBox="1">
            <a:spLocks noChangeArrowheads="1"/>
          </p:cNvSpPr>
          <p:nvPr/>
        </p:nvSpPr>
        <p:spPr bwMode="auto">
          <a:xfrm>
            <a:off x="1431925" y="946150"/>
            <a:ext cx="71993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SMTP is used once between Sender and Sender’s mail server,</a:t>
            </a:r>
          </a:p>
          <a:p>
            <a:r>
              <a:rPr lang="en-US" altLang="en-US"/>
              <a:t>and then again between the two mail servers.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2">
            <a:extLst>
              <a:ext uri="{FF2B5EF4-FFF2-40B4-BE49-F238E27FC236}">
                <a16:creationId xmlns:a16="http://schemas.microsoft.com/office/drawing/2014/main" id="{1268A2EB-681C-DB32-BAA6-2074369565F7}"/>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641EEC8-B34B-4EAE-B14D-232150C64F19}" type="slidenum">
              <a:rPr lang="en-US" altLang="en-US">
                <a:solidFill>
                  <a:srgbClr val="FFFFFF"/>
                </a:solidFill>
                <a:latin typeface="Franklin Gothic Book" panose="020B0503020102020204" pitchFamily="34" charset="0"/>
              </a:rPr>
              <a:pPr/>
              <a:t>20</a:t>
            </a:fld>
            <a:endParaRPr lang="en-US" altLang="en-US">
              <a:solidFill>
                <a:srgbClr val="FFFFFF"/>
              </a:solidFill>
              <a:latin typeface="Franklin Gothic Book" panose="020B0503020102020204" pitchFamily="34" charset="0"/>
            </a:endParaRPr>
          </a:p>
        </p:txBody>
      </p:sp>
      <p:sp>
        <p:nvSpPr>
          <p:cNvPr id="26627" name="Text Box 2">
            <a:extLst>
              <a:ext uri="{FF2B5EF4-FFF2-40B4-BE49-F238E27FC236}">
                <a16:creationId xmlns:a16="http://schemas.microsoft.com/office/drawing/2014/main" id="{2CE1C126-D7DB-1E12-9E65-CA39655D4CF2}"/>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Commands and responses</a:t>
            </a:r>
          </a:p>
        </p:txBody>
      </p:sp>
      <p:sp>
        <p:nvSpPr>
          <p:cNvPr id="26628" name="Rectangle 3">
            <a:extLst>
              <a:ext uri="{FF2B5EF4-FFF2-40B4-BE49-F238E27FC236}">
                <a16:creationId xmlns:a16="http://schemas.microsoft.com/office/drawing/2014/main" id="{49BCB186-26FC-C46E-F3B3-C3966F08254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29" name="Rectangle 4">
            <a:extLst>
              <a:ext uri="{FF2B5EF4-FFF2-40B4-BE49-F238E27FC236}">
                <a16:creationId xmlns:a16="http://schemas.microsoft.com/office/drawing/2014/main" id="{C3D3BFE9-021B-DA41-E421-6E0B06C2008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0" name="Rectangle 5">
            <a:extLst>
              <a:ext uri="{FF2B5EF4-FFF2-40B4-BE49-F238E27FC236}">
                <a16:creationId xmlns:a16="http://schemas.microsoft.com/office/drawing/2014/main" id="{3F45429D-567D-869B-62BE-A0160D4A6661}"/>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1" name="Rectangle 6">
            <a:extLst>
              <a:ext uri="{FF2B5EF4-FFF2-40B4-BE49-F238E27FC236}">
                <a16:creationId xmlns:a16="http://schemas.microsoft.com/office/drawing/2014/main" id="{1A6CB433-89D0-AAFB-0BCC-4BA15B5C157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2" name="Rectangle 7">
            <a:extLst>
              <a:ext uri="{FF2B5EF4-FFF2-40B4-BE49-F238E27FC236}">
                <a16:creationId xmlns:a16="http://schemas.microsoft.com/office/drawing/2014/main" id="{BA33D4F3-AE78-A2BC-0994-B1BEBB91DA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3" name="Rectangle 8">
            <a:extLst>
              <a:ext uri="{FF2B5EF4-FFF2-40B4-BE49-F238E27FC236}">
                <a16:creationId xmlns:a16="http://schemas.microsoft.com/office/drawing/2014/main" id="{5DC75831-7318-D058-6D69-0A2E4624804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4" name="Rectangle 9">
            <a:extLst>
              <a:ext uri="{FF2B5EF4-FFF2-40B4-BE49-F238E27FC236}">
                <a16:creationId xmlns:a16="http://schemas.microsoft.com/office/drawing/2014/main" id="{C890A357-3413-67C5-F8B8-6E092A46CC8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6635" name="Picture 10">
            <a:extLst>
              <a:ext uri="{FF2B5EF4-FFF2-40B4-BE49-F238E27FC236}">
                <a16:creationId xmlns:a16="http://schemas.microsoft.com/office/drawing/2014/main" id="{06D14B7D-5824-BB96-21D7-F4961C08B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28800"/>
            <a:ext cx="704850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Text Box 11">
            <a:extLst>
              <a:ext uri="{FF2B5EF4-FFF2-40B4-BE49-F238E27FC236}">
                <a16:creationId xmlns:a16="http://schemas.microsoft.com/office/drawing/2014/main" id="{7D6E6D39-5B11-5341-058F-33BAC88F91B7}"/>
              </a:ext>
            </a:extLst>
          </p:cNvPr>
          <p:cNvSpPr txBox="1">
            <a:spLocks noChangeArrowheads="1"/>
          </p:cNvSpPr>
          <p:nvPr/>
        </p:nvSpPr>
        <p:spPr bwMode="auto">
          <a:xfrm>
            <a:off x="838200" y="1219200"/>
            <a:ext cx="7446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Commands are sent from client to server; responses vice versa.</a:t>
            </a:r>
          </a:p>
        </p:txBody>
      </p:sp>
      <p:sp>
        <p:nvSpPr>
          <p:cNvPr id="26637" name="Text Box 12">
            <a:extLst>
              <a:ext uri="{FF2B5EF4-FFF2-40B4-BE49-F238E27FC236}">
                <a16:creationId xmlns:a16="http://schemas.microsoft.com/office/drawing/2014/main" id="{857194A4-C353-AC11-2CDD-4DA5FD0EF135}"/>
              </a:ext>
            </a:extLst>
          </p:cNvPr>
          <p:cNvSpPr txBox="1">
            <a:spLocks noChangeArrowheads="1"/>
          </p:cNvSpPr>
          <p:nvPr/>
        </p:nvSpPr>
        <p:spPr bwMode="auto">
          <a:xfrm>
            <a:off x="974725" y="3079750"/>
            <a:ext cx="738505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Commands consist of keyword followed by zero or more</a:t>
            </a:r>
          </a:p>
          <a:p>
            <a:r>
              <a:rPr lang="en-US" altLang="en-US"/>
              <a:t>arguments.</a:t>
            </a:r>
          </a:p>
          <a:p>
            <a:endParaRPr lang="en-US" altLang="en-US"/>
          </a:p>
          <a:p>
            <a:r>
              <a:rPr lang="en-US" altLang="en-US"/>
              <a:t>14 different commands.  First 5 are required by all institutions.</a:t>
            </a:r>
          </a:p>
          <a:p>
            <a:endParaRPr lang="en-US" altLang="en-US"/>
          </a:p>
          <a:p>
            <a:r>
              <a:rPr lang="en-US" altLang="en-US"/>
              <a:t>Next 3 are often used and highly recommended.</a:t>
            </a:r>
          </a:p>
          <a:p>
            <a:endParaRPr lang="en-US" altLang="en-US"/>
          </a:p>
          <a:p>
            <a:r>
              <a:rPr lang="en-US" altLang="en-US"/>
              <a:t>Last 6 are seldom used.</a:t>
            </a:r>
          </a:p>
          <a:p>
            <a:endParaRPr lang="en-US" altLang="en-US"/>
          </a:p>
          <a:p>
            <a:r>
              <a:rPr lang="en-US" altLang="en-US"/>
              <a:t>And the commands are……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2">
            <a:extLst>
              <a:ext uri="{FF2B5EF4-FFF2-40B4-BE49-F238E27FC236}">
                <a16:creationId xmlns:a16="http://schemas.microsoft.com/office/drawing/2014/main" id="{F6C56D2C-D597-FC39-1885-0CA0191F0B62}"/>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6EE3BD4-04C5-4DD5-BE12-4ED01E227BA1}" type="slidenum">
              <a:rPr lang="en-US" altLang="en-US">
                <a:solidFill>
                  <a:srgbClr val="FFFFFF"/>
                </a:solidFill>
                <a:latin typeface="Franklin Gothic Book" panose="020B0503020102020204" pitchFamily="34" charset="0"/>
              </a:rPr>
              <a:pPr/>
              <a:t>21</a:t>
            </a:fld>
            <a:endParaRPr lang="en-US" altLang="en-US">
              <a:solidFill>
                <a:srgbClr val="FFFFFF"/>
              </a:solidFill>
              <a:latin typeface="Franklin Gothic Book" panose="020B0503020102020204" pitchFamily="34" charset="0"/>
            </a:endParaRPr>
          </a:p>
        </p:txBody>
      </p:sp>
      <p:sp>
        <p:nvSpPr>
          <p:cNvPr id="507907" name="Text Box 3">
            <a:extLst>
              <a:ext uri="{FF2B5EF4-FFF2-40B4-BE49-F238E27FC236}">
                <a16:creationId xmlns:a16="http://schemas.microsoft.com/office/drawing/2014/main" id="{B5631278-28F1-06D5-350F-30835EE3609A}"/>
              </a:ext>
            </a:extLst>
          </p:cNvPr>
          <p:cNvSpPr txBox="1">
            <a:spLocks noChangeArrowheads="1"/>
          </p:cNvSpPr>
          <p:nvPr/>
        </p:nvSpPr>
        <p:spPr bwMode="auto">
          <a:xfrm>
            <a:off x="2103438" y="228600"/>
            <a:ext cx="1620837"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Commands</a:t>
            </a:r>
          </a:p>
        </p:txBody>
      </p:sp>
      <p:pic>
        <p:nvPicPr>
          <p:cNvPr id="27652" name="Picture 41">
            <a:extLst>
              <a:ext uri="{FF2B5EF4-FFF2-40B4-BE49-F238E27FC236}">
                <a16:creationId xmlns:a16="http://schemas.microsoft.com/office/drawing/2014/main" id="{13FB0A1E-EB24-A290-A2B5-92FEA9C26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650875"/>
            <a:ext cx="5283200" cy="567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2">
            <a:extLst>
              <a:ext uri="{FF2B5EF4-FFF2-40B4-BE49-F238E27FC236}">
                <a16:creationId xmlns:a16="http://schemas.microsoft.com/office/drawing/2014/main" id="{98E5D3D2-AF43-5EB8-3924-45C7E0EB0BD6}"/>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5C61305-6D5E-44AB-806F-EECC017ED8CF}" type="slidenum">
              <a:rPr lang="en-US" altLang="en-US">
                <a:solidFill>
                  <a:srgbClr val="FFFFFF"/>
                </a:solidFill>
                <a:latin typeface="Franklin Gothic Book" panose="020B0503020102020204" pitchFamily="34" charset="0"/>
              </a:rPr>
              <a:pPr/>
              <a:t>22</a:t>
            </a:fld>
            <a:endParaRPr lang="en-US" altLang="en-US">
              <a:solidFill>
                <a:srgbClr val="FFFFFF"/>
              </a:solidFill>
              <a:latin typeface="Franklin Gothic Book" panose="020B0503020102020204" pitchFamily="34" charset="0"/>
            </a:endParaRPr>
          </a:p>
        </p:txBody>
      </p:sp>
      <p:sp>
        <p:nvSpPr>
          <p:cNvPr id="518146" name="Text Box 2">
            <a:extLst>
              <a:ext uri="{FF2B5EF4-FFF2-40B4-BE49-F238E27FC236}">
                <a16:creationId xmlns:a16="http://schemas.microsoft.com/office/drawing/2014/main" id="{B39F000A-8F4E-693E-BA12-02B038440F28}"/>
              </a:ext>
            </a:extLst>
          </p:cNvPr>
          <p:cNvSpPr txBox="1">
            <a:spLocks noChangeArrowheads="1"/>
          </p:cNvSpPr>
          <p:nvPr/>
        </p:nvSpPr>
        <p:spPr bwMode="auto">
          <a:xfrm>
            <a:off x="2103438" y="228600"/>
            <a:ext cx="1620837"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Commands</a:t>
            </a:r>
          </a:p>
        </p:txBody>
      </p:sp>
      <p:sp>
        <p:nvSpPr>
          <p:cNvPr id="28676" name="Text Box 4">
            <a:extLst>
              <a:ext uri="{FF2B5EF4-FFF2-40B4-BE49-F238E27FC236}">
                <a16:creationId xmlns:a16="http://schemas.microsoft.com/office/drawing/2014/main" id="{A987DAD2-3A9B-CD5F-4EE1-9B91B95D59C3}"/>
              </a:ext>
            </a:extLst>
          </p:cNvPr>
          <p:cNvSpPr txBox="1">
            <a:spLocks noChangeArrowheads="1"/>
          </p:cNvSpPr>
          <p:nvPr/>
        </p:nvSpPr>
        <p:spPr bwMode="auto">
          <a:xfrm>
            <a:off x="990600" y="990600"/>
            <a:ext cx="6911975" cy="476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HELO - used by client to identify himself.  The argument</a:t>
            </a:r>
          </a:p>
          <a:p>
            <a:r>
              <a:rPr lang="en-US" altLang="en-US"/>
              <a:t>is the domain name of the client host.</a:t>
            </a:r>
          </a:p>
          <a:p>
            <a:r>
              <a:rPr lang="en-US" altLang="en-US"/>
              <a:t>HELO: cs.depaul.edu</a:t>
            </a:r>
          </a:p>
          <a:p>
            <a:endParaRPr lang="en-US" altLang="en-US"/>
          </a:p>
          <a:p>
            <a:r>
              <a:rPr lang="en-US" altLang="en-US"/>
              <a:t>MAIL FROM - Used to identify the sender of the message</a:t>
            </a:r>
          </a:p>
          <a:p>
            <a:r>
              <a:rPr lang="en-US" altLang="en-US"/>
              <a:t>MAIL FROM:cwhite@cs.depaul.edu</a:t>
            </a:r>
          </a:p>
          <a:p>
            <a:endParaRPr lang="en-US" altLang="en-US"/>
          </a:p>
          <a:p>
            <a:r>
              <a:rPr lang="en-US" altLang="en-US"/>
              <a:t>RCPT TO - used by client to identify the intended recipient</a:t>
            </a:r>
          </a:p>
          <a:p>
            <a:r>
              <a:rPr lang="en-US" altLang="en-US"/>
              <a:t>of the message.  If multiple recipients, the command is</a:t>
            </a:r>
          </a:p>
          <a:p>
            <a:r>
              <a:rPr lang="en-US" altLang="en-US"/>
              <a:t>repeated.</a:t>
            </a:r>
          </a:p>
          <a:p>
            <a:r>
              <a:rPr lang="en-US" altLang="en-US"/>
              <a:t>RCPT TO: myers@trinity.edu</a:t>
            </a:r>
          </a:p>
          <a:p>
            <a:endParaRPr lang="en-US" altLang="en-US"/>
          </a:p>
          <a:p>
            <a:r>
              <a:rPr lang="en-US" altLang="en-US"/>
              <a:t>DATA - all lines that follow the DATA command are treated</a:t>
            </a:r>
          </a:p>
          <a:p>
            <a:r>
              <a:rPr lang="en-US" altLang="en-US"/>
              <a:t>as the mail message.  The message is terminated by a line</a:t>
            </a:r>
          </a:p>
          <a:p>
            <a:r>
              <a:rPr lang="en-US" altLang="en-US"/>
              <a:t>containing just one period.</a:t>
            </a:r>
          </a:p>
          <a:p>
            <a:endParaRPr lang="en-US" altLang="en-US"/>
          </a:p>
          <a:p>
            <a:r>
              <a:rPr lang="en-US" altLang="en-US"/>
              <a:t>QUIT - this command terminates the message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23C0853F-1F80-72B9-C04B-E18768F809F5}"/>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5A75F65-D036-494B-8F46-D4B55F545809}" type="slidenum">
              <a:rPr lang="en-US" altLang="en-US">
                <a:solidFill>
                  <a:srgbClr val="FFFFFF"/>
                </a:solidFill>
                <a:latin typeface="Franklin Gothic Book" panose="020B0503020102020204" pitchFamily="34" charset="0"/>
              </a:rPr>
              <a:pPr/>
              <a:t>23</a:t>
            </a:fld>
            <a:endParaRPr lang="en-US" altLang="en-US">
              <a:solidFill>
                <a:srgbClr val="FFFFFF"/>
              </a:solidFill>
              <a:latin typeface="Franklin Gothic Book" panose="020B0503020102020204" pitchFamily="34" charset="0"/>
            </a:endParaRPr>
          </a:p>
        </p:txBody>
      </p:sp>
      <p:sp>
        <p:nvSpPr>
          <p:cNvPr id="519170" name="Text Box 2">
            <a:extLst>
              <a:ext uri="{FF2B5EF4-FFF2-40B4-BE49-F238E27FC236}">
                <a16:creationId xmlns:a16="http://schemas.microsoft.com/office/drawing/2014/main" id="{339BD373-69A4-2DD2-A1AA-F037575264C6}"/>
              </a:ext>
            </a:extLst>
          </p:cNvPr>
          <p:cNvSpPr txBox="1">
            <a:spLocks noChangeArrowheads="1"/>
          </p:cNvSpPr>
          <p:nvPr/>
        </p:nvSpPr>
        <p:spPr bwMode="auto">
          <a:xfrm>
            <a:off x="2103438" y="228600"/>
            <a:ext cx="1620837"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Commands</a:t>
            </a:r>
          </a:p>
        </p:txBody>
      </p:sp>
      <p:sp>
        <p:nvSpPr>
          <p:cNvPr id="29700" name="Text Box 3">
            <a:extLst>
              <a:ext uri="{FF2B5EF4-FFF2-40B4-BE49-F238E27FC236}">
                <a16:creationId xmlns:a16="http://schemas.microsoft.com/office/drawing/2014/main" id="{24439134-9B7D-7C28-A53B-97D5ED853BA0}"/>
              </a:ext>
            </a:extLst>
          </p:cNvPr>
          <p:cNvSpPr txBox="1">
            <a:spLocks noChangeArrowheads="1"/>
          </p:cNvSpPr>
          <p:nvPr/>
        </p:nvSpPr>
        <p:spPr bwMode="auto">
          <a:xfrm>
            <a:off x="990600" y="990600"/>
            <a:ext cx="7272338" cy="256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RSET - aborts the current mail transaction.  The stored </a:t>
            </a:r>
          </a:p>
          <a:p>
            <a:r>
              <a:rPr lang="en-US" altLang="en-US"/>
              <a:t>information about the sender and recipient is deleted.</a:t>
            </a:r>
          </a:p>
          <a:p>
            <a:endParaRPr lang="en-US" altLang="en-US"/>
          </a:p>
          <a:p>
            <a:r>
              <a:rPr lang="en-US" altLang="en-US"/>
              <a:t>VRFY - used to verify the address of the recipient, which is</a:t>
            </a:r>
          </a:p>
          <a:p>
            <a:r>
              <a:rPr lang="en-US" altLang="en-US"/>
              <a:t>sent as the argument.</a:t>
            </a:r>
          </a:p>
          <a:p>
            <a:r>
              <a:rPr lang="en-US" altLang="en-US"/>
              <a:t>VRFY: myers@trinity.edu</a:t>
            </a:r>
          </a:p>
          <a:p>
            <a:endParaRPr lang="en-US" altLang="en-US"/>
          </a:p>
          <a:p>
            <a:r>
              <a:rPr lang="en-US" altLang="en-US"/>
              <a:t>NOOP - used by the client to check the status of the recipient.</a:t>
            </a:r>
          </a:p>
          <a:p>
            <a:r>
              <a:rPr lang="en-US" altLang="en-US"/>
              <a:t>It requires an answer from the recipient.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2">
            <a:extLst>
              <a:ext uri="{FF2B5EF4-FFF2-40B4-BE49-F238E27FC236}">
                <a16:creationId xmlns:a16="http://schemas.microsoft.com/office/drawing/2014/main" id="{78DB9DC7-C5FE-5AC0-B7C4-3F5DCBE11CB4}"/>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68E68C6-D50B-4A0B-8B15-8A241DFD8090}" type="slidenum">
              <a:rPr lang="en-US" altLang="en-US">
                <a:solidFill>
                  <a:srgbClr val="FFFFFF"/>
                </a:solidFill>
                <a:latin typeface="Franklin Gothic Book" panose="020B0503020102020204" pitchFamily="34" charset="0"/>
              </a:rPr>
              <a:pPr/>
              <a:t>24</a:t>
            </a:fld>
            <a:endParaRPr lang="en-US" altLang="en-US">
              <a:solidFill>
                <a:srgbClr val="FFFFFF"/>
              </a:solidFill>
              <a:latin typeface="Franklin Gothic Book" panose="020B0503020102020204" pitchFamily="34" charset="0"/>
            </a:endParaRPr>
          </a:p>
        </p:txBody>
      </p:sp>
      <p:sp>
        <p:nvSpPr>
          <p:cNvPr id="508931" name="Text Box 3">
            <a:extLst>
              <a:ext uri="{FF2B5EF4-FFF2-40B4-BE49-F238E27FC236}">
                <a16:creationId xmlns:a16="http://schemas.microsoft.com/office/drawing/2014/main" id="{93D419D0-A162-57E7-D332-AEB871EF1019}"/>
              </a:ext>
            </a:extLst>
          </p:cNvPr>
          <p:cNvSpPr txBox="1">
            <a:spLocks noChangeArrowheads="1"/>
          </p:cNvSpPr>
          <p:nvPr/>
        </p:nvSpPr>
        <p:spPr bwMode="auto">
          <a:xfrm>
            <a:off x="1763713" y="228600"/>
            <a:ext cx="1501775"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Responses</a:t>
            </a:r>
          </a:p>
        </p:txBody>
      </p:sp>
      <p:grpSp>
        <p:nvGrpSpPr>
          <p:cNvPr id="30724" name="Group 45">
            <a:extLst>
              <a:ext uri="{FF2B5EF4-FFF2-40B4-BE49-F238E27FC236}">
                <a16:creationId xmlns:a16="http://schemas.microsoft.com/office/drawing/2014/main" id="{1828668B-6E28-DD3C-413B-49FC18440760}"/>
              </a:ext>
            </a:extLst>
          </p:cNvPr>
          <p:cNvGrpSpPr>
            <a:grpSpLocks/>
          </p:cNvGrpSpPr>
          <p:nvPr/>
        </p:nvGrpSpPr>
        <p:grpSpPr bwMode="auto">
          <a:xfrm>
            <a:off x="2667000" y="609600"/>
            <a:ext cx="6019800" cy="6019800"/>
            <a:chOff x="1056" y="240"/>
            <a:chExt cx="3792" cy="3792"/>
          </a:xfrm>
        </p:grpSpPr>
        <p:pic>
          <p:nvPicPr>
            <p:cNvPr id="30726" name="Picture 43">
              <a:extLst>
                <a:ext uri="{FF2B5EF4-FFF2-40B4-BE49-F238E27FC236}">
                  <a16:creationId xmlns:a16="http://schemas.microsoft.com/office/drawing/2014/main" id="{B49BD6E6-E376-70F7-D943-58E1463EE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240"/>
              <a:ext cx="3749" cy="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Rectangle 44">
              <a:extLst>
                <a:ext uri="{FF2B5EF4-FFF2-40B4-BE49-F238E27FC236}">
                  <a16:creationId xmlns:a16="http://schemas.microsoft.com/office/drawing/2014/main" id="{D8D917C2-1763-A683-A3C8-0B77DD06E95A}"/>
                </a:ext>
              </a:extLst>
            </p:cNvPr>
            <p:cNvSpPr>
              <a:spLocks noChangeArrowheads="1"/>
            </p:cNvSpPr>
            <p:nvPr/>
          </p:nvSpPr>
          <p:spPr bwMode="auto">
            <a:xfrm>
              <a:off x="1056" y="3744"/>
              <a:ext cx="379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grpSp>
      <p:sp>
        <p:nvSpPr>
          <p:cNvPr id="30725" name="Text Box 46">
            <a:extLst>
              <a:ext uri="{FF2B5EF4-FFF2-40B4-BE49-F238E27FC236}">
                <a16:creationId xmlns:a16="http://schemas.microsoft.com/office/drawing/2014/main" id="{62102479-567F-AB64-2573-0BBEB58BFF46}"/>
              </a:ext>
            </a:extLst>
          </p:cNvPr>
          <p:cNvSpPr txBox="1">
            <a:spLocks noChangeArrowheads="1"/>
          </p:cNvSpPr>
          <p:nvPr/>
        </p:nvSpPr>
        <p:spPr bwMode="auto">
          <a:xfrm>
            <a:off x="212725" y="1046163"/>
            <a:ext cx="2293938"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600"/>
              <a:t>Responses are</a:t>
            </a:r>
          </a:p>
          <a:p>
            <a:r>
              <a:rPr lang="en-US" altLang="en-US" sz="1600"/>
              <a:t>3-digit codes</a:t>
            </a:r>
          </a:p>
          <a:p>
            <a:endParaRPr lang="en-US" altLang="en-US" sz="1600"/>
          </a:p>
          <a:p>
            <a:r>
              <a:rPr lang="en-US" altLang="en-US" sz="1600"/>
              <a:t>Codes that begin</a:t>
            </a:r>
          </a:p>
          <a:p>
            <a:r>
              <a:rPr lang="en-US" altLang="en-US" sz="1600"/>
              <a:t>with a 2 are</a:t>
            </a:r>
          </a:p>
          <a:p>
            <a:r>
              <a:rPr lang="en-US" altLang="en-US" sz="1600"/>
              <a:t>positive completions</a:t>
            </a:r>
          </a:p>
          <a:p>
            <a:r>
              <a:rPr lang="en-US" altLang="en-US" sz="1600"/>
              <a:t>etc.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2">
            <a:extLst>
              <a:ext uri="{FF2B5EF4-FFF2-40B4-BE49-F238E27FC236}">
                <a16:creationId xmlns:a16="http://schemas.microsoft.com/office/drawing/2014/main" id="{CB15D755-C32B-7E88-7F57-C11DAE7F29B9}"/>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3957C0F-7686-41C2-A1A7-679006100B0D}" type="slidenum">
              <a:rPr lang="en-US" altLang="en-US">
                <a:solidFill>
                  <a:srgbClr val="FFFFFF"/>
                </a:solidFill>
                <a:latin typeface="Franklin Gothic Book" panose="020B0503020102020204" pitchFamily="34" charset="0"/>
              </a:rPr>
              <a:pPr/>
              <a:t>25</a:t>
            </a:fld>
            <a:endParaRPr lang="en-US" altLang="en-US">
              <a:solidFill>
                <a:srgbClr val="FFFFFF"/>
              </a:solidFill>
              <a:latin typeface="Franklin Gothic Book" panose="020B0503020102020204" pitchFamily="34" charset="0"/>
            </a:endParaRPr>
          </a:p>
        </p:txBody>
      </p:sp>
      <p:sp>
        <p:nvSpPr>
          <p:cNvPr id="513026" name="Text Box 2">
            <a:extLst>
              <a:ext uri="{FF2B5EF4-FFF2-40B4-BE49-F238E27FC236}">
                <a16:creationId xmlns:a16="http://schemas.microsoft.com/office/drawing/2014/main" id="{4E8C2BCA-5F11-C605-1311-217540B202FF}"/>
              </a:ext>
            </a:extLst>
          </p:cNvPr>
          <p:cNvSpPr txBox="1">
            <a:spLocks noChangeArrowheads="1"/>
          </p:cNvSpPr>
          <p:nvPr/>
        </p:nvSpPr>
        <p:spPr bwMode="auto">
          <a:xfrm>
            <a:off x="914400" y="304800"/>
            <a:ext cx="3117850" cy="461963"/>
          </a:xfrm>
          <a:prstGeom prst="rect">
            <a:avLst/>
          </a:prstGeom>
          <a:noFill/>
          <a:ln w="9525">
            <a:noFill/>
            <a:miter lim="800000"/>
            <a:headEnd/>
            <a:tailEnd/>
          </a:ln>
          <a:effectLst/>
        </p:spPr>
        <p:txBody>
          <a:bodyPr wrap="none">
            <a:spAutoFit/>
          </a:bodyPr>
          <a:lstStyle/>
          <a:p>
            <a:pPr eaLnBrk="1" hangingPunct="1">
              <a:defRPr/>
            </a:pPr>
            <a:r>
              <a:rPr lang="en-US" sz="2400" i="1" dirty="0">
                <a:effectLst>
                  <a:outerShdw blurRad="38100" dist="38100" dir="2700000" algn="tl">
                    <a:srgbClr val="C0C0C0"/>
                  </a:outerShdw>
                </a:effectLst>
                <a:latin typeface="Times New Roman" pitchFamily="18" charset="0"/>
              </a:rPr>
              <a:t>Responses (Continued)</a:t>
            </a:r>
          </a:p>
        </p:txBody>
      </p:sp>
      <p:pic>
        <p:nvPicPr>
          <p:cNvPr id="31748" name="Picture 4">
            <a:extLst>
              <a:ext uri="{FF2B5EF4-FFF2-40B4-BE49-F238E27FC236}">
                <a16:creationId xmlns:a16="http://schemas.microsoft.com/office/drawing/2014/main" id="{F9208D3D-B61F-81EB-017F-C7C8EC01D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3" y="854075"/>
            <a:ext cx="7407275"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2">
            <a:extLst>
              <a:ext uri="{FF2B5EF4-FFF2-40B4-BE49-F238E27FC236}">
                <a16:creationId xmlns:a16="http://schemas.microsoft.com/office/drawing/2014/main" id="{66999C31-C172-5170-B332-993DB1EB0DCA}"/>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E5055D1-CA00-4585-B998-669BB7A3A1A8}" type="slidenum">
              <a:rPr lang="en-US" altLang="en-US">
                <a:solidFill>
                  <a:srgbClr val="FFFFFF"/>
                </a:solidFill>
                <a:latin typeface="Franklin Gothic Book" panose="020B0503020102020204" pitchFamily="34" charset="0"/>
              </a:rPr>
              <a:pPr/>
              <a:t>26</a:t>
            </a:fld>
            <a:endParaRPr lang="en-US" altLang="en-US">
              <a:solidFill>
                <a:srgbClr val="FFFFFF"/>
              </a:solidFill>
              <a:latin typeface="Franklin Gothic Book" panose="020B0503020102020204" pitchFamily="34" charset="0"/>
            </a:endParaRPr>
          </a:p>
        </p:txBody>
      </p:sp>
      <p:sp>
        <p:nvSpPr>
          <p:cNvPr id="32771" name="Text Box 2">
            <a:extLst>
              <a:ext uri="{FF2B5EF4-FFF2-40B4-BE49-F238E27FC236}">
                <a16:creationId xmlns:a16="http://schemas.microsoft.com/office/drawing/2014/main" id="{A8C53602-ECE1-BCE4-A355-4E3DA59F11B0}"/>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Connection establishment</a:t>
            </a:r>
          </a:p>
        </p:txBody>
      </p:sp>
      <p:sp>
        <p:nvSpPr>
          <p:cNvPr id="32772" name="Rectangle 3">
            <a:extLst>
              <a:ext uri="{FF2B5EF4-FFF2-40B4-BE49-F238E27FC236}">
                <a16:creationId xmlns:a16="http://schemas.microsoft.com/office/drawing/2014/main" id="{A35FE739-530C-D330-324F-FC4C99D11DC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3" name="Rectangle 4">
            <a:extLst>
              <a:ext uri="{FF2B5EF4-FFF2-40B4-BE49-F238E27FC236}">
                <a16:creationId xmlns:a16="http://schemas.microsoft.com/office/drawing/2014/main" id="{4C24634F-89E0-2776-5214-F7B20C4027C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4" name="Rectangle 5">
            <a:extLst>
              <a:ext uri="{FF2B5EF4-FFF2-40B4-BE49-F238E27FC236}">
                <a16:creationId xmlns:a16="http://schemas.microsoft.com/office/drawing/2014/main" id="{2FAA0655-B63C-BB6A-0D87-9CA28D22B47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5" name="Rectangle 6">
            <a:extLst>
              <a:ext uri="{FF2B5EF4-FFF2-40B4-BE49-F238E27FC236}">
                <a16:creationId xmlns:a16="http://schemas.microsoft.com/office/drawing/2014/main" id="{559EC71E-3520-5316-28DE-28241B9E81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6" name="Rectangle 7">
            <a:extLst>
              <a:ext uri="{FF2B5EF4-FFF2-40B4-BE49-F238E27FC236}">
                <a16:creationId xmlns:a16="http://schemas.microsoft.com/office/drawing/2014/main" id="{B3087C71-51BB-E43D-57B4-D5617D4686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7" name="Rectangle 8">
            <a:extLst>
              <a:ext uri="{FF2B5EF4-FFF2-40B4-BE49-F238E27FC236}">
                <a16:creationId xmlns:a16="http://schemas.microsoft.com/office/drawing/2014/main" id="{8454EF58-7A66-7943-9CBE-4CF5A305725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8" name="Rectangle 9">
            <a:extLst>
              <a:ext uri="{FF2B5EF4-FFF2-40B4-BE49-F238E27FC236}">
                <a16:creationId xmlns:a16="http://schemas.microsoft.com/office/drawing/2014/main" id="{E1468B8C-5657-4A5E-E452-A384F29D199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2779" name="Picture 10">
            <a:extLst>
              <a:ext uri="{FF2B5EF4-FFF2-40B4-BE49-F238E27FC236}">
                <a16:creationId xmlns:a16="http://schemas.microsoft.com/office/drawing/2014/main" id="{FDB8D29F-F7A7-78DF-50FC-D975B538F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667000"/>
            <a:ext cx="56769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0" name="Text Box 11">
            <a:extLst>
              <a:ext uri="{FF2B5EF4-FFF2-40B4-BE49-F238E27FC236}">
                <a16:creationId xmlns:a16="http://schemas.microsoft.com/office/drawing/2014/main" id="{B0449873-2BAE-9D43-430F-1A0605186120}"/>
              </a:ext>
            </a:extLst>
          </p:cNvPr>
          <p:cNvSpPr txBox="1">
            <a:spLocks noChangeArrowheads="1"/>
          </p:cNvSpPr>
          <p:nvPr/>
        </p:nvSpPr>
        <p:spPr bwMode="auto">
          <a:xfrm>
            <a:off x="1508125" y="793750"/>
            <a:ext cx="68897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The process of transferring a mail message occurs in three</a:t>
            </a:r>
          </a:p>
          <a:p>
            <a:r>
              <a:rPr lang="en-US" altLang="en-US"/>
              <a:t>phases: connection establishment, mail transfer, and </a:t>
            </a:r>
          </a:p>
          <a:p>
            <a:r>
              <a:rPr lang="en-US" altLang="en-US"/>
              <a:t>connection termination.</a:t>
            </a:r>
          </a:p>
          <a:p>
            <a:endParaRPr lang="en-US" altLang="en-US"/>
          </a:p>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2">
            <a:extLst>
              <a:ext uri="{FF2B5EF4-FFF2-40B4-BE49-F238E27FC236}">
                <a16:creationId xmlns:a16="http://schemas.microsoft.com/office/drawing/2014/main" id="{870F68A0-DEFE-C715-B568-8F36C2D222B9}"/>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F949089-3A90-4842-AE49-1D809F26AE6E}" type="slidenum">
              <a:rPr lang="en-US" altLang="en-US">
                <a:solidFill>
                  <a:srgbClr val="FFFFFF"/>
                </a:solidFill>
                <a:latin typeface="Franklin Gothic Book" panose="020B0503020102020204" pitchFamily="34" charset="0"/>
              </a:rPr>
              <a:pPr/>
              <a:t>27</a:t>
            </a:fld>
            <a:endParaRPr lang="en-US" altLang="en-US">
              <a:solidFill>
                <a:srgbClr val="FFFFFF"/>
              </a:solidFill>
              <a:latin typeface="Franklin Gothic Book" panose="020B0503020102020204" pitchFamily="34" charset="0"/>
            </a:endParaRPr>
          </a:p>
        </p:txBody>
      </p:sp>
      <p:sp>
        <p:nvSpPr>
          <p:cNvPr id="33795" name="Text Box 2">
            <a:extLst>
              <a:ext uri="{FF2B5EF4-FFF2-40B4-BE49-F238E27FC236}">
                <a16:creationId xmlns:a16="http://schemas.microsoft.com/office/drawing/2014/main" id="{920E31C8-B4EB-62B7-382F-C15D9EFD31E0}"/>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Message transfer</a:t>
            </a:r>
          </a:p>
        </p:txBody>
      </p:sp>
      <p:sp>
        <p:nvSpPr>
          <p:cNvPr id="33796" name="Rectangle 3">
            <a:extLst>
              <a:ext uri="{FF2B5EF4-FFF2-40B4-BE49-F238E27FC236}">
                <a16:creationId xmlns:a16="http://schemas.microsoft.com/office/drawing/2014/main" id="{02EB03F5-B9A3-AF03-879C-2B3E71235DB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797" name="Rectangle 4">
            <a:extLst>
              <a:ext uri="{FF2B5EF4-FFF2-40B4-BE49-F238E27FC236}">
                <a16:creationId xmlns:a16="http://schemas.microsoft.com/office/drawing/2014/main" id="{CCF6FAD2-A449-A488-DB53-0C86A977E32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798" name="Rectangle 5">
            <a:extLst>
              <a:ext uri="{FF2B5EF4-FFF2-40B4-BE49-F238E27FC236}">
                <a16:creationId xmlns:a16="http://schemas.microsoft.com/office/drawing/2014/main" id="{097922BD-E031-2D7F-BE41-4C27D9BE055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799" name="Rectangle 6">
            <a:extLst>
              <a:ext uri="{FF2B5EF4-FFF2-40B4-BE49-F238E27FC236}">
                <a16:creationId xmlns:a16="http://schemas.microsoft.com/office/drawing/2014/main" id="{141939D6-E373-B7E8-1372-C1F9740A3A6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800" name="Rectangle 7">
            <a:extLst>
              <a:ext uri="{FF2B5EF4-FFF2-40B4-BE49-F238E27FC236}">
                <a16:creationId xmlns:a16="http://schemas.microsoft.com/office/drawing/2014/main" id="{BA4499B2-5332-C4D8-8C5A-AA933A429D4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801" name="Rectangle 8">
            <a:extLst>
              <a:ext uri="{FF2B5EF4-FFF2-40B4-BE49-F238E27FC236}">
                <a16:creationId xmlns:a16="http://schemas.microsoft.com/office/drawing/2014/main" id="{DAAF4959-0C98-127D-B9C0-B01520F2E92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3802" name="Rectangle 9">
            <a:extLst>
              <a:ext uri="{FF2B5EF4-FFF2-40B4-BE49-F238E27FC236}">
                <a16:creationId xmlns:a16="http://schemas.microsoft.com/office/drawing/2014/main" id="{7BB4A0A5-39E7-0756-BBFD-AF34BED1FFF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3803" name="Picture 10">
            <a:extLst>
              <a:ext uri="{FF2B5EF4-FFF2-40B4-BE49-F238E27FC236}">
                <a16:creationId xmlns:a16="http://schemas.microsoft.com/office/drawing/2014/main" id="{6195D1FF-0ED6-461A-235C-67970B606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688" y="782638"/>
            <a:ext cx="4278312" cy="59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2">
            <a:extLst>
              <a:ext uri="{FF2B5EF4-FFF2-40B4-BE49-F238E27FC236}">
                <a16:creationId xmlns:a16="http://schemas.microsoft.com/office/drawing/2014/main" id="{E5245619-7932-7461-EC13-265E579A40E8}"/>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6BDBECC-0409-4454-81F9-B58308DEBB79}" type="slidenum">
              <a:rPr lang="en-US" altLang="en-US">
                <a:solidFill>
                  <a:srgbClr val="FFFFFF"/>
                </a:solidFill>
                <a:latin typeface="Franklin Gothic Book" panose="020B0503020102020204" pitchFamily="34" charset="0"/>
              </a:rPr>
              <a:pPr/>
              <a:t>28</a:t>
            </a:fld>
            <a:endParaRPr lang="en-US" altLang="en-US">
              <a:solidFill>
                <a:srgbClr val="FFFFFF"/>
              </a:solidFill>
              <a:latin typeface="Franklin Gothic Book" panose="020B0503020102020204" pitchFamily="34" charset="0"/>
            </a:endParaRPr>
          </a:p>
        </p:txBody>
      </p:sp>
      <p:sp>
        <p:nvSpPr>
          <p:cNvPr id="34819" name="Text Box 2">
            <a:extLst>
              <a:ext uri="{FF2B5EF4-FFF2-40B4-BE49-F238E27FC236}">
                <a16:creationId xmlns:a16="http://schemas.microsoft.com/office/drawing/2014/main" id="{3EBBF50B-573B-E9C1-CC5A-4C2C3BFF8981}"/>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Connection termination</a:t>
            </a:r>
          </a:p>
        </p:txBody>
      </p:sp>
      <p:sp>
        <p:nvSpPr>
          <p:cNvPr id="34820" name="Rectangle 3">
            <a:extLst>
              <a:ext uri="{FF2B5EF4-FFF2-40B4-BE49-F238E27FC236}">
                <a16:creationId xmlns:a16="http://schemas.microsoft.com/office/drawing/2014/main" id="{F13AA606-C464-D5A8-866B-59CE983936C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1" name="Rectangle 4">
            <a:extLst>
              <a:ext uri="{FF2B5EF4-FFF2-40B4-BE49-F238E27FC236}">
                <a16:creationId xmlns:a16="http://schemas.microsoft.com/office/drawing/2014/main" id="{3E023822-7811-CA99-3095-D30CDD690DE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2" name="Rectangle 5">
            <a:extLst>
              <a:ext uri="{FF2B5EF4-FFF2-40B4-BE49-F238E27FC236}">
                <a16:creationId xmlns:a16="http://schemas.microsoft.com/office/drawing/2014/main" id="{3828CA64-957B-790C-A695-E3EFA0B3D26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3" name="Rectangle 6">
            <a:extLst>
              <a:ext uri="{FF2B5EF4-FFF2-40B4-BE49-F238E27FC236}">
                <a16:creationId xmlns:a16="http://schemas.microsoft.com/office/drawing/2014/main" id="{02143055-0E67-C330-4B0A-7A7AB426EDF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4" name="Rectangle 7">
            <a:extLst>
              <a:ext uri="{FF2B5EF4-FFF2-40B4-BE49-F238E27FC236}">
                <a16:creationId xmlns:a16="http://schemas.microsoft.com/office/drawing/2014/main" id="{3CAADB3A-A1F5-23A0-CAA1-46B99D0B9A1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5" name="Rectangle 8">
            <a:extLst>
              <a:ext uri="{FF2B5EF4-FFF2-40B4-BE49-F238E27FC236}">
                <a16:creationId xmlns:a16="http://schemas.microsoft.com/office/drawing/2014/main" id="{41FB62B8-5DDB-C904-FDB1-4B195D8009B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6" name="Rectangle 9">
            <a:extLst>
              <a:ext uri="{FF2B5EF4-FFF2-40B4-BE49-F238E27FC236}">
                <a16:creationId xmlns:a16="http://schemas.microsoft.com/office/drawing/2014/main" id="{60A91A85-835F-22B3-4FA9-2D71B7BDA5F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4827" name="Picture 10">
            <a:extLst>
              <a:ext uri="{FF2B5EF4-FFF2-40B4-BE49-F238E27FC236}">
                <a16:creationId xmlns:a16="http://schemas.microsoft.com/office/drawing/2014/main" id="{25A6E73D-1FD4-4DD0-5793-8FCB16699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438" y="2573338"/>
            <a:ext cx="5694362" cy="169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Slide Number Placeholder 2">
            <a:extLst>
              <a:ext uri="{FF2B5EF4-FFF2-40B4-BE49-F238E27FC236}">
                <a16:creationId xmlns:a16="http://schemas.microsoft.com/office/drawing/2014/main" id="{2E9E37C6-8CC0-66F2-3ADA-227C848A480F}"/>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F6D17B7-26A9-431B-8A0D-A8636A52039F}" type="slidenum">
              <a:rPr lang="en-US" altLang="en-US">
                <a:solidFill>
                  <a:srgbClr val="FFFFFF"/>
                </a:solidFill>
                <a:latin typeface="Franklin Gothic Book" panose="020B0503020102020204" pitchFamily="34" charset="0"/>
              </a:rPr>
              <a:pPr/>
              <a:t>29</a:t>
            </a:fld>
            <a:endParaRPr lang="en-US" altLang="en-US">
              <a:solidFill>
                <a:srgbClr val="FFFFFF"/>
              </a:solidFill>
              <a:latin typeface="Franklin Gothic Book" panose="020B0503020102020204" pitchFamily="34" charset="0"/>
            </a:endParaRPr>
          </a:p>
        </p:txBody>
      </p:sp>
      <p:grpSp>
        <p:nvGrpSpPr>
          <p:cNvPr id="35843" name="Group 2">
            <a:extLst>
              <a:ext uri="{FF2B5EF4-FFF2-40B4-BE49-F238E27FC236}">
                <a16:creationId xmlns:a16="http://schemas.microsoft.com/office/drawing/2014/main" id="{8205709E-3DE5-F13C-75F2-C2AFF484A7E8}"/>
              </a:ext>
            </a:extLst>
          </p:cNvPr>
          <p:cNvGrpSpPr>
            <a:grpSpLocks/>
          </p:cNvGrpSpPr>
          <p:nvPr/>
        </p:nvGrpSpPr>
        <p:grpSpPr bwMode="auto">
          <a:xfrm>
            <a:off x="0" y="0"/>
            <a:ext cx="8686800" cy="6400800"/>
            <a:chOff x="0" y="96"/>
            <a:chExt cx="5472" cy="3840"/>
          </a:xfrm>
        </p:grpSpPr>
        <p:sp>
          <p:nvSpPr>
            <p:cNvPr id="35848" name="AutoShape 3">
              <a:extLst>
                <a:ext uri="{FF2B5EF4-FFF2-40B4-BE49-F238E27FC236}">
                  <a16:creationId xmlns:a16="http://schemas.microsoft.com/office/drawing/2014/main" id="{1763F398-4AE7-68D8-4DAC-2914DB723553}"/>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35849" name="AutoShape 4">
              <a:extLst>
                <a:ext uri="{FF2B5EF4-FFF2-40B4-BE49-F238E27FC236}">
                  <a16:creationId xmlns:a16="http://schemas.microsoft.com/office/drawing/2014/main" id="{7E912E06-9183-ABBC-4264-E0C5680EF607}"/>
                </a:ext>
              </a:extLst>
            </p:cNvPr>
            <p:cNvSpPr>
              <a:spLocks noChangeArrowheads="1"/>
            </p:cNvSpPr>
            <p:nvPr/>
          </p:nvSpPr>
          <p:spPr bwMode="blackWhite">
            <a:xfrm>
              <a:off x="0" y="96"/>
              <a:ext cx="5376" cy="768"/>
            </a:xfrm>
            <a:custGeom>
              <a:avLst/>
              <a:gdLst>
                <a:gd name="T0" fmla="*/ 0 w 7000"/>
                <a:gd name="T1" fmla="*/ 0 h 1000"/>
                <a:gd name="T2" fmla="*/ 3639 w 7000"/>
                <a:gd name="T3" fmla="*/ 0 h 1000"/>
                <a:gd name="T4" fmla="*/ 3934 w 7000"/>
                <a:gd name="T5" fmla="*/ 295 h 1000"/>
                <a:gd name="T6" fmla="*/ 3640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850" name="Line 5">
              <a:extLst>
                <a:ext uri="{FF2B5EF4-FFF2-40B4-BE49-F238E27FC236}">
                  <a16:creationId xmlns:a16="http://schemas.microsoft.com/office/drawing/2014/main" id="{460D370A-E21D-932B-92AC-2893CFF05A68}"/>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44" name="Text Box 6">
            <a:extLst>
              <a:ext uri="{FF2B5EF4-FFF2-40B4-BE49-F238E27FC236}">
                <a16:creationId xmlns:a16="http://schemas.microsoft.com/office/drawing/2014/main" id="{AF1428A1-ABDC-64C6-9A3F-AD1C3C7DBCAE}"/>
              </a:ext>
            </a:extLst>
          </p:cNvPr>
          <p:cNvSpPr txBox="1">
            <a:spLocks noChangeArrowheads="1"/>
          </p:cNvSpPr>
          <p:nvPr/>
        </p:nvSpPr>
        <p:spPr bwMode="auto">
          <a:xfrm>
            <a:off x="228600" y="0"/>
            <a:ext cx="63579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Arial" panose="020B0604020202020204" pitchFamily="34" charset="0"/>
              </a:rPr>
              <a:t>MESSAGE ACCESS AGENT:</a:t>
            </a:r>
            <a:br>
              <a:rPr lang="en-US" altLang="en-US" sz="3600">
                <a:solidFill>
                  <a:schemeClr val="bg1"/>
                </a:solidFill>
                <a:latin typeface="Arial" panose="020B0604020202020204" pitchFamily="34" charset="0"/>
              </a:rPr>
            </a:br>
            <a:r>
              <a:rPr lang="en-US" altLang="en-US" sz="3600">
                <a:solidFill>
                  <a:schemeClr val="bg1"/>
                </a:solidFill>
                <a:latin typeface="Arial" panose="020B0604020202020204" pitchFamily="34" charset="0"/>
              </a:rPr>
              <a:t>          POP AND IMAP</a:t>
            </a:r>
          </a:p>
        </p:txBody>
      </p:sp>
      <p:sp>
        <p:nvSpPr>
          <p:cNvPr id="476167" name="Rectangle 7">
            <a:extLst>
              <a:ext uri="{FF2B5EF4-FFF2-40B4-BE49-F238E27FC236}">
                <a16:creationId xmlns:a16="http://schemas.microsoft.com/office/drawing/2014/main" id="{88BD2F40-BCF1-964E-45D7-8D056BCF65FD}"/>
              </a:ext>
            </a:extLst>
          </p:cNvPr>
          <p:cNvSpPr>
            <a:spLocks noChangeArrowheads="1"/>
          </p:cNvSpPr>
          <p:nvPr/>
        </p:nvSpPr>
        <p:spPr bwMode="auto">
          <a:xfrm>
            <a:off x="533400" y="1371600"/>
            <a:ext cx="7848600" cy="1311275"/>
          </a:xfrm>
          <a:prstGeom prst="rect">
            <a:avLst/>
          </a:prstGeom>
          <a:noFill/>
          <a:ln w="9525">
            <a:noFill/>
            <a:miter lim="800000"/>
            <a:headEnd/>
            <a:tailEnd/>
          </a:ln>
          <a:effectLst/>
        </p:spPr>
        <p:txBody>
          <a:bodyPr>
            <a:spAutoFit/>
          </a:bodyPr>
          <a:lstStyle/>
          <a:p>
            <a:pPr algn="just">
              <a:defRPr/>
            </a:pPr>
            <a:r>
              <a:rPr lang="en-US" sz="2000" i="1">
                <a:effectLst>
                  <a:outerShdw blurRad="38100" dist="38100" dir="2700000" algn="tl">
                    <a:srgbClr val="C0C0C0"/>
                  </a:outerShdw>
                </a:effectLst>
                <a:latin typeface="Times New Roman" pitchFamily="18" charset="0"/>
              </a:rPr>
              <a:t>The third stage of mail delivery uses a message access agent; the client must pull messages from the server. Currently two message access protocols are available: Post Office Protocol, version 3 (POP3) and Internet Mail Access Protocol, version 4.</a:t>
            </a:r>
          </a:p>
        </p:txBody>
      </p:sp>
      <p:sp>
        <p:nvSpPr>
          <p:cNvPr id="476168" name="Rectangle 8">
            <a:extLst>
              <a:ext uri="{FF2B5EF4-FFF2-40B4-BE49-F238E27FC236}">
                <a16:creationId xmlns:a16="http://schemas.microsoft.com/office/drawing/2014/main" id="{CADEE324-FBC2-CD1D-CFD1-62B26C79430C}"/>
              </a:ext>
            </a:extLst>
          </p:cNvPr>
          <p:cNvSpPr>
            <a:spLocks noChangeArrowheads="1"/>
          </p:cNvSpPr>
          <p:nvPr/>
        </p:nvSpPr>
        <p:spPr bwMode="auto">
          <a:xfrm>
            <a:off x="685800" y="3870325"/>
            <a:ext cx="7848600" cy="396875"/>
          </a:xfrm>
          <a:prstGeom prst="rect">
            <a:avLst/>
          </a:prstGeom>
          <a:noFill/>
          <a:ln w="9525">
            <a:noFill/>
            <a:miter lim="800000"/>
            <a:headEnd/>
            <a:tailEnd/>
          </a:ln>
          <a:effectLst/>
        </p:spPr>
        <p:txBody>
          <a:bodyPr>
            <a:spAutoFit/>
          </a:bodyPr>
          <a:lstStyle/>
          <a:p>
            <a:pPr>
              <a:defRPr/>
            </a:pPr>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6169" name="Rectangle 9">
            <a:extLst>
              <a:ext uri="{FF2B5EF4-FFF2-40B4-BE49-F238E27FC236}">
                <a16:creationId xmlns:a16="http://schemas.microsoft.com/office/drawing/2014/main" id="{70AD3FB3-A34F-0978-E009-AA561BCD1B68}"/>
              </a:ext>
            </a:extLst>
          </p:cNvPr>
          <p:cNvSpPr>
            <a:spLocks noChangeArrowheads="1"/>
          </p:cNvSpPr>
          <p:nvPr/>
        </p:nvSpPr>
        <p:spPr bwMode="auto">
          <a:xfrm>
            <a:off x="685800" y="4403725"/>
            <a:ext cx="7315200" cy="701675"/>
          </a:xfrm>
          <a:prstGeom prst="rect">
            <a:avLst/>
          </a:prstGeom>
          <a:noFill/>
          <a:ln w="76200">
            <a:noFill/>
            <a:miter lim="800000"/>
            <a:headEnd/>
            <a:tailEnd/>
          </a:ln>
          <a:effectLst/>
        </p:spPr>
        <p:txBody>
          <a:bodyPr>
            <a:spAutoFit/>
          </a:bodyPr>
          <a:lstStyle/>
          <a:p>
            <a:pPr>
              <a:defRPr/>
            </a:pPr>
            <a:r>
              <a:rPr lang="en-US" sz="2000" i="1">
                <a:effectLst>
                  <a:outerShdw blurRad="38100" dist="38100" dir="2700000" algn="tl">
                    <a:srgbClr val="C0C0C0"/>
                  </a:outerShdw>
                </a:effectLst>
                <a:latin typeface="Times New Roman" pitchFamily="18" charset="0"/>
              </a:rPr>
              <a:t>POP3 </a:t>
            </a:r>
          </a:p>
          <a:p>
            <a:pPr>
              <a:defRPr/>
            </a:pPr>
            <a:r>
              <a:rPr lang="en-US" sz="2000" i="1">
                <a:effectLst>
                  <a:outerShdw blurRad="38100" dist="38100" dir="2700000" algn="tl">
                    <a:srgbClr val="C0C0C0"/>
                  </a:outerShdw>
                </a:effectLst>
                <a:latin typeface="Times New Roman" pitchFamily="18" charset="0"/>
              </a:rPr>
              <a:t>IMAP4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2">
            <a:extLst>
              <a:ext uri="{FF2B5EF4-FFF2-40B4-BE49-F238E27FC236}">
                <a16:creationId xmlns:a16="http://schemas.microsoft.com/office/drawing/2014/main" id="{10818E6F-ECF3-A644-0DBB-4842B9189536}"/>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6D0A1BD-4B25-42F0-AF70-9E1A7B318FD4}" type="slidenum">
              <a:rPr lang="en-US" altLang="en-US">
                <a:solidFill>
                  <a:srgbClr val="FFFFFF"/>
                </a:solidFill>
                <a:latin typeface="Franklin Gothic Book" panose="020B0503020102020204" pitchFamily="34" charset="0"/>
              </a:rPr>
              <a:pPr/>
              <a:t>30</a:t>
            </a:fld>
            <a:endParaRPr lang="en-US" altLang="en-US">
              <a:solidFill>
                <a:srgbClr val="FFFFFF"/>
              </a:solidFill>
              <a:latin typeface="Franklin Gothic Book" panose="020B0503020102020204" pitchFamily="34" charset="0"/>
            </a:endParaRPr>
          </a:p>
        </p:txBody>
      </p:sp>
      <p:sp>
        <p:nvSpPr>
          <p:cNvPr id="36867" name="Text Box 2">
            <a:extLst>
              <a:ext uri="{FF2B5EF4-FFF2-40B4-BE49-F238E27FC236}">
                <a16:creationId xmlns:a16="http://schemas.microsoft.com/office/drawing/2014/main" id="{37BE0FC9-11BC-E017-29F4-B15B5CA63D4F}"/>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POP3 and IMAP4</a:t>
            </a:r>
          </a:p>
        </p:txBody>
      </p:sp>
      <p:sp>
        <p:nvSpPr>
          <p:cNvPr id="36868" name="Rectangle 3">
            <a:extLst>
              <a:ext uri="{FF2B5EF4-FFF2-40B4-BE49-F238E27FC236}">
                <a16:creationId xmlns:a16="http://schemas.microsoft.com/office/drawing/2014/main" id="{AE1FBF8F-261F-C3D7-0EE0-15BC45DC69C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69" name="Rectangle 4">
            <a:extLst>
              <a:ext uri="{FF2B5EF4-FFF2-40B4-BE49-F238E27FC236}">
                <a16:creationId xmlns:a16="http://schemas.microsoft.com/office/drawing/2014/main" id="{4D642855-D55E-B3AF-11B8-9C8159BC911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0" name="Rectangle 5">
            <a:extLst>
              <a:ext uri="{FF2B5EF4-FFF2-40B4-BE49-F238E27FC236}">
                <a16:creationId xmlns:a16="http://schemas.microsoft.com/office/drawing/2014/main" id="{C8A726BF-7F63-7DE2-23F2-7C5965038DD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1" name="Rectangle 6">
            <a:extLst>
              <a:ext uri="{FF2B5EF4-FFF2-40B4-BE49-F238E27FC236}">
                <a16:creationId xmlns:a16="http://schemas.microsoft.com/office/drawing/2014/main" id="{27CB9FD4-14C5-8D40-E072-4E829266D98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2" name="Rectangle 7">
            <a:extLst>
              <a:ext uri="{FF2B5EF4-FFF2-40B4-BE49-F238E27FC236}">
                <a16:creationId xmlns:a16="http://schemas.microsoft.com/office/drawing/2014/main" id="{51FBAC1B-233C-0844-EA0C-817772E60E7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3" name="Rectangle 8">
            <a:extLst>
              <a:ext uri="{FF2B5EF4-FFF2-40B4-BE49-F238E27FC236}">
                <a16:creationId xmlns:a16="http://schemas.microsoft.com/office/drawing/2014/main" id="{AA3C2825-D287-F7F3-5EAC-505EC70A87E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4" name="Rectangle 9">
            <a:extLst>
              <a:ext uri="{FF2B5EF4-FFF2-40B4-BE49-F238E27FC236}">
                <a16:creationId xmlns:a16="http://schemas.microsoft.com/office/drawing/2014/main" id="{35C025BB-A429-13BA-94FE-2568B916081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6875" name="Picture 10">
            <a:extLst>
              <a:ext uri="{FF2B5EF4-FFF2-40B4-BE49-F238E27FC236}">
                <a16:creationId xmlns:a16="http://schemas.microsoft.com/office/drawing/2014/main" id="{63403787-CFFC-A66F-D7E1-00763F1D8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 y="2136775"/>
            <a:ext cx="800735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2">
            <a:extLst>
              <a:ext uri="{FF2B5EF4-FFF2-40B4-BE49-F238E27FC236}">
                <a16:creationId xmlns:a16="http://schemas.microsoft.com/office/drawing/2014/main" id="{26E2AFC8-F1BB-4079-5515-0B18B5881179}"/>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CB7A8F6-7A5E-4FCD-BCAA-32FCAA74E19D}" type="slidenum">
              <a:rPr lang="en-US" altLang="en-US">
                <a:solidFill>
                  <a:srgbClr val="FFFFFF"/>
                </a:solidFill>
                <a:latin typeface="Franklin Gothic Book" panose="020B0503020102020204" pitchFamily="34" charset="0"/>
              </a:rPr>
              <a:pPr/>
              <a:t>31</a:t>
            </a:fld>
            <a:endParaRPr lang="en-US" altLang="en-US">
              <a:solidFill>
                <a:srgbClr val="FFFFFF"/>
              </a:solidFill>
              <a:latin typeface="Franklin Gothic Book" panose="020B0503020102020204" pitchFamily="34" charset="0"/>
            </a:endParaRPr>
          </a:p>
        </p:txBody>
      </p:sp>
      <p:sp>
        <p:nvSpPr>
          <p:cNvPr id="37891" name="Text Box 2">
            <a:extLst>
              <a:ext uri="{FF2B5EF4-FFF2-40B4-BE49-F238E27FC236}">
                <a16:creationId xmlns:a16="http://schemas.microsoft.com/office/drawing/2014/main" id="{22B5B4E3-9363-A649-8B1E-F3960FCF26D0}"/>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POP3 and IMAP4</a:t>
            </a:r>
          </a:p>
        </p:txBody>
      </p:sp>
      <p:sp>
        <p:nvSpPr>
          <p:cNvPr id="37892" name="Rectangle 3">
            <a:extLst>
              <a:ext uri="{FF2B5EF4-FFF2-40B4-BE49-F238E27FC236}">
                <a16:creationId xmlns:a16="http://schemas.microsoft.com/office/drawing/2014/main" id="{D602B00C-328E-1984-853B-851E3415CA5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3" name="Rectangle 4">
            <a:extLst>
              <a:ext uri="{FF2B5EF4-FFF2-40B4-BE49-F238E27FC236}">
                <a16:creationId xmlns:a16="http://schemas.microsoft.com/office/drawing/2014/main" id="{127D469F-BD68-D25F-173C-E3DE5CAFF28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4" name="Rectangle 5">
            <a:extLst>
              <a:ext uri="{FF2B5EF4-FFF2-40B4-BE49-F238E27FC236}">
                <a16:creationId xmlns:a16="http://schemas.microsoft.com/office/drawing/2014/main" id="{B89E28C1-65F2-6A4D-BEC5-5A7310B75B8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5" name="Rectangle 6">
            <a:extLst>
              <a:ext uri="{FF2B5EF4-FFF2-40B4-BE49-F238E27FC236}">
                <a16:creationId xmlns:a16="http://schemas.microsoft.com/office/drawing/2014/main" id="{3BA6B32D-8BA4-6B65-96D1-92ADCAAA90C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6" name="Rectangle 7">
            <a:extLst>
              <a:ext uri="{FF2B5EF4-FFF2-40B4-BE49-F238E27FC236}">
                <a16:creationId xmlns:a16="http://schemas.microsoft.com/office/drawing/2014/main" id="{DECE31FD-1377-2675-221A-1C9A8D1754E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7" name="Rectangle 8">
            <a:extLst>
              <a:ext uri="{FF2B5EF4-FFF2-40B4-BE49-F238E27FC236}">
                <a16:creationId xmlns:a16="http://schemas.microsoft.com/office/drawing/2014/main" id="{DA5437DE-11DE-3192-BBD9-D264EA9FD44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8" name="Rectangle 9">
            <a:extLst>
              <a:ext uri="{FF2B5EF4-FFF2-40B4-BE49-F238E27FC236}">
                <a16:creationId xmlns:a16="http://schemas.microsoft.com/office/drawing/2014/main" id="{50812C62-F9B5-2415-A147-2C0204A486F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7899" name="Text Box 11">
            <a:extLst>
              <a:ext uri="{FF2B5EF4-FFF2-40B4-BE49-F238E27FC236}">
                <a16:creationId xmlns:a16="http://schemas.microsoft.com/office/drawing/2014/main" id="{97CE2307-A1CA-C082-F51B-D5CDE9C1A0B0}"/>
              </a:ext>
            </a:extLst>
          </p:cNvPr>
          <p:cNvSpPr txBox="1">
            <a:spLocks noChangeArrowheads="1"/>
          </p:cNvSpPr>
          <p:nvPr/>
        </p:nvSpPr>
        <p:spPr bwMode="auto">
          <a:xfrm>
            <a:off x="1279525" y="1174750"/>
            <a:ext cx="61087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POP3 is simple and limited in functionality.</a:t>
            </a:r>
          </a:p>
          <a:p>
            <a:endParaRPr lang="en-US" altLang="en-US"/>
          </a:p>
          <a:p>
            <a:r>
              <a:rPr lang="en-US" altLang="en-US"/>
              <a:t>Need POP3 client on user machine and POP3 server</a:t>
            </a:r>
          </a:p>
          <a:p>
            <a:r>
              <a:rPr lang="en-US" altLang="en-US"/>
              <a:t>on the mail server machine.</a:t>
            </a:r>
          </a:p>
          <a:p>
            <a:endParaRPr lang="en-US" altLang="en-US"/>
          </a:p>
          <a:p>
            <a:r>
              <a:rPr lang="en-US" altLang="en-US"/>
              <a:t>The client opens a connection to the server on TCP</a:t>
            </a:r>
          </a:p>
          <a:p>
            <a:r>
              <a:rPr lang="en-US" altLang="en-US"/>
              <a:t>port 110.</a:t>
            </a:r>
          </a:p>
          <a:p>
            <a:endParaRPr lang="en-US" altLang="en-US"/>
          </a:p>
          <a:p>
            <a:r>
              <a:rPr lang="en-US" altLang="en-US"/>
              <a:t>It then sends its user name and password to access</a:t>
            </a:r>
          </a:p>
          <a:p>
            <a:r>
              <a:rPr lang="en-US" altLang="en-US"/>
              <a:t>the mailbox. </a:t>
            </a:r>
          </a:p>
          <a:p>
            <a:endParaRPr lang="en-US" altLang="en-US"/>
          </a:p>
          <a:p>
            <a:r>
              <a:rPr lang="en-US" altLang="en-US"/>
              <a:t>User can then access the email.</a:t>
            </a:r>
          </a:p>
          <a:p>
            <a:endParaRPr lang="en-US" altLang="en-US"/>
          </a:p>
          <a:p>
            <a:r>
              <a:rPr lang="en-US" altLang="en-US"/>
              <a:t>Example on next slide: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2">
            <a:extLst>
              <a:ext uri="{FF2B5EF4-FFF2-40B4-BE49-F238E27FC236}">
                <a16:creationId xmlns:a16="http://schemas.microsoft.com/office/drawing/2014/main" id="{588D8988-2880-37A0-9A21-E8F8AB333D11}"/>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4899897-41B9-4BF2-AAF5-4B92E2E4ACE0}" type="slidenum">
              <a:rPr lang="en-US" altLang="en-US">
                <a:solidFill>
                  <a:srgbClr val="FFFFFF"/>
                </a:solidFill>
                <a:latin typeface="Franklin Gothic Book" panose="020B0503020102020204" pitchFamily="34" charset="0"/>
              </a:rPr>
              <a:pPr/>
              <a:t>32</a:t>
            </a:fld>
            <a:endParaRPr lang="en-US" altLang="en-US">
              <a:solidFill>
                <a:srgbClr val="FFFFFF"/>
              </a:solidFill>
              <a:latin typeface="Franklin Gothic Book" panose="020B0503020102020204" pitchFamily="34" charset="0"/>
            </a:endParaRPr>
          </a:p>
        </p:txBody>
      </p:sp>
      <p:sp>
        <p:nvSpPr>
          <p:cNvPr id="38915" name="Text Box 2">
            <a:extLst>
              <a:ext uri="{FF2B5EF4-FFF2-40B4-BE49-F238E27FC236}">
                <a16:creationId xmlns:a16="http://schemas.microsoft.com/office/drawing/2014/main" id="{1B465AEC-CA79-F8F6-B8C4-F4CA610122CA}"/>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POP3</a:t>
            </a:r>
          </a:p>
        </p:txBody>
      </p:sp>
      <p:sp>
        <p:nvSpPr>
          <p:cNvPr id="38916" name="Rectangle 3">
            <a:extLst>
              <a:ext uri="{FF2B5EF4-FFF2-40B4-BE49-F238E27FC236}">
                <a16:creationId xmlns:a16="http://schemas.microsoft.com/office/drawing/2014/main" id="{4BB723AB-6D27-0123-569B-26498A204F7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17" name="Rectangle 4">
            <a:extLst>
              <a:ext uri="{FF2B5EF4-FFF2-40B4-BE49-F238E27FC236}">
                <a16:creationId xmlns:a16="http://schemas.microsoft.com/office/drawing/2014/main" id="{BD3321DB-973D-D2BD-BD74-AA2F4C3C5A0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18" name="Rectangle 5">
            <a:extLst>
              <a:ext uri="{FF2B5EF4-FFF2-40B4-BE49-F238E27FC236}">
                <a16:creationId xmlns:a16="http://schemas.microsoft.com/office/drawing/2014/main" id="{E300DC97-7000-1461-4D5F-7C9E1B4F861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19" name="Rectangle 6">
            <a:extLst>
              <a:ext uri="{FF2B5EF4-FFF2-40B4-BE49-F238E27FC236}">
                <a16:creationId xmlns:a16="http://schemas.microsoft.com/office/drawing/2014/main" id="{F739294C-D5F3-0C3A-9049-9FA4F6E39FB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20" name="Rectangle 7">
            <a:extLst>
              <a:ext uri="{FF2B5EF4-FFF2-40B4-BE49-F238E27FC236}">
                <a16:creationId xmlns:a16="http://schemas.microsoft.com/office/drawing/2014/main" id="{75FC6106-F53E-194F-6C4B-927CEEC7EFD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21" name="Rectangle 8">
            <a:extLst>
              <a:ext uri="{FF2B5EF4-FFF2-40B4-BE49-F238E27FC236}">
                <a16:creationId xmlns:a16="http://schemas.microsoft.com/office/drawing/2014/main" id="{7E8C2AB6-AF83-10D3-BDAC-66F96748CAC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8922" name="Rectangle 9">
            <a:extLst>
              <a:ext uri="{FF2B5EF4-FFF2-40B4-BE49-F238E27FC236}">
                <a16:creationId xmlns:a16="http://schemas.microsoft.com/office/drawing/2014/main" id="{5DDDA9EA-35A2-C782-796B-CE296F045B4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8923" name="Picture 10">
            <a:extLst>
              <a:ext uri="{FF2B5EF4-FFF2-40B4-BE49-F238E27FC236}">
                <a16:creationId xmlns:a16="http://schemas.microsoft.com/office/drawing/2014/main" id="{C5917602-5EC9-50AC-DD15-342ED1CEB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654050"/>
            <a:ext cx="5676900" cy="582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2">
            <a:extLst>
              <a:ext uri="{FF2B5EF4-FFF2-40B4-BE49-F238E27FC236}">
                <a16:creationId xmlns:a16="http://schemas.microsoft.com/office/drawing/2014/main" id="{88CEC458-18AB-525B-B6A9-96E1C6998DA9}"/>
              </a:ext>
            </a:extLst>
          </p:cNvPr>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C06D738-C22B-4B83-A79F-2E210D8F3B1E}" type="slidenum">
              <a:rPr lang="en-US" altLang="en-US">
                <a:solidFill>
                  <a:srgbClr val="FFFFFF"/>
                </a:solidFill>
                <a:latin typeface="Franklin Gothic Book" panose="020B0503020102020204" pitchFamily="34" charset="0"/>
              </a:rPr>
              <a:pPr/>
              <a:t>33</a:t>
            </a:fld>
            <a:endParaRPr lang="en-US" altLang="en-US">
              <a:solidFill>
                <a:srgbClr val="FFFFFF"/>
              </a:solidFill>
              <a:latin typeface="Franklin Gothic Book" panose="020B0503020102020204" pitchFamily="34" charset="0"/>
            </a:endParaRPr>
          </a:p>
        </p:txBody>
      </p:sp>
      <p:sp>
        <p:nvSpPr>
          <p:cNvPr id="39939" name="Text Box 2">
            <a:extLst>
              <a:ext uri="{FF2B5EF4-FFF2-40B4-BE49-F238E27FC236}">
                <a16:creationId xmlns:a16="http://schemas.microsoft.com/office/drawing/2014/main" id="{299A403A-07A9-44C5-258E-CFBBEE82A695}"/>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a:latin typeface="Times New Roman" panose="02020603050405020304" pitchFamily="18" charset="0"/>
              </a:rPr>
              <a:t>POP3 and IMAP4</a:t>
            </a:r>
          </a:p>
        </p:txBody>
      </p:sp>
      <p:sp>
        <p:nvSpPr>
          <p:cNvPr id="39940" name="Rectangle 3">
            <a:extLst>
              <a:ext uri="{FF2B5EF4-FFF2-40B4-BE49-F238E27FC236}">
                <a16:creationId xmlns:a16="http://schemas.microsoft.com/office/drawing/2014/main" id="{0E54C75B-0EAF-BA89-2A74-F9E0B65DB55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1" name="Rectangle 4">
            <a:extLst>
              <a:ext uri="{FF2B5EF4-FFF2-40B4-BE49-F238E27FC236}">
                <a16:creationId xmlns:a16="http://schemas.microsoft.com/office/drawing/2014/main" id="{992A24D0-7410-1048-C365-DE8B3402D10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2" name="Rectangle 5">
            <a:extLst>
              <a:ext uri="{FF2B5EF4-FFF2-40B4-BE49-F238E27FC236}">
                <a16:creationId xmlns:a16="http://schemas.microsoft.com/office/drawing/2014/main" id="{547E84F5-DB9C-9B7A-E3C1-E608B89B9C8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3" name="Rectangle 6">
            <a:extLst>
              <a:ext uri="{FF2B5EF4-FFF2-40B4-BE49-F238E27FC236}">
                <a16:creationId xmlns:a16="http://schemas.microsoft.com/office/drawing/2014/main" id="{B686FEF4-08AC-CF64-977A-2C373682AE7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4" name="Rectangle 7">
            <a:extLst>
              <a:ext uri="{FF2B5EF4-FFF2-40B4-BE49-F238E27FC236}">
                <a16:creationId xmlns:a16="http://schemas.microsoft.com/office/drawing/2014/main" id="{2AF12DBB-6776-B4E4-0637-B365DD3402C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5" name="Rectangle 8">
            <a:extLst>
              <a:ext uri="{FF2B5EF4-FFF2-40B4-BE49-F238E27FC236}">
                <a16:creationId xmlns:a16="http://schemas.microsoft.com/office/drawing/2014/main" id="{A1F2E489-00AC-1D52-B1AF-B82B622493E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6" name="Rectangle 9">
            <a:extLst>
              <a:ext uri="{FF2B5EF4-FFF2-40B4-BE49-F238E27FC236}">
                <a16:creationId xmlns:a16="http://schemas.microsoft.com/office/drawing/2014/main" id="{D858A6EA-AD8B-93FF-2E2C-99712419E89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7" name="Text Box 10">
            <a:extLst>
              <a:ext uri="{FF2B5EF4-FFF2-40B4-BE49-F238E27FC236}">
                <a16:creationId xmlns:a16="http://schemas.microsoft.com/office/drawing/2014/main" id="{8524581B-362B-746A-E861-AA79F991936D}"/>
              </a:ext>
            </a:extLst>
          </p:cNvPr>
          <p:cNvSpPr txBox="1">
            <a:spLocks noChangeArrowheads="1"/>
          </p:cNvSpPr>
          <p:nvPr/>
        </p:nvSpPr>
        <p:spPr bwMode="auto">
          <a:xfrm>
            <a:off x="1279525" y="1174750"/>
            <a:ext cx="7197725"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IMAP is more powerful and more complex than POP3.</a:t>
            </a:r>
          </a:p>
          <a:p>
            <a:endParaRPr lang="en-US" altLang="en-US"/>
          </a:p>
          <a:p>
            <a:r>
              <a:rPr lang="en-US" altLang="en-US"/>
              <a:t>In particular, with IMAP:</a:t>
            </a:r>
          </a:p>
          <a:p>
            <a:endParaRPr lang="en-US" altLang="en-US"/>
          </a:p>
          <a:p>
            <a:r>
              <a:rPr lang="en-US" altLang="en-US"/>
              <a:t>A user can check the email header prior to downloading</a:t>
            </a:r>
          </a:p>
          <a:p>
            <a:endParaRPr lang="en-US" altLang="en-US"/>
          </a:p>
          <a:p>
            <a:r>
              <a:rPr lang="en-US" altLang="en-US"/>
              <a:t>A user can search the contents of the email for a</a:t>
            </a:r>
          </a:p>
          <a:p>
            <a:r>
              <a:rPr lang="en-US" altLang="en-US"/>
              <a:t>specific string of characters prior to downloading</a:t>
            </a:r>
          </a:p>
          <a:p>
            <a:endParaRPr lang="en-US" altLang="en-US"/>
          </a:p>
          <a:p>
            <a:r>
              <a:rPr lang="en-US" altLang="en-US"/>
              <a:t>A user can partially download email (helpful if email contains</a:t>
            </a:r>
          </a:p>
          <a:p>
            <a:r>
              <a:rPr lang="en-US" altLang="en-US"/>
              <a:t>huge attachments and connection is slow</a:t>
            </a:r>
          </a:p>
          <a:p>
            <a:endParaRPr lang="en-US" altLang="en-US"/>
          </a:p>
          <a:p>
            <a:r>
              <a:rPr lang="en-US" altLang="en-US"/>
              <a:t>A user can create, delete, or rename mailboxes on the </a:t>
            </a:r>
          </a:p>
          <a:p>
            <a:r>
              <a:rPr lang="en-US" altLang="en-US"/>
              <a:t>mail server</a:t>
            </a:r>
          </a:p>
          <a:p>
            <a:endParaRPr lang="en-US" altLang="en-US"/>
          </a:p>
          <a:p>
            <a:r>
              <a:rPr lang="en-US" altLang="en-US"/>
              <a:t>A user can create a hierarchy of mailboxes in a folder for</a:t>
            </a:r>
          </a:p>
          <a:p>
            <a:r>
              <a:rPr lang="en-US" altLang="en-US"/>
              <a:t>email storage</a:t>
            </a:r>
          </a:p>
          <a:p>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1705</TotalTime>
  <Words>1244</Words>
  <Application>Microsoft Office PowerPoint</Application>
  <PresentationFormat>On-screen Show (4:3)</PresentationFormat>
  <Paragraphs>237</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Tahoma</vt:lpstr>
      <vt:lpstr>Arial</vt:lpstr>
      <vt:lpstr>Franklin Gothic Book</vt:lpstr>
      <vt:lpstr>Perpetua</vt:lpstr>
      <vt:lpstr>Wingdings 2</vt:lpstr>
      <vt:lpstr>Times New Roman</vt:lpstr>
      <vt:lpstr>McGrawHill-Italic</vt:lpstr>
      <vt:lpstr>Courier New</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dc:title>
  <dc:creator>Valued Gateway Client</dc:creator>
  <cp:lastModifiedBy>Raji R</cp:lastModifiedBy>
  <cp:revision>113</cp:revision>
  <dcterms:created xsi:type="dcterms:W3CDTF">2000-01-15T04:50:39Z</dcterms:created>
  <dcterms:modified xsi:type="dcterms:W3CDTF">2025-12-29T12:37:57Z</dcterms:modified>
</cp:coreProperties>
</file>