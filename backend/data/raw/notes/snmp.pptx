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20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69" r:id="rId4"/>
    <p:sldId id="258" r:id="rId5"/>
    <p:sldId id="259" r:id="rId6"/>
    <p:sldId id="276" r:id="rId7"/>
    <p:sldId id="271" r:id="rId8"/>
    <p:sldId id="268" r:id="rId9"/>
    <p:sldId id="260" r:id="rId10"/>
    <p:sldId id="274" r:id="rId11"/>
    <p:sldId id="275" r:id="rId12"/>
    <p:sldId id="261" r:id="rId13"/>
    <p:sldId id="272" r:id="rId14"/>
    <p:sldId id="265" r:id="rId15"/>
    <p:sldId id="284" r:id="rId16"/>
    <p:sldId id="289" r:id="rId17"/>
    <p:sldId id="266" r:id="rId18"/>
    <p:sldId id="277" r:id="rId19"/>
    <p:sldId id="280" r:id="rId20"/>
    <p:sldId id="278" r:id="rId21"/>
    <p:sldId id="286" r:id="rId22"/>
    <p:sldId id="279" r:id="rId23"/>
    <p:sldId id="285" r:id="rId24"/>
    <p:sldId id="287" r:id="rId25"/>
    <p:sldId id="288" r:id="rId26"/>
  </p:sldIdLst>
  <p:sldSz cx="9144000" cy="6858000" type="letter"/>
  <p:notesSz cx="6856413" cy="92392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36">
          <p15:clr>
            <a:srgbClr val="A4A3A4"/>
          </p15:clr>
        </p15:guide>
        <p15:guide id="2" pos="7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1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3936"/>
        <p:guide pos="7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1716" y="-84"/>
      </p:cViewPr>
      <p:guideLst>
        <p:guide orient="horz" pos="291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7F21EF14-2E12-15E6-3787-9F7E17ADF75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EC8DF8A4-0738-761C-C8E6-1BBF2D8A79D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4E03F1EA-E092-520B-3B27-E735F74C670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630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8A5E2FF3-15FA-8BA6-157D-887C1600BF8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630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656EB36-43FB-484A-AF84-2B6C5C875A8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4875E530-2CA4-0938-B06E-D9425103509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4CFCBCEE-B20D-0804-A6BF-2EFA21BB7CA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1028">
            <a:extLst>
              <a:ext uri="{FF2B5EF4-FFF2-40B4-BE49-F238E27FC236}">
                <a16:creationId xmlns:a16="http://schemas.microsoft.com/office/drawing/2014/main" id="{9414B4E9-30AC-61A1-B154-F9A9E7EE68EE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17600" y="692150"/>
            <a:ext cx="4621213" cy="3465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7" name="Rectangle 1029">
            <a:extLst>
              <a:ext uri="{FF2B5EF4-FFF2-40B4-BE49-F238E27FC236}">
                <a16:creationId xmlns:a16="http://schemas.microsoft.com/office/drawing/2014/main" id="{1F55A540-3FCA-4276-131C-12801E373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89438"/>
            <a:ext cx="5027613" cy="415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438" name="Rectangle 1030">
            <a:extLst>
              <a:ext uri="{FF2B5EF4-FFF2-40B4-BE49-F238E27FC236}">
                <a16:creationId xmlns:a16="http://schemas.microsoft.com/office/drawing/2014/main" id="{DF6708FF-FD35-8D74-6530-787B445C95C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7288"/>
            <a:ext cx="297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9" name="Rectangle 1031">
            <a:extLst>
              <a:ext uri="{FF2B5EF4-FFF2-40B4-BE49-F238E27FC236}">
                <a16:creationId xmlns:a16="http://schemas.microsoft.com/office/drawing/2014/main" id="{6FA72AD8-6F8D-A0A5-6C2C-8A8C7808B2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777288"/>
            <a:ext cx="297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50E33B78-7BEC-4F24-A0AF-D34D8A1332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31">
            <a:extLst>
              <a:ext uri="{FF2B5EF4-FFF2-40B4-BE49-F238E27FC236}">
                <a16:creationId xmlns:a16="http://schemas.microsoft.com/office/drawing/2014/main" id="{B93DAEB7-32E9-7082-889F-4538AED28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6F0934-E165-4512-8139-26058891A922}" type="slidenum">
              <a:rPr lang="en-US" altLang="en-US" sz="120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31">
            <a:extLst>
              <a:ext uri="{FF2B5EF4-FFF2-40B4-BE49-F238E27FC236}">
                <a16:creationId xmlns:a16="http://schemas.microsoft.com/office/drawing/2014/main" id="{77C90D52-9E8B-1003-B29B-E39B72AC39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7B510-A126-44BE-998A-60FC21855BF5}" type="slidenum">
              <a:rPr lang="en-US" altLang="en-US" sz="1200">
                <a:latin typeface="Times New Roman" panose="02020603050405020304" pitchFamily="18" charset="0"/>
              </a:rPr>
              <a:pPr/>
              <a:t>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31">
            <a:extLst>
              <a:ext uri="{FF2B5EF4-FFF2-40B4-BE49-F238E27FC236}">
                <a16:creationId xmlns:a16="http://schemas.microsoft.com/office/drawing/2014/main" id="{520A24D8-4488-1480-B14B-D138998E90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453397-4D0F-4EC5-AFAB-1F07D48D7FD7}" type="slidenum">
              <a:rPr lang="en-US" altLang="en-US" sz="1200">
                <a:latin typeface="Times New Roman" panose="02020603050405020304" pitchFamily="18" charset="0"/>
              </a:rPr>
              <a:pPr/>
              <a:t>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DB07E3A9-8792-C1DB-D07D-1F7B4BC77EC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80C79ECA-9FE9-82AB-B4EE-A6C6D8C275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31">
            <a:extLst>
              <a:ext uri="{FF2B5EF4-FFF2-40B4-BE49-F238E27FC236}">
                <a16:creationId xmlns:a16="http://schemas.microsoft.com/office/drawing/2014/main" id="{FC5B0903-D0EB-233D-D4A8-4B1D6D52AA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BF66D9-7AA0-4F20-A94D-E05949039AA2}" type="slidenum">
              <a:rPr lang="en-US" altLang="en-US" sz="1200">
                <a:latin typeface="Times New Roman" panose="02020603050405020304" pitchFamily="18" charset="0"/>
              </a:rPr>
              <a:pPr/>
              <a:t>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31">
            <a:extLst>
              <a:ext uri="{FF2B5EF4-FFF2-40B4-BE49-F238E27FC236}">
                <a16:creationId xmlns:a16="http://schemas.microsoft.com/office/drawing/2014/main" id="{3ACEF293-83D5-C091-CD56-C8233E8033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62EC8D-316F-4D15-BDE1-F3165576BF4C}" type="slidenum">
              <a:rPr lang="en-US" altLang="en-US" sz="1200">
                <a:latin typeface="Times New Roman" panose="02020603050405020304" pitchFamily="18" charset="0"/>
              </a:rPr>
              <a:pPr/>
              <a:t>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31">
            <a:extLst>
              <a:ext uri="{FF2B5EF4-FFF2-40B4-BE49-F238E27FC236}">
                <a16:creationId xmlns:a16="http://schemas.microsoft.com/office/drawing/2014/main" id="{BD639374-D675-CDE0-CB52-7D1B299441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760FAAF-CCB4-4DA1-AEE7-C9E6D2EE17AA}" type="slidenum">
              <a:rPr lang="en-US" altLang="en-US" sz="1200">
                <a:latin typeface="Times New Roman" panose="02020603050405020304" pitchFamily="18" charset="0"/>
              </a:rPr>
              <a:pPr/>
              <a:t>23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06A95AAC-CEC4-AB5A-A06F-F1D2EE77620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3EE2FE1A-1597-0022-9998-E914EB722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1146FA-7B73-A89B-03B7-06F768391C2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3" name="Rounded Rectangle 10">
            <a:extLst>
              <a:ext uri="{FF2B5EF4-FFF2-40B4-BE49-F238E27FC236}">
                <a16:creationId xmlns:a16="http://schemas.microsoft.com/office/drawing/2014/main" id="{F4B18374-DFC7-037E-5086-19467D4E476C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914A80-364D-3EAC-A506-DA4ED73E2805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7191D0-BBA0-9845-990E-A4E535FF404D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397596-334A-9DF8-1C6C-96365D02B562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AA921A5A-3E11-DBB0-AA32-6B4AF43F9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B8E80D39-01A7-0099-3A95-6ECF7C974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72B78623-817D-ED55-043C-2B4492069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5C0E96-997F-4F31-A265-729EA4351E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0467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02C5F079-C305-78D4-D855-CD81C7A0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1BDE570-C41E-2990-E9E3-5DAB67E9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5E7E6024-7745-BF39-5991-09030C4F1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5346D1-18A5-4504-BDAF-6F36D5216A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7506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14E641-2A25-457C-FA53-4272AF931E8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5" name="Rounded Rectangle 10">
            <a:extLst>
              <a:ext uri="{FF2B5EF4-FFF2-40B4-BE49-F238E27FC236}">
                <a16:creationId xmlns:a16="http://schemas.microsoft.com/office/drawing/2014/main" id="{F33AA2AB-149A-AE32-D614-97E74A007CFB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82F2A0-EE5A-2651-1922-1D592FAC5D1A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B53C2E-BF76-74B7-74A7-B4937876EE30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A3DFF8-FE5B-E9B2-3366-B165F2698184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77CED24-CE77-EFC1-91B4-F984B0605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4C7046B-963A-AEAC-0F85-213D2E884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80DBF6-D2E0-E19D-263A-460FA882D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fld id="{7BE5ECB8-8AFC-4D7E-B9B2-ECAFE0297A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2213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B6BFAEF3-7C6E-506B-4CF3-5997B55D7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ABC0396-40EB-636D-9454-BBA77F66D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009382DE-F34C-019A-F4E0-45C5F7841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81619D-6795-48A1-8BF0-D89DB8C3A2E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5510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318D4295-5351-6F11-6299-3ED148823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81DBD8F-2954-59D0-2585-25A6D70AE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AD813699-41A7-B4D6-D68F-D7C8FFBE0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42681-39E2-4802-8315-6DFC3BA8D16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4270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01CED00B-A62A-5859-A12A-98D8A68F3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58C7A4D-23D6-87CA-A8F7-B9F59F669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A1DC7FF6-3D84-CFB1-47E6-1F564DBE9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24AC08-92BF-40C1-BEA1-ECCB013B4E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1092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94B3830A-770E-25A9-4AF7-F8FFADFA8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E9481C-E656-4A17-F9B5-C6F684EC2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0E56F87F-A997-8713-72FE-BCD697882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E73D2B-6B34-4F16-AD77-B8B593C64D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1927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20AAC1-4122-85A4-1513-4C4B2CEEDEC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5" name="Rounded Rectangle 10">
            <a:extLst>
              <a:ext uri="{FF2B5EF4-FFF2-40B4-BE49-F238E27FC236}">
                <a16:creationId xmlns:a16="http://schemas.microsoft.com/office/drawing/2014/main" id="{12336802-E067-AFE6-D991-74389BE99E46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5E3013F4-5F96-8813-CFBD-7C3DF8BE2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D2E338F1-EBE9-3B77-EBE7-CD4E005B5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AA756DA-65A1-16E6-C3BC-EE805B97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EC8C17-5508-446C-85CD-C419059B1C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6967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E1A6D8B-6A7B-18B8-0EA0-3E98B1C11891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63C9BA-FC28-0437-C843-59AD991CCC66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375DF6-CE5E-C702-DDA1-1A85835127E6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030AD208-3E14-E074-FDAE-A4299F2CB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975DA7-80C9-A748-543D-127E4284D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9CAB668C-5963-2C92-8DAF-2149F434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fld id="{E93A8943-91E1-4B8B-8419-9ABEBD7B2F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859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A9A6F4B8-9813-6442-AC54-01B5EBB40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BD5DC33-78E7-BA54-B4F4-42563222E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D92C7608-C784-7BA5-00C7-CD188F2D2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E3651F-B9C2-4910-B7D0-C2D0AC1003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0849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82F7722D-B9AD-DB04-6625-BD33BF9C8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B8C54DD-DD6E-84E1-108E-B8061EAA8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D41CFA6-CD51-93C5-0823-AAF37C63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51ABB-FBF5-42AB-91ED-F62D2429BC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2183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9250FC-6C70-E080-1D02-FEAA5AA9E4D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19CB648F-77A7-C2B5-D545-5783D28D35FD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8" name="Title Placeholder 21">
            <a:extLst>
              <a:ext uri="{FF2B5EF4-FFF2-40B4-BE49-F238E27FC236}">
                <a16:creationId xmlns:a16="http://schemas.microsoft.com/office/drawing/2014/main" id="{D0686555-0D6D-6A56-D25D-80B428E3F81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Text Placeholder 12">
            <a:extLst>
              <a:ext uri="{FF2B5EF4-FFF2-40B4-BE49-F238E27FC236}">
                <a16:creationId xmlns:a16="http://schemas.microsoft.com/office/drawing/2014/main" id="{17766BB5-4206-54DA-BFA4-6201249D10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2F342BAD-2296-BF91-6DB9-BCBF883080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C3DFA4-9A6E-098E-60EA-7F454F6F5C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96EE347-1F8C-9E76-2196-5798A1CC1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97605115-8B02-478F-851D-75DC5829555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1" r:id="rId2"/>
    <p:sldLayoutId id="2147483859" r:id="rId3"/>
    <p:sldLayoutId id="2147483852" r:id="rId4"/>
    <p:sldLayoutId id="2147483853" r:id="rId5"/>
    <p:sldLayoutId id="2147483854" r:id="rId6"/>
    <p:sldLayoutId id="2147483855" r:id="rId7"/>
    <p:sldLayoutId id="2147483860" r:id="rId8"/>
    <p:sldLayoutId id="2147483861" r:id="rId9"/>
    <p:sldLayoutId id="2147483856" r:id="rId10"/>
    <p:sldLayoutId id="214748385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F8E0EEA6-6F20-5759-33B8-D39E1AEB214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299200" cy="1206500"/>
          </a:xfrm>
        </p:spPr>
        <p:txBody>
          <a:bodyPr/>
          <a:lstStyle/>
          <a:p>
            <a:pPr eaLnBrk="1" hangingPunct="1"/>
            <a:endParaRPr lang="en-US" altLang="en-US" sz="2000" b="1">
              <a:latin typeface="Arial" panose="020B0604020202020204" pitchFamily="34" charset="0"/>
            </a:endParaRPr>
          </a:p>
          <a:p>
            <a:pPr eaLnBrk="1" hangingPunct="1"/>
            <a:endParaRPr lang="en-US" altLang="en-US" sz="2000" b="1">
              <a:latin typeface="Arial" panose="020B0604020202020204" pitchFamily="34" charset="0"/>
            </a:endParaRPr>
          </a:p>
          <a:p>
            <a:pPr eaLnBrk="1" hangingPunct="1"/>
            <a:endParaRPr lang="en-US" altLang="en-US" sz="2000" b="1">
              <a:latin typeface="Arial" panose="020B0604020202020204" pitchFamily="34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C1BB60B-DF7B-C956-E15D-39337078B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Network Management - SNMP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5">
            <a:extLst>
              <a:ext uri="{FF2B5EF4-FFF2-40B4-BE49-F238E27FC236}">
                <a16:creationId xmlns:a16="http://schemas.microsoft.com/office/drawing/2014/main" id="{BE415646-488F-C25D-5F4D-B072B0DF99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What is Network Management?</a:t>
            </a:r>
          </a:p>
        </p:txBody>
      </p:sp>
      <p:sp>
        <p:nvSpPr>
          <p:cNvPr id="10243" name="Rectangle 6">
            <a:extLst>
              <a:ext uri="{FF2B5EF4-FFF2-40B4-BE49-F238E27FC236}">
                <a16:creationId xmlns:a16="http://schemas.microsoft.com/office/drawing/2014/main" id="{16E493A6-49A2-3E6E-F605-A0B27A7A5C4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>
                <a:solidFill>
                  <a:schemeClr val="accent1"/>
                </a:solidFill>
                <a:latin typeface="Arial" panose="020B0604020202020204" pitchFamily="34" charset="0"/>
              </a:rPr>
              <a:t>Basic tasks that fall under this category are:</a:t>
            </a:r>
            <a:endParaRPr lang="en-US" altLang="en-US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grpSp>
        <p:nvGrpSpPr>
          <p:cNvPr id="10244" name="Group 18">
            <a:extLst>
              <a:ext uri="{FF2B5EF4-FFF2-40B4-BE49-F238E27FC236}">
                <a16:creationId xmlns:a16="http://schemas.microsoft.com/office/drawing/2014/main" id="{97EF3C03-0DDF-6B53-4A9B-3AC404BA96F3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590800"/>
            <a:ext cx="6553200" cy="3949700"/>
            <a:chOff x="720" y="1632"/>
            <a:chExt cx="4128" cy="2488"/>
          </a:xfrm>
        </p:grpSpPr>
        <p:grpSp>
          <p:nvGrpSpPr>
            <p:cNvPr id="10245" name="Group 13">
              <a:extLst>
                <a:ext uri="{FF2B5EF4-FFF2-40B4-BE49-F238E27FC236}">
                  <a16:creationId xmlns:a16="http://schemas.microsoft.com/office/drawing/2014/main" id="{4D2F1E15-CAEA-C2D9-DCFE-1AA79F2CD5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2400"/>
              <a:ext cx="3840" cy="856"/>
              <a:chOff x="864" y="1920"/>
              <a:chExt cx="3840" cy="856"/>
            </a:xfrm>
          </p:grpSpPr>
          <p:sp>
            <p:nvSpPr>
              <p:cNvPr id="10252" name="Text Box 10">
                <a:extLst>
                  <a:ext uri="{FF2B5EF4-FFF2-40B4-BE49-F238E27FC236}">
                    <a16:creationId xmlns:a16="http://schemas.microsoft.com/office/drawing/2014/main" id="{747DAF7A-0D0E-418F-67D9-4883BD7011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1920"/>
                <a:ext cx="2592" cy="518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FontTx/>
                  <a:buChar char="•"/>
                </a:pPr>
                <a:r>
                  <a:rPr lang="en-US" altLang="en-US">
                    <a:solidFill>
                      <a:schemeClr val="tx2"/>
                    </a:solidFill>
                  </a:rPr>
                  <a:t>Fault Management</a:t>
                </a:r>
              </a:p>
              <a:p>
                <a:pPr>
                  <a:buFontTx/>
                  <a:buChar char="•"/>
                </a:pPr>
                <a:endParaRPr lang="en-US" altLang="en-US"/>
              </a:p>
            </p:txBody>
          </p:sp>
          <p:sp>
            <p:nvSpPr>
              <p:cNvPr id="10253" name="Text Box 11">
                <a:extLst>
                  <a:ext uri="{FF2B5EF4-FFF2-40B4-BE49-F238E27FC236}">
                    <a16:creationId xmlns:a16="http://schemas.microsoft.com/office/drawing/2014/main" id="{A4DA56EB-93E0-2B06-77A8-B62B4B6ECF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2256"/>
                <a:ext cx="3648" cy="520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FontTx/>
                  <a:buChar char="•"/>
                </a:pPr>
                <a:r>
                  <a:rPr lang="en-US" altLang="en-US" sz="1600"/>
                  <a:t>Dealing with problems and emergencies in the network (router stops routing, server loses power, etc.)</a:t>
                </a:r>
              </a:p>
              <a:p>
                <a:pPr>
                  <a:buFontTx/>
                  <a:buChar char="•"/>
                </a:pPr>
                <a:endParaRPr lang="en-US" altLang="en-US" sz="1600"/>
              </a:p>
            </p:txBody>
          </p:sp>
        </p:grpSp>
        <p:grpSp>
          <p:nvGrpSpPr>
            <p:cNvPr id="10246" name="Group 14">
              <a:extLst>
                <a:ext uri="{FF2B5EF4-FFF2-40B4-BE49-F238E27FC236}">
                  <a16:creationId xmlns:a16="http://schemas.microsoft.com/office/drawing/2014/main" id="{2372E33C-58EB-8F20-9E0B-6E7FCB18CC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3264"/>
              <a:ext cx="4128" cy="856"/>
              <a:chOff x="864" y="2592"/>
              <a:chExt cx="4128" cy="856"/>
            </a:xfrm>
          </p:grpSpPr>
          <p:sp>
            <p:nvSpPr>
              <p:cNvPr id="10250" name="Text Box 9">
                <a:extLst>
                  <a:ext uri="{FF2B5EF4-FFF2-40B4-BE49-F238E27FC236}">
                    <a16:creationId xmlns:a16="http://schemas.microsoft.com/office/drawing/2014/main" id="{D3FC2760-BEA2-5A67-DBC5-CA40F88235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592"/>
                <a:ext cx="4128" cy="288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FontTx/>
                  <a:buChar char="•"/>
                </a:pPr>
                <a:r>
                  <a:rPr lang="en-US" altLang="en-US">
                    <a:solidFill>
                      <a:schemeClr val="tx2"/>
                    </a:solidFill>
                  </a:rPr>
                  <a:t>Performance Management</a:t>
                </a:r>
              </a:p>
            </p:txBody>
          </p:sp>
          <p:sp>
            <p:nvSpPr>
              <p:cNvPr id="10251" name="Text Box 12">
                <a:extLst>
                  <a:ext uri="{FF2B5EF4-FFF2-40B4-BE49-F238E27FC236}">
                    <a16:creationId xmlns:a16="http://schemas.microsoft.com/office/drawing/2014/main" id="{AC7A293E-057D-5AD0-3545-FEB64A2BF3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2928"/>
                <a:ext cx="3648" cy="520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FontTx/>
                  <a:buChar char="•"/>
                </a:pPr>
                <a:r>
                  <a:rPr lang="en-US" altLang="en-US" sz="1600"/>
                  <a:t>How smoothly is the network running? </a:t>
                </a:r>
              </a:p>
              <a:p>
                <a:pPr>
                  <a:buFontTx/>
                  <a:buChar char="•"/>
                </a:pPr>
                <a:r>
                  <a:rPr lang="en-US" altLang="en-US" sz="1600"/>
                  <a:t>Can it handle the workload it currently has?</a:t>
                </a:r>
              </a:p>
              <a:p>
                <a:pPr>
                  <a:buFontTx/>
                  <a:buChar char="•"/>
                </a:pPr>
                <a:endParaRPr lang="en-US" altLang="en-US" sz="1600"/>
              </a:p>
            </p:txBody>
          </p:sp>
        </p:grpSp>
        <p:grpSp>
          <p:nvGrpSpPr>
            <p:cNvPr id="10247" name="Group 15">
              <a:extLst>
                <a:ext uri="{FF2B5EF4-FFF2-40B4-BE49-F238E27FC236}">
                  <a16:creationId xmlns:a16="http://schemas.microsoft.com/office/drawing/2014/main" id="{24F0FCAB-8579-7645-B9A9-D486392420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1632"/>
              <a:ext cx="3840" cy="702"/>
              <a:chOff x="864" y="1920"/>
              <a:chExt cx="3840" cy="702"/>
            </a:xfrm>
          </p:grpSpPr>
          <p:sp>
            <p:nvSpPr>
              <p:cNvPr id="10248" name="Text Box 16">
                <a:extLst>
                  <a:ext uri="{FF2B5EF4-FFF2-40B4-BE49-F238E27FC236}">
                    <a16:creationId xmlns:a16="http://schemas.microsoft.com/office/drawing/2014/main" id="{E4563121-F3FD-5EC5-A2B1-998045CD08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1920"/>
                <a:ext cx="2592" cy="518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FontTx/>
                  <a:buChar char="•"/>
                </a:pPr>
                <a:r>
                  <a:rPr lang="en-US" altLang="en-US">
                    <a:solidFill>
                      <a:schemeClr val="tx2"/>
                    </a:solidFill>
                  </a:rPr>
                  <a:t>Configuration Management</a:t>
                </a:r>
              </a:p>
              <a:p>
                <a:pPr>
                  <a:buFontTx/>
                  <a:buChar char="•"/>
                </a:pPr>
                <a:endParaRPr lang="en-US" altLang="en-US"/>
              </a:p>
            </p:txBody>
          </p:sp>
          <p:sp>
            <p:nvSpPr>
              <p:cNvPr id="10249" name="Text Box 17">
                <a:extLst>
                  <a:ext uri="{FF2B5EF4-FFF2-40B4-BE49-F238E27FC236}">
                    <a16:creationId xmlns:a16="http://schemas.microsoft.com/office/drawing/2014/main" id="{FF503DAA-23BF-20DC-7E36-415924ADA6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2256"/>
                <a:ext cx="3648" cy="366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FontTx/>
                  <a:buChar char="•"/>
                </a:pPr>
                <a:r>
                  <a:rPr lang="en-US" altLang="en-US" sz="1600"/>
                  <a:t>Keeping track of device settings and how they function</a:t>
                </a:r>
              </a:p>
              <a:p>
                <a:pPr>
                  <a:buFontTx/>
                  <a:buChar char="•"/>
                </a:pPr>
                <a:endParaRPr lang="en-US" altLang="en-US" sz="160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926CE8A-E750-0566-751E-1D1B640522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  <a:effectLst>
            <a:outerShdw dist="107763" dir="2700000" algn="ctr" rotWithShape="0">
              <a:schemeClr val="bg2"/>
            </a:outerShdw>
          </a:effectLst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latin typeface="Arial" pitchFamily="34" charset="0"/>
              </a:rPr>
              <a:t>Functional Areas of Network Management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BB71BD7-1988-B62F-3140-59B4C74C80D3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sz="2400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Text Box 5">
            <a:extLst>
              <a:ext uri="{FF2B5EF4-FFF2-40B4-BE49-F238E27FC236}">
                <a16:creationId xmlns:a16="http://schemas.microsoft.com/office/drawing/2014/main" id="{805564AD-904A-ACFC-6F1F-8F4C027A7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362200"/>
            <a:ext cx="8991600" cy="341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Configuration Management</a:t>
            </a:r>
            <a:r>
              <a:rPr lang="en-US" altLang="en-US" sz="1800"/>
              <a:t> </a:t>
            </a:r>
            <a:r>
              <a:rPr lang="en-US" altLang="en-US" sz="1800">
                <a:solidFill>
                  <a:schemeClr val="accent1"/>
                </a:solidFill>
              </a:rPr>
              <a:t>- inventory, configuration, provisioning</a:t>
            </a:r>
            <a:endParaRPr lang="en-US" altLang="en-US" sz="1800"/>
          </a:p>
          <a:p>
            <a:pPr>
              <a:spcBef>
                <a:spcPct val="50000"/>
              </a:spcBef>
            </a:pPr>
            <a:r>
              <a:rPr lang="en-US" altLang="en-US" sz="2000"/>
              <a:t>Fault Management</a:t>
            </a:r>
            <a:r>
              <a:rPr lang="en-US" altLang="en-US" sz="1800"/>
              <a:t> </a:t>
            </a:r>
            <a:r>
              <a:rPr lang="en-US" altLang="en-US" sz="1800">
                <a:solidFill>
                  <a:schemeClr val="accent1"/>
                </a:solidFill>
              </a:rPr>
              <a:t>- reactive and proactive network fault management</a:t>
            </a:r>
            <a:endParaRPr lang="en-US" altLang="en-US" sz="1800"/>
          </a:p>
          <a:p>
            <a:pPr>
              <a:spcBef>
                <a:spcPct val="50000"/>
              </a:spcBef>
            </a:pPr>
            <a:r>
              <a:rPr lang="en-US" altLang="en-US" sz="2000"/>
              <a:t>Performance Management</a:t>
            </a:r>
            <a:r>
              <a:rPr lang="en-US" altLang="en-US" sz="1800"/>
              <a:t> </a:t>
            </a:r>
            <a:r>
              <a:rPr lang="en-US" altLang="en-US" sz="1800">
                <a:solidFill>
                  <a:schemeClr val="accent1"/>
                </a:solidFill>
              </a:rPr>
              <a:t>- # of packets dropped, timeouts, collisions, CRC errors</a:t>
            </a:r>
          </a:p>
          <a:p>
            <a:pPr>
              <a:spcBef>
                <a:spcPct val="50000"/>
              </a:spcBef>
            </a:pPr>
            <a:r>
              <a:rPr lang="en-US" altLang="en-US" sz="2000"/>
              <a:t>Security Management</a:t>
            </a:r>
            <a:r>
              <a:rPr lang="en-US" altLang="en-US" sz="1800"/>
              <a:t> </a:t>
            </a:r>
            <a:r>
              <a:rPr lang="en-US" altLang="en-US" sz="1800">
                <a:solidFill>
                  <a:schemeClr val="accent1"/>
                </a:solidFill>
              </a:rPr>
              <a:t>- SNMP doesn’t provide much here </a:t>
            </a:r>
            <a:endParaRPr lang="en-US" altLang="en-US" sz="1800"/>
          </a:p>
          <a:p>
            <a:pPr>
              <a:spcBef>
                <a:spcPct val="50000"/>
              </a:spcBef>
            </a:pPr>
            <a:r>
              <a:rPr lang="en-US" altLang="en-US" sz="2000"/>
              <a:t>Accounting Management</a:t>
            </a:r>
            <a:r>
              <a:rPr lang="en-US" altLang="en-US" sz="1800"/>
              <a:t> </a:t>
            </a:r>
            <a:r>
              <a:rPr lang="en-US" altLang="en-US" sz="1800">
                <a:solidFill>
                  <a:schemeClr val="accent1"/>
                </a:solidFill>
              </a:rPr>
              <a:t>- cost management and chargeback assessment</a:t>
            </a:r>
            <a:endParaRPr lang="en-US" altLang="en-US" sz="1800"/>
          </a:p>
          <a:p>
            <a:pPr>
              <a:spcBef>
                <a:spcPct val="50000"/>
              </a:spcBef>
            </a:pPr>
            <a:r>
              <a:rPr lang="en-US" altLang="en-US" sz="2000"/>
              <a:t>Asset Management</a:t>
            </a:r>
            <a:r>
              <a:rPr lang="en-US" altLang="en-US" sz="1800"/>
              <a:t> </a:t>
            </a:r>
            <a:r>
              <a:rPr lang="en-US" altLang="en-US" sz="1800">
                <a:solidFill>
                  <a:schemeClr val="accent1"/>
                </a:solidFill>
              </a:rPr>
              <a:t>- statistics of equipment, facility, and administration personnel</a:t>
            </a:r>
            <a:endParaRPr lang="en-US" altLang="en-US" sz="1800"/>
          </a:p>
          <a:p>
            <a:pPr>
              <a:spcBef>
                <a:spcPct val="50000"/>
              </a:spcBef>
            </a:pPr>
            <a:r>
              <a:rPr lang="en-US" altLang="en-US" sz="2000"/>
              <a:t>Planning Management</a:t>
            </a:r>
            <a:r>
              <a:rPr lang="en-US" altLang="en-US" sz="1800"/>
              <a:t> </a:t>
            </a:r>
            <a:r>
              <a:rPr lang="en-US" altLang="en-US" sz="1800">
                <a:solidFill>
                  <a:schemeClr val="accent1"/>
                </a:solidFill>
              </a:rPr>
              <a:t>- analysis of trends to help justify a network upgrade or  			bandwidth increase</a:t>
            </a:r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0EDB87B-96BA-5D11-4F29-38CD337A46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What is SNMP?</a:t>
            </a:r>
            <a:endParaRPr lang="en-US" alt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4AF7267-FD98-0478-F022-D1588559288E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685800" y="1981200"/>
            <a:ext cx="7162800" cy="3962400"/>
          </a:xfrm>
        </p:spPr>
        <p:txBody>
          <a:bodyPr/>
          <a:lstStyle/>
          <a:p>
            <a:pPr eaLnBrk="1" hangingPunct="1"/>
            <a:r>
              <a:rPr lang="en-US" altLang="en-US" sz="2400">
                <a:latin typeface="Arial" panose="020B0604020202020204" pitchFamily="34" charset="0"/>
              </a:rPr>
              <a:t>SNMP is a tool (protocol) that allows for remote and local management of items on the network including servers, workstations, routers, switches and other managed devices.</a:t>
            </a:r>
          </a:p>
          <a:p>
            <a:pPr eaLnBrk="1" hangingPunct="1"/>
            <a:r>
              <a:rPr lang="en-US" altLang="en-US" sz="2400">
                <a:latin typeface="Arial" panose="020B0604020202020204" pitchFamily="34" charset="0"/>
              </a:rPr>
              <a:t>Comprised of </a:t>
            </a:r>
            <a:r>
              <a:rPr lang="en-US" altLang="en-US" sz="2400">
                <a:solidFill>
                  <a:schemeClr val="accent1"/>
                </a:solidFill>
                <a:latin typeface="Arial" panose="020B0604020202020204" pitchFamily="34" charset="0"/>
              </a:rPr>
              <a:t>agents</a:t>
            </a:r>
            <a:r>
              <a:rPr lang="en-US" altLang="en-US" sz="2400">
                <a:latin typeface="Arial" panose="020B0604020202020204" pitchFamily="34" charset="0"/>
              </a:rPr>
              <a:t> and </a:t>
            </a:r>
            <a:r>
              <a:rPr lang="en-US" altLang="en-US" sz="2400">
                <a:solidFill>
                  <a:schemeClr val="accent1"/>
                </a:solidFill>
                <a:latin typeface="Arial" panose="020B0604020202020204" pitchFamily="34" charset="0"/>
              </a:rPr>
              <a:t>managers</a:t>
            </a:r>
            <a:endParaRPr lang="en-US" altLang="en-US" sz="2800">
              <a:latin typeface="Arial" panose="020B0604020202020204" pitchFamily="34" charset="0"/>
            </a:endParaRPr>
          </a:p>
          <a:p>
            <a:pPr eaLnBrk="1" hangingPunct="1"/>
            <a:endParaRPr lang="en-US" altLang="en-US" sz="2800">
              <a:latin typeface="Arial" panose="020B0604020202020204" pitchFamily="34" charset="0"/>
            </a:endParaRPr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372CFF3A-101A-F9F9-D65C-7C0857B63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038600"/>
            <a:ext cx="72390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>
                <a:solidFill>
                  <a:schemeClr val="tx2"/>
                </a:solidFill>
              </a:rPr>
              <a:t>Agent</a:t>
            </a:r>
            <a:r>
              <a:rPr lang="en-US" altLang="en-US"/>
              <a:t> - </a:t>
            </a:r>
            <a:r>
              <a:rPr lang="en-US" altLang="en-US" sz="1800"/>
              <a:t>process running on each managed node collecting information about the device it is running on.</a:t>
            </a:r>
          </a:p>
        </p:txBody>
      </p:sp>
      <p:sp>
        <p:nvSpPr>
          <p:cNvPr id="14341" name="Text Box 5">
            <a:extLst>
              <a:ext uri="{FF2B5EF4-FFF2-40B4-BE49-F238E27FC236}">
                <a16:creationId xmlns:a16="http://schemas.microsoft.com/office/drawing/2014/main" id="{633C5AA8-B456-FCD7-18BF-C2E49FAB0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029200"/>
            <a:ext cx="72390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>
                <a:solidFill>
                  <a:schemeClr val="tx2"/>
                </a:solidFill>
              </a:rPr>
              <a:t>Manager</a:t>
            </a:r>
            <a:r>
              <a:rPr lang="en-US" altLang="en-US"/>
              <a:t> - </a:t>
            </a:r>
            <a:r>
              <a:rPr lang="en-US" altLang="en-US" sz="1800"/>
              <a:t>process running on a management workstation that requests information about devices on the network.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34C93DE-E21B-71A5-AF42-D1A223502E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Advantages of using SNMP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F38B065C-93B8-F239-30FA-E9CCE616A5D3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Standardized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universally supported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extendible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portable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allows distributed management access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lightweight protocol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5F1B869-D2ED-664B-ADC0-271AFA9B28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Client Pull &amp; Server Push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7B497F2-166A-84E1-179C-A049245883D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685800" y="19812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1"/>
                </a:solidFill>
                <a:latin typeface="Arial" panose="020B0604020202020204" pitchFamily="34" charset="0"/>
              </a:rPr>
              <a:t>SNMP is a “client pull” model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4B90FB7D-BE62-26DD-9B71-7D91F3E44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130675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3200">
                <a:solidFill>
                  <a:schemeClr val="accent1"/>
                </a:solidFill>
              </a:rPr>
              <a:t>SNMP is a “server push” model</a:t>
            </a:r>
          </a:p>
        </p:txBody>
      </p:sp>
      <p:sp>
        <p:nvSpPr>
          <p:cNvPr id="17413" name="Text Box 5">
            <a:extLst>
              <a:ext uri="{FF2B5EF4-FFF2-40B4-BE49-F238E27FC236}">
                <a16:creationId xmlns:a16="http://schemas.microsoft.com/office/drawing/2014/main" id="{46D33AA7-FB92-D0A8-1826-8AB78A260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819400"/>
            <a:ext cx="7391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The management system (client) “pulls” data from the agent (server).</a:t>
            </a:r>
          </a:p>
        </p:txBody>
      </p:sp>
      <p:sp>
        <p:nvSpPr>
          <p:cNvPr id="17414" name="Text Box 6">
            <a:extLst>
              <a:ext uri="{FF2B5EF4-FFF2-40B4-BE49-F238E27FC236}">
                <a16:creationId xmlns:a16="http://schemas.microsoft.com/office/drawing/2014/main" id="{44BA2262-DDB7-359E-6ACA-3A6CC24C8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816475"/>
            <a:ext cx="7391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The agent (server) “pushes” out a trap message to a (client) management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76D8E6D-64B4-52E6-A751-F5FCB9413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SNMP &amp; The OSI Model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12EFDE0-2271-8462-04B3-F92951FB6F5D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sz="2400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graphicFrame>
        <p:nvGraphicFramePr>
          <p:cNvPr id="18436" name="Object 5">
            <a:extLst>
              <a:ext uri="{FF2B5EF4-FFF2-40B4-BE49-F238E27FC236}">
                <a16:creationId xmlns:a16="http://schemas.microsoft.com/office/drawing/2014/main" id="{FDEF0802-2C15-38FC-80EE-7A3EB68B8D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4575" y="2149475"/>
          <a:ext cx="7065963" cy="350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114214" imgH="3976132" progId="Word.Document.8">
                  <p:embed/>
                </p:oleObj>
              </mc:Choice>
              <mc:Fallback>
                <p:oleObj name="Document" r:id="rId2" imgW="8114214" imgH="3976132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575" y="2149475"/>
                        <a:ext cx="7065963" cy="350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28FC296-4E1C-6BBD-FA40-83D1A6B23C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Ports &amp; UDP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2ED7DE9-6F18-F918-06C8-0B4A7FC04C2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sz="2400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9A3BD255-2AA5-8D6B-9824-9330B2BE0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057400"/>
            <a:ext cx="8077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SNMP uses User Datagram Protocol (UDP) as the transport mechanism for SNMP messages</a:t>
            </a:r>
          </a:p>
        </p:txBody>
      </p:sp>
      <p:sp>
        <p:nvSpPr>
          <p:cNvPr id="19461" name="Rectangle 8">
            <a:extLst>
              <a:ext uri="{FF2B5EF4-FFF2-40B4-BE49-F238E27FC236}">
                <a16:creationId xmlns:a16="http://schemas.microsoft.com/office/drawing/2014/main" id="{04212457-CB71-24DE-6885-13ABBBC0B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33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endParaRPr lang="en-US" altLang="en-US"/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en-US" sz="3200"/>
          </a:p>
        </p:txBody>
      </p:sp>
      <p:sp>
        <p:nvSpPr>
          <p:cNvPr id="19462" name="Text Box 9">
            <a:extLst>
              <a:ext uri="{FF2B5EF4-FFF2-40B4-BE49-F238E27FC236}">
                <a16:creationId xmlns:a16="http://schemas.microsoft.com/office/drawing/2014/main" id="{703F8D2E-A6DC-2A2A-751E-DF35BB80A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316538"/>
            <a:ext cx="51054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b="1">
                <a:solidFill>
                  <a:schemeClr val="accent1"/>
                </a:solidFill>
              </a:rPr>
              <a:t>UDP Port 161</a:t>
            </a:r>
            <a:r>
              <a:rPr lang="en-US" altLang="en-US" sz="1800"/>
              <a:t> - SNMP Messages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b="1">
                <a:solidFill>
                  <a:schemeClr val="accent1"/>
                </a:solidFill>
              </a:rPr>
              <a:t>UDP Port 162</a:t>
            </a:r>
            <a:r>
              <a:rPr lang="en-US" altLang="en-US" sz="1800"/>
              <a:t> - SNMP Trap Messages</a:t>
            </a:r>
          </a:p>
        </p:txBody>
      </p:sp>
      <p:sp>
        <p:nvSpPr>
          <p:cNvPr id="19463" name="Text Box 10">
            <a:extLst>
              <a:ext uri="{FF2B5EF4-FFF2-40B4-BE49-F238E27FC236}">
                <a16:creationId xmlns:a16="http://schemas.microsoft.com/office/drawing/2014/main" id="{3871905D-B193-7450-8FBB-6A2792824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572000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Like FTP, SNMP uses two well-known ports to operate: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64" name="Rectangle 11">
            <a:extLst>
              <a:ext uri="{FF2B5EF4-FFF2-40B4-BE49-F238E27FC236}">
                <a16:creationId xmlns:a16="http://schemas.microsoft.com/office/drawing/2014/main" id="{06BD9D1B-1AD5-E808-342D-5703C3900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124200"/>
            <a:ext cx="7772400" cy="1295400"/>
          </a:xfrm>
          <a:prstGeom prst="rect">
            <a:avLst/>
          </a:prstGeom>
          <a:solidFill>
            <a:schemeClr val="tx2"/>
          </a:solidFill>
          <a:ln w="25400">
            <a:solidFill>
              <a:srgbClr val="333333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5" name="Rectangle 12">
            <a:extLst>
              <a:ext uri="{FF2B5EF4-FFF2-40B4-BE49-F238E27FC236}">
                <a16:creationId xmlns:a16="http://schemas.microsoft.com/office/drawing/2014/main" id="{F2E162CE-BD80-5A55-9515-C2D2F6BBE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200400"/>
            <a:ext cx="6172200" cy="1143000"/>
          </a:xfrm>
          <a:prstGeom prst="rect">
            <a:avLst/>
          </a:prstGeom>
          <a:solidFill>
            <a:schemeClr val="accent1"/>
          </a:solidFill>
          <a:ln w="25400">
            <a:solidFill>
              <a:srgbClr val="333333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6" name="Rectangle 13">
            <a:extLst>
              <a:ext uri="{FF2B5EF4-FFF2-40B4-BE49-F238E27FC236}">
                <a16:creationId xmlns:a16="http://schemas.microsoft.com/office/drawing/2014/main" id="{37959BC3-3BEB-7A85-23D4-4D3C53D27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276600"/>
            <a:ext cx="5257800" cy="990600"/>
          </a:xfrm>
          <a:prstGeom prst="rect">
            <a:avLst/>
          </a:prstGeom>
          <a:solidFill>
            <a:schemeClr val="hlink"/>
          </a:solidFill>
          <a:ln w="25400">
            <a:solidFill>
              <a:srgbClr val="333333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7" name="Rectangle 14">
            <a:extLst>
              <a:ext uri="{FF2B5EF4-FFF2-40B4-BE49-F238E27FC236}">
                <a16:creationId xmlns:a16="http://schemas.microsoft.com/office/drawing/2014/main" id="{0B12FA77-8514-7BBF-7E65-EF8FB5CF8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352800"/>
            <a:ext cx="4191000" cy="838200"/>
          </a:xfrm>
          <a:prstGeom prst="rect">
            <a:avLst/>
          </a:prstGeom>
          <a:solidFill>
            <a:schemeClr val="bg1"/>
          </a:solidFill>
          <a:ln w="25400">
            <a:solidFill>
              <a:srgbClr val="333333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8" name="Text Box 15">
            <a:extLst>
              <a:ext uri="{FF2B5EF4-FFF2-40B4-BE49-F238E27FC236}">
                <a16:creationId xmlns:a16="http://schemas.microsoft.com/office/drawing/2014/main" id="{E69B9592-931C-CB92-E4E2-F5356BD0F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2766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 b="1">
                <a:solidFill>
                  <a:schemeClr val="bg2"/>
                </a:solidFill>
              </a:rPr>
              <a:t>Ethernet</a:t>
            </a:r>
            <a:r>
              <a:rPr lang="en-US" altLang="en-US" sz="1200" b="1"/>
              <a:t> </a:t>
            </a:r>
            <a:r>
              <a:rPr lang="en-US" altLang="en-US" sz="1200" b="1">
                <a:solidFill>
                  <a:schemeClr val="bg2"/>
                </a:solidFill>
              </a:rPr>
              <a:t>Frame</a:t>
            </a:r>
            <a:endParaRPr lang="en-US" altLang="en-US" sz="1200" b="1"/>
          </a:p>
        </p:txBody>
      </p:sp>
      <p:sp>
        <p:nvSpPr>
          <p:cNvPr id="19469" name="Text Box 16">
            <a:extLst>
              <a:ext uri="{FF2B5EF4-FFF2-40B4-BE49-F238E27FC236}">
                <a16:creationId xmlns:a16="http://schemas.microsoft.com/office/drawing/2014/main" id="{D2BDC8C0-DBE8-4DA0-21C8-A7E360330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5052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 b="1">
                <a:solidFill>
                  <a:schemeClr val="bg2"/>
                </a:solidFill>
              </a:rPr>
              <a:t>IP Packet</a:t>
            </a:r>
            <a:endParaRPr lang="en-US" altLang="en-US" sz="1200" b="1"/>
          </a:p>
        </p:txBody>
      </p:sp>
      <p:sp>
        <p:nvSpPr>
          <p:cNvPr id="19470" name="Text Box 17">
            <a:extLst>
              <a:ext uri="{FF2B5EF4-FFF2-40B4-BE49-F238E27FC236}">
                <a16:creationId xmlns:a16="http://schemas.microsoft.com/office/drawing/2014/main" id="{AA215EBF-17DF-EF34-A25A-5086E3A1A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8100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 b="1">
                <a:solidFill>
                  <a:schemeClr val="bg2"/>
                </a:solidFill>
              </a:rPr>
              <a:t>UDP Datagram</a:t>
            </a:r>
            <a:endParaRPr lang="en-US" altLang="en-US" sz="1200" b="1"/>
          </a:p>
        </p:txBody>
      </p:sp>
      <p:sp>
        <p:nvSpPr>
          <p:cNvPr id="19471" name="Text Box 18">
            <a:extLst>
              <a:ext uri="{FF2B5EF4-FFF2-40B4-BE49-F238E27FC236}">
                <a16:creationId xmlns:a16="http://schemas.microsoft.com/office/drawing/2014/main" id="{FF335ABF-DF95-B2F8-BBD6-CEA46E93F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5052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/>
              <a:t>SNMP Message</a:t>
            </a:r>
            <a:endParaRPr lang="en-US" altLang="en-US" b="1">
              <a:latin typeface="Times New Roman" panose="02020603050405020304" pitchFamily="18" charset="0"/>
            </a:endParaRPr>
          </a:p>
        </p:txBody>
      </p:sp>
      <p:sp>
        <p:nvSpPr>
          <p:cNvPr id="19472" name="Text Box 19">
            <a:extLst>
              <a:ext uri="{FF2B5EF4-FFF2-40B4-BE49-F238E27FC236}">
                <a16:creationId xmlns:a16="http://schemas.microsoft.com/office/drawing/2014/main" id="{AEBA922C-534D-23A2-8CF9-3693FC9E6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3505200"/>
            <a:ext cx="838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 b="1">
                <a:solidFill>
                  <a:schemeClr val="bg2"/>
                </a:solidFill>
              </a:rPr>
              <a:t>CRC</a:t>
            </a:r>
            <a:endParaRPr lang="en-US" altLang="en-US" sz="12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>
            <a:extLst>
              <a:ext uri="{FF2B5EF4-FFF2-40B4-BE49-F238E27FC236}">
                <a16:creationId xmlns:a16="http://schemas.microsoft.com/office/drawing/2014/main" id="{5204874A-C3CE-47EE-3C0C-CF4AB22F45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The Three Parts of SNMP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90069323-44F2-2A63-BD70-30080212C7E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>
                <a:solidFill>
                  <a:schemeClr val="accent1"/>
                </a:solidFill>
                <a:latin typeface="Arial" panose="020B0604020202020204" pitchFamily="34" charset="0"/>
              </a:rPr>
              <a:t>SNMP network management is based on three parts:</a:t>
            </a:r>
          </a:p>
        </p:txBody>
      </p:sp>
      <p:sp>
        <p:nvSpPr>
          <p:cNvPr id="20484" name="Text Box 6">
            <a:extLst>
              <a:ext uri="{FF2B5EF4-FFF2-40B4-BE49-F238E27FC236}">
                <a16:creationId xmlns:a16="http://schemas.microsoft.com/office/drawing/2014/main" id="{AB1C30F0-F2D1-63BB-3742-02B2962C8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962400"/>
            <a:ext cx="6629400" cy="4572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>
                <a:solidFill>
                  <a:schemeClr val="tx2"/>
                </a:solidFill>
              </a:rPr>
              <a:t>Structure of Management Information (SMI)</a:t>
            </a:r>
          </a:p>
        </p:txBody>
      </p:sp>
      <p:sp>
        <p:nvSpPr>
          <p:cNvPr id="20485" name="Text Box 7">
            <a:extLst>
              <a:ext uri="{FF2B5EF4-FFF2-40B4-BE49-F238E27FC236}">
                <a16:creationId xmlns:a16="http://schemas.microsoft.com/office/drawing/2014/main" id="{CC642D0D-A84B-51AE-6F28-36E3998A7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495800"/>
            <a:ext cx="5791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/>
              <a:t>Rules specifying the format used to define objects managed on the network that the SNMP protocol accesses</a:t>
            </a:r>
          </a:p>
        </p:txBody>
      </p:sp>
      <p:sp>
        <p:nvSpPr>
          <p:cNvPr id="20486" name="Text Box 9">
            <a:extLst>
              <a:ext uri="{FF2B5EF4-FFF2-40B4-BE49-F238E27FC236}">
                <a16:creationId xmlns:a16="http://schemas.microsoft.com/office/drawing/2014/main" id="{F52CE64C-9EAB-F817-62B0-153299C3E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133975"/>
            <a:ext cx="6553200" cy="4572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>
                <a:solidFill>
                  <a:schemeClr val="tx2"/>
                </a:solidFill>
              </a:rPr>
              <a:t>Management Information Base (MIB)</a:t>
            </a:r>
          </a:p>
        </p:txBody>
      </p:sp>
      <p:sp>
        <p:nvSpPr>
          <p:cNvPr id="20487" name="Text Box 10">
            <a:extLst>
              <a:ext uri="{FF2B5EF4-FFF2-40B4-BE49-F238E27FC236}">
                <a16:creationId xmlns:a16="http://schemas.microsoft.com/office/drawing/2014/main" id="{DE05171C-C633-03B1-F032-8D6FC4A8A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638800"/>
            <a:ext cx="5791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/>
              <a:t>A map of the hierarchical order of all managed objects and how they are accessed</a:t>
            </a:r>
          </a:p>
        </p:txBody>
      </p:sp>
      <p:sp>
        <p:nvSpPr>
          <p:cNvPr id="20488" name="Text Box 12">
            <a:extLst>
              <a:ext uri="{FF2B5EF4-FFF2-40B4-BE49-F238E27FC236}">
                <a16:creationId xmlns:a16="http://schemas.microsoft.com/office/drawing/2014/main" id="{5A4399F6-D5C5-868C-D617-B6E9B7589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590800"/>
            <a:ext cx="4114800" cy="822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>
                <a:solidFill>
                  <a:schemeClr val="tx2"/>
                </a:solidFill>
              </a:rPr>
              <a:t>SNMP Protocol</a:t>
            </a:r>
          </a:p>
          <a:p>
            <a:pPr>
              <a:buFontTx/>
              <a:buChar char="•"/>
            </a:pPr>
            <a:endParaRPr lang="en-US" altLang="en-US"/>
          </a:p>
        </p:txBody>
      </p:sp>
      <p:sp>
        <p:nvSpPr>
          <p:cNvPr id="20489" name="Text Box 13">
            <a:extLst>
              <a:ext uri="{FF2B5EF4-FFF2-40B4-BE49-F238E27FC236}">
                <a16:creationId xmlns:a16="http://schemas.microsoft.com/office/drawing/2014/main" id="{ED5CAAA9-D932-041E-BB24-759FB7C8E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121025"/>
            <a:ext cx="57912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/>
              <a:t>Defines format of messages exchanged by management systems and agents.</a:t>
            </a:r>
          </a:p>
          <a:p>
            <a:pPr>
              <a:buFontTx/>
              <a:buChar char="•"/>
            </a:pPr>
            <a:r>
              <a:rPr lang="en-US" altLang="en-US" sz="1600"/>
              <a:t>Specifies the Get, GetNext, Set, and Trap operations</a:t>
            </a:r>
          </a:p>
          <a:p>
            <a:pPr>
              <a:buFontTx/>
              <a:buChar char="•"/>
            </a:pPr>
            <a:endParaRPr lang="en-US" alt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ADE88C2-C055-E4A5-7675-262A41E6BF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58763"/>
            <a:ext cx="7772400" cy="1143000"/>
          </a:xfrm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Nodes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24476A3F-71BA-6CA0-8687-CB03C5E1AF7A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sz="2400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BF0F1DFF-1636-37BE-00F6-5F75D74E7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325563"/>
            <a:ext cx="7848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Items in an SNMP Network are called nodes. There are different types of nodes.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DC502328-9EE1-AC0E-2506-F15E5F1A5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239963"/>
            <a:ext cx="662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>
                <a:solidFill>
                  <a:schemeClr val="accent1"/>
                </a:solidFill>
              </a:rPr>
              <a:t>Managed nodes</a:t>
            </a:r>
          </a:p>
        </p:txBody>
      </p:sp>
      <p:sp>
        <p:nvSpPr>
          <p:cNvPr id="22534" name="Text Box 6">
            <a:extLst>
              <a:ext uri="{FF2B5EF4-FFF2-40B4-BE49-F238E27FC236}">
                <a16:creationId xmlns:a16="http://schemas.microsoft.com/office/drawing/2014/main" id="{D45EE544-FF0B-E47C-7D4D-44F96E1DD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306763"/>
            <a:ext cx="662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>
                <a:solidFill>
                  <a:schemeClr val="accent1"/>
                </a:solidFill>
              </a:rPr>
              <a:t>Management nodes</a:t>
            </a:r>
          </a:p>
        </p:txBody>
      </p:sp>
      <p:sp>
        <p:nvSpPr>
          <p:cNvPr id="22535" name="Text Box 7">
            <a:extLst>
              <a:ext uri="{FF2B5EF4-FFF2-40B4-BE49-F238E27FC236}">
                <a16:creationId xmlns:a16="http://schemas.microsoft.com/office/drawing/2014/main" id="{C7860055-8B01-D182-65B3-C3FF38ECA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297363"/>
            <a:ext cx="662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>
                <a:solidFill>
                  <a:schemeClr val="accent1"/>
                </a:solidFill>
              </a:rPr>
              <a:t>Nodes that are not manageable by SNMP</a:t>
            </a:r>
          </a:p>
        </p:txBody>
      </p:sp>
      <p:sp>
        <p:nvSpPr>
          <p:cNvPr id="22536" name="Text Box 8">
            <a:extLst>
              <a:ext uri="{FF2B5EF4-FFF2-40B4-BE49-F238E27FC236}">
                <a16:creationId xmlns:a16="http://schemas.microsoft.com/office/drawing/2014/main" id="{9D6D74BD-D6B8-BD5C-CFD7-3C0191850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773363"/>
            <a:ext cx="7010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tx2"/>
                </a:solidFill>
              </a:rPr>
              <a:t>Typically runs an agent process that services requests from a management node</a:t>
            </a:r>
          </a:p>
        </p:txBody>
      </p:sp>
      <p:sp>
        <p:nvSpPr>
          <p:cNvPr id="22537" name="Text Box 9">
            <a:extLst>
              <a:ext uri="{FF2B5EF4-FFF2-40B4-BE49-F238E27FC236}">
                <a16:creationId xmlns:a16="http://schemas.microsoft.com/office/drawing/2014/main" id="{312DBEE5-E42E-7911-35FB-F6EF9DF0C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840163"/>
            <a:ext cx="7010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tx2"/>
                </a:solidFill>
              </a:rPr>
              <a:t>Typically a workstation running some network management &amp; monitoring software</a:t>
            </a:r>
          </a:p>
        </p:txBody>
      </p:sp>
      <p:sp>
        <p:nvSpPr>
          <p:cNvPr id="22538" name="Text Box 10">
            <a:extLst>
              <a:ext uri="{FF2B5EF4-FFF2-40B4-BE49-F238E27FC236}">
                <a16:creationId xmlns:a16="http://schemas.microsoft.com/office/drawing/2014/main" id="{D713D8D8-18FD-BF92-D84F-6B16030D5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830763"/>
            <a:ext cx="70104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chemeClr val="tx2"/>
                </a:solidFill>
              </a:rPr>
              <a:t>A node may not support SNMP, but may be manageable by SNMP through a proxy agent running on another machine</a:t>
            </a:r>
          </a:p>
        </p:txBody>
      </p:sp>
      <p:sp>
        <p:nvSpPr>
          <p:cNvPr id="22539" name="Text Box 11">
            <a:extLst>
              <a:ext uri="{FF2B5EF4-FFF2-40B4-BE49-F238E27FC236}">
                <a16:creationId xmlns:a16="http://schemas.microsoft.com/office/drawing/2014/main" id="{670D2757-01F5-EAB2-A252-174B838D3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440363"/>
            <a:ext cx="8458200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Nodes can be both managed nodes and a management node at the same time </a:t>
            </a:r>
            <a:r>
              <a:rPr lang="en-US" altLang="en-US" sz="1200"/>
              <a:t>(typically this is the case, since you want to be able to manage the workstation that your management application is running on.)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34D56C1-600E-EFC2-6554-360C9FB692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Community Names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9AD68F8-2B94-9C75-1B8F-F563439C8DCC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sz="2400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A321CFF5-A9C8-22BE-DCB3-316FE1369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133600"/>
            <a:ext cx="7848600" cy="319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Community names are used to define where an SNMP message is destined for.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They mirror the same concept as a Windows NT or Unix domain.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Set up your agents to belong to certain communities.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Set up your management applications to monitor and receive traps from certain community names.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CD9CC75-6FBB-ADB7-02CA-57F2E3563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SNMP Agents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0BF6CC0-2448-6A97-CA04-7AD3CCE8AB81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685800" y="1981200"/>
            <a:ext cx="77724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>
                <a:solidFill>
                  <a:schemeClr val="accent1"/>
                </a:solidFill>
                <a:latin typeface="Arial" panose="020B0604020202020204" pitchFamily="34" charset="0"/>
              </a:rPr>
              <a:t>Two basic designs of agents</a:t>
            </a: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4580" name="Text Box 5">
            <a:extLst>
              <a:ext uri="{FF2B5EF4-FFF2-40B4-BE49-F238E27FC236}">
                <a16:creationId xmlns:a16="http://schemas.microsoft.com/office/drawing/2014/main" id="{88378326-283D-A0B5-73C6-B8AABDF5B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819400"/>
            <a:ext cx="3962400" cy="4572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>
                <a:solidFill>
                  <a:schemeClr val="tx2"/>
                </a:solidFill>
              </a:rPr>
              <a:t>Extendible Agents</a:t>
            </a:r>
          </a:p>
        </p:txBody>
      </p:sp>
      <p:grpSp>
        <p:nvGrpSpPr>
          <p:cNvPr id="24581" name="Group 8">
            <a:extLst>
              <a:ext uri="{FF2B5EF4-FFF2-40B4-BE49-F238E27FC236}">
                <a16:creationId xmlns:a16="http://schemas.microsoft.com/office/drawing/2014/main" id="{E3C07EDB-91A2-F299-F0F8-23A947A5EBC6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267200"/>
            <a:ext cx="7315200" cy="1922463"/>
            <a:chOff x="672" y="2688"/>
            <a:chExt cx="4608" cy="1211"/>
          </a:xfrm>
        </p:grpSpPr>
        <p:sp>
          <p:nvSpPr>
            <p:cNvPr id="24583" name="Text Box 4">
              <a:extLst>
                <a:ext uri="{FF2B5EF4-FFF2-40B4-BE49-F238E27FC236}">
                  <a16:creationId xmlns:a16="http://schemas.microsoft.com/office/drawing/2014/main" id="{1D93EDB3-60D9-423F-B76F-AC37336AB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688"/>
              <a:ext cx="2496" cy="288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altLang="en-US">
                  <a:solidFill>
                    <a:schemeClr val="tx2"/>
                  </a:solidFill>
                </a:rPr>
                <a:t>Monolithic Agents</a:t>
              </a:r>
            </a:p>
          </p:txBody>
        </p:sp>
        <p:sp>
          <p:nvSpPr>
            <p:cNvPr id="24584" name="Text Box 6">
              <a:extLst>
                <a:ext uri="{FF2B5EF4-FFF2-40B4-BE49-F238E27FC236}">
                  <a16:creationId xmlns:a16="http://schemas.microsoft.com/office/drawing/2014/main" id="{36D4B28B-6E75-A747-5D06-71CD66D40C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976"/>
              <a:ext cx="4416" cy="923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altLang="en-US" sz="2000"/>
                <a:t>not extendible</a:t>
              </a:r>
            </a:p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altLang="en-US" sz="2000"/>
                <a:t>optimized for specific hardware platform and OS</a:t>
              </a:r>
            </a:p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altLang="en-US" sz="1600"/>
                <a:t>this optimization results in less overhead (memory and system resources) and quicker execution</a:t>
              </a:r>
              <a:endParaRPr lang="en-US" altLang="en-US"/>
            </a:p>
          </p:txBody>
        </p:sp>
      </p:grpSp>
      <p:sp>
        <p:nvSpPr>
          <p:cNvPr id="24582" name="Rectangle 7">
            <a:extLst>
              <a:ext uri="{FF2B5EF4-FFF2-40B4-BE49-F238E27FC236}">
                <a16:creationId xmlns:a16="http://schemas.microsoft.com/office/drawing/2014/main" id="{28FACD4B-56AC-7764-2559-F8C589C4A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276600"/>
            <a:ext cx="7543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2000"/>
              <a:t>Open, modular design allows for adaptations to new management data and operational requirements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DD86410-5F79-A59A-2382-77918F3C98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Proxy &amp; Gateway Agents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800A117-68E9-6916-2FF1-9A82A6A2BE9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sz="2400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5CC5FEDA-7B69-F09A-B3F4-1592619F2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965325"/>
            <a:ext cx="861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solidFill>
                  <a:schemeClr val="accent1"/>
                </a:solidFill>
              </a:rPr>
              <a:t>Proxy &amp; Gateway Agents extend the capabilities of SNMP by allowing it to:</a:t>
            </a:r>
          </a:p>
        </p:txBody>
      </p:sp>
      <p:sp>
        <p:nvSpPr>
          <p:cNvPr id="25605" name="Text Box 6">
            <a:extLst>
              <a:ext uri="{FF2B5EF4-FFF2-40B4-BE49-F238E27FC236}">
                <a16:creationId xmlns:a16="http://schemas.microsoft.com/office/drawing/2014/main" id="{13966218-2FEF-7402-1B96-D1FA970BB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90800"/>
            <a:ext cx="7848600" cy="325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Manage a device that cannot support an SNMP agent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Manage a device that supports a non-SNMP management agent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Allow a non-SNMP management system to access an SNMP agent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Provide firewall-type security to other SNMP agents </a:t>
            </a:r>
            <a:r>
              <a:rPr lang="en-US" altLang="en-US" sz="1600"/>
              <a:t>(UDP packet filtering)</a:t>
            </a:r>
            <a:endParaRPr lang="en-US" altLang="en-US" sz="180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Translate between different formats of SNMP messages </a:t>
            </a:r>
            <a:r>
              <a:rPr lang="en-US" altLang="en-US" sz="1600"/>
              <a:t>(v1 and v2)</a:t>
            </a:r>
            <a:endParaRPr lang="en-US" altLang="en-US" sz="180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Consolidate multiple managed nodes into a single network address (also to provide a single trap destination)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7E0161C-F03D-68FD-9166-4A85AC4983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Four Basic Operations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91F7389-7407-2F80-1B78-0BF1141D4A31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sz="2400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6628" name="Text Box 5">
            <a:extLst>
              <a:ext uri="{FF2B5EF4-FFF2-40B4-BE49-F238E27FC236}">
                <a16:creationId xmlns:a16="http://schemas.microsoft.com/office/drawing/2014/main" id="{00AAA160-3B46-4DBA-1C46-8E728B046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762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b="1">
                <a:solidFill>
                  <a:schemeClr val="accent1"/>
                </a:solidFill>
              </a:rPr>
              <a:t>Get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26629" name="Text Box 6">
            <a:extLst>
              <a:ext uri="{FF2B5EF4-FFF2-40B4-BE49-F238E27FC236}">
                <a16:creationId xmlns:a16="http://schemas.microsoft.com/office/drawing/2014/main" id="{958794E5-FFC1-B4E6-3DE7-F28759A12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124200"/>
            <a:ext cx="762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b="1">
                <a:solidFill>
                  <a:schemeClr val="accent1"/>
                </a:solidFill>
              </a:rPr>
              <a:t>GetNext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26630" name="Text Box 7">
            <a:extLst>
              <a:ext uri="{FF2B5EF4-FFF2-40B4-BE49-F238E27FC236}">
                <a16:creationId xmlns:a16="http://schemas.microsoft.com/office/drawing/2014/main" id="{10D3CC73-C444-84E0-90AE-B5789119A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343400"/>
            <a:ext cx="762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b="1">
                <a:solidFill>
                  <a:schemeClr val="accent1"/>
                </a:solidFill>
              </a:rPr>
              <a:t>Set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26631" name="Text Box 8">
            <a:extLst>
              <a:ext uri="{FF2B5EF4-FFF2-40B4-BE49-F238E27FC236}">
                <a16:creationId xmlns:a16="http://schemas.microsoft.com/office/drawing/2014/main" id="{FBB03CC2-635E-02BB-AA3E-5D1D712B4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334000"/>
            <a:ext cx="762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b="1">
                <a:solidFill>
                  <a:schemeClr val="accent1"/>
                </a:solidFill>
              </a:rPr>
              <a:t>Trap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26632" name="Text Box 9">
            <a:extLst>
              <a:ext uri="{FF2B5EF4-FFF2-40B4-BE49-F238E27FC236}">
                <a16:creationId xmlns:a16="http://schemas.microsoft.com/office/drawing/2014/main" id="{B3F91233-AA2B-3BAB-B716-DCF27E405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286000"/>
            <a:ext cx="7620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b="1"/>
              <a:t>Retrieves the value of a MIB variable stored on the agent machine</a:t>
            </a:r>
          </a:p>
          <a:p>
            <a:pPr>
              <a:spcBef>
                <a:spcPct val="50000"/>
              </a:spcBef>
            </a:pPr>
            <a:r>
              <a:rPr lang="en-US" altLang="en-US" sz="1400" b="1"/>
              <a:t>(integer, string, or address of another MIB variable)</a:t>
            </a:r>
            <a:endParaRPr lang="en-US" altLang="en-US"/>
          </a:p>
        </p:txBody>
      </p:sp>
      <p:sp>
        <p:nvSpPr>
          <p:cNvPr id="26633" name="Text Box 10">
            <a:extLst>
              <a:ext uri="{FF2B5EF4-FFF2-40B4-BE49-F238E27FC236}">
                <a16:creationId xmlns:a16="http://schemas.microsoft.com/office/drawing/2014/main" id="{2A0D5862-8A9F-3395-E964-B2EE57568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581400"/>
            <a:ext cx="762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b="1"/>
              <a:t>Retrieves the next value of the next lexical MIB variable</a:t>
            </a:r>
            <a:endParaRPr lang="en-US" altLang="en-US"/>
          </a:p>
        </p:txBody>
      </p:sp>
      <p:sp>
        <p:nvSpPr>
          <p:cNvPr id="26634" name="Text Box 11">
            <a:extLst>
              <a:ext uri="{FF2B5EF4-FFF2-40B4-BE49-F238E27FC236}">
                <a16:creationId xmlns:a16="http://schemas.microsoft.com/office/drawing/2014/main" id="{80427340-8E2A-BA45-8E93-4AF583FFA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800600"/>
            <a:ext cx="762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b="1"/>
              <a:t>Changes the value of a MIB variable</a:t>
            </a:r>
            <a:endParaRPr lang="en-US" altLang="en-US"/>
          </a:p>
        </p:txBody>
      </p:sp>
      <p:sp>
        <p:nvSpPr>
          <p:cNvPr id="26635" name="Text Box 12">
            <a:extLst>
              <a:ext uri="{FF2B5EF4-FFF2-40B4-BE49-F238E27FC236}">
                <a16:creationId xmlns:a16="http://schemas.microsoft.com/office/drawing/2014/main" id="{F0F5EB71-2F20-873B-50B4-8D456A725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867400"/>
            <a:ext cx="7620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b="1"/>
              <a:t>An unsolicited notification sent by an agent to a management application </a:t>
            </a:r>
            <a:r>
              <a:rPr lang="en-US" altLang="en-US" sz="1400" b="1"/>
              <a:t>(typically a notification of something unexpected, like an error)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EADD71B9-FF7E-AEF3-F87D-C136741245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-36513"/>
            <a:ext cx="7772400" cy="1143001"/>
          </a:xfrm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Traps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1579668-A31C-BB8E-668E-BF3FEFDE9B8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sz="2400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DF71FC42-91A9-30C9-01A6-6393480C4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06488"/>
            <a:ext cx="8610600" cy="575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Traps are unrequested event reports that are sent to a management system by an SNMP agent process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When a trappable event occurs, a trap message is generated by the agent and is sent to a trap destination (a specific, configured network address)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Many events can be configured to signal a trap, like a network cable fault, failing NIC or Hard Drive, a “General Protection Fault”, or a power supply failure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Traps can also be throttled -- You can limit the number of traps sent per second from the agent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Traps have a priority associated with them -- Critical, Major, Minor, Warning, Marginal, Informational, Normal, Unknown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5A60922-8D5C-9EF2-A86E-6254446758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-36513"/>
            <a:ext cx="7772400" cy="1143001"/>
          </a:xfrm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Trap Receivers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21AEF93B-407A-775B-73C9-180E078BDF1D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sz="2400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655F9213-6C07-9A45-155D-70D872CAD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06488"/>
            <a:ext cx="8610600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Traps are received by a management application.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Management applications can handle the trap in a few ways:</a:t>
            </a:r>
          </a:p>
        </p:txBody>
      </p:sp>
      <p:sp>
        <p:nvSpPr>
          <p:cNvPr id="28677" name="Text Box 5">
            <a:extLst>
              <a:ext uri="{FF2B5EF4-FFF2-40B4-BE49-F238E27FC236}">
                <a16:creationId xmlns:a16="http://schemas.microsoft.com/office/drawing/2014/main" id="{97C1FBD1-62D8-E592-0640-9645BEBD1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119313"/>
            <a:ext cx="86106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/>
              <a:t>Poll the agent that sent the trap for more information about the event, and the status of the rest of the machine.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/>
              <a:t>Log the reception of the trap.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/>
              <a:t>Completely ignore the trap.</a:t>
            </a:r>
          </a:p>
        </p:txBody>
      </p:sp>
      <p:sp>
        <p:nvSpPr>
          <p:cNvPr id="28678" name="Text Box 6">
            <a:extLst>
              <a:ext uri="{FF2B5EF4-FFF2-40B4-BE49-F238E27FC236}">
                <a16:creationId xmlns:a16="http://schemas.microsoft.com/office/drawing/2014/main" id="{797EE634-D0B3-34F7-F7EF-4FA40C42C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795713"/>
            <a:ext cx="86106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Management applications can be set up to send off an e-mail, call a voice mail and leave a message, or send an alpha-numeric page to the network administrator’s pager that says: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494265DA-A601-109D-F10A-007599149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029200"/>
            <a:ext cx="6464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 </a:t>
            </a:r>
            <a:r>
              <a:rPr lang="en-US" altLang="en-US" sz="2000">
                <a:solidFill>
                  <a:schemeClr val="tx2"/>
                </a:solidFill>
                <a:latin typeface="Impact" panose="020B0806030902050204" pitchFamily="34" charset="0"/>
              </a:rPr>
              <a:t>Your PDC just Blue-Screened at 03:46AM. Have a nice day.   </a:t>
            </a:r>
            <a:r>
              <a:rPr lang="en-US" altLang="en-US" sz="2000">
                <a:solidFill>
                  <a:schemeClr val="tx2"/>
                </a:solidFill>
              </a:rPr>
              <a:t>:)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F458895-6FD2-7F27-0BAD-19A268D035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Languages of SNMP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E43C1EE-FE03-684F-E508-DE4C9904D53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sz="2400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id="{9867FA84-4A73-F241-B5CB-F4294D22F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9050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>
                <a:solidFill>
                  <a:schemeClr val="accent1"/>
                </a:solidFill>
              </a:rPr>
              <a:t>Structure of Management Information (SMI)</a:t>
            </a:r>
          </a:p>
        </p:txBody>
      </p:sp>
      <p:sp>
        <p:nvSpPr>
          <p:cNvPr id="29701" name="Text Box 5">
            <a:extLst>
              <a:ext uri="{FF2B5EF4-FFF2-40B4-BE49-F238E27FC236}">
                <a16:creationId xmlns:a16="http://schemas.microsoft.com/office/drawing/2014/main" id="{2F970328-E6FC-6EE6-3679-F86F255E6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2766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>
                <a:solidFill>
                  <a:schemeClr val="accent1"/>
                </a:solidFill>
              </a:rPr>
              <a:t>Abstract Syntax Notation One (ASN.1)</a:t>
            </a:r>
          </a:p>
        </p:txBody>
      </p:sp>
      <p:sp>
        <p:nvSpPr>
          <p:cNvPr id="29702" name="Text Box 6">
            <a:extLst>
              <a:ext uri="{FF2B5EF4-FFF2-40B4-BE49-F238E27FC236}">
                <a16:creationId xmlns:a16="http://schemas.microsoft.com/office/drawing/2014/main" id="{45D4A0EA-51E0-7B0D-AC24-FDE484F43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76885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>
                <a:solidFill>
                  <a:schemeClr val="accent1"/>
                </a:solidFill>
              </a:rPr>
              <a:t>Basic Encoding Rules (BER)</a:t>
            </a:r>
          </a:p>
        </p:txBody>
      </p:sp>
      <p:sp>
        <p:nvSpPr>
          <p:cNvPr id="29703" name="Text Box 7">
            <a:extLst>
              <a:ext uri="{FF2B5EF4-FFF2-40B4-BE49-F238E27FC236}">
                <a16:creationId xmlns:a16="http://schemas.microsoft.com/office/drawing/2014/main" id="{C425F5BF-7DE2-A410-4C7B-6F68A1FD7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438400"/>
            <a:ext cx="6705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specifies the format used for defining managed objects that are accessed via the SNMP protocol</a:t>
            </a:r>
            <a:endParaRPr lang="en-US" altLang="en-US"/>
          </a:p>
        </p:txBody>
      </p:sp>
      <p:sp>
        <p:nvSpPr>
          <p:cNvPr id="29704" name="Text Box 8">
            <a:extLst>
              <a:ext uri="{FF2B5EF4-FFF2-40B4-BE49-F238E27FC236}">
                <a16:creationId xmlns:a16="http://schemas.microsoft.com/office/drawing/2014/main" id="{DE2B278F-C54B-31F9-7B2A-9CDFFD312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810000"/>
            <a:ext cx="67056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used to define  the format of SNMP messages and managed objects (MIB modules) using an unambiguous data description format</a:t>
            </a:r>
            <a:endParaRPr lang="en-US" altLang="en-US"/>
          </a:p>
        </p:txBody>
      </p:sp>
      <p:sp>
        <p:nvSpPr>
          <p:cNvPr id="29705" name="Text Box 9">
            <a:extLst>
              <a:ext uri="{FF2B5EF4-FFF2-40B4-BE49-F238E27FC236}">
                <a16:creationId xmlns:a16="http://schemas.microsoft.com/office/drawing/2014/main" id="{B76F012B-E8E0-48C0-F9B1-FF55A5578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410200"/>
            <a:ext cx="6705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used to encode the SNMP messages into a format suitable for transmission across a network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3FD034B-BD7E-75D7-4DEF-D469A13ED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7772400" cy="1143000"/>
          </a:xfrm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SMIv1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049B4006-B479-F3CD-B7AF-8813421F2AB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sz="2400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0724" name="Text Box 4">
            <a:extLst>
              <a:ext uri="{FF2B5EF4-FFF2-40B4-BE49-F238E27FC236}">
                <a16:creationId xmlns:a16="http://schemas.microsoft.com/office/drawing/2014/main" id="{198A8D04-2C56-410E-20F7-FBCEEEC22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143000"/>
            <a:ext cx="601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accent1"/>
                </a:solidFill>
              </a:rPr>
              <a:t>Structure of Management Information</a:t>
            </a:r>
          </a:p>
        </p:txBody>
      </p:sp>
      <p:sp>
        <p:nvSpPr>
          <p:cNvPr id="30725" name="Text Box 5">
            <a:extLst>
              <a:ext uri="{FF2B5EF4-FFF2-40B4-BE49-F238E27FC236}">
                <a16:creationId xmlns:a16="http://schemas.microsoft.com/office/drawing/2014/main" id="{A2F16AF0-C7EA-D35F-E5F3-94249D962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676400"/>
            <a:ext cx="708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SMIv1 is described in RFCs 1155, 1212, 1215</a:t>
            </a:r>
          </a:p>
        </p:txBody>
      </p:sp>
      <p:sp>
        <p:nvSpPr>
          <p:cNvPr id="30726" name="Text Box 6">
            <a:extLst>
              <a:ext uri="{FF2B5EF4-FFF2-40B4-BE49-F238E27FC236}">
                <a16:creationId xmlns:a16="http://schemas.microsoft.com/office/drawing/2014/main" id="{5749A96E-1D27-B322-72C2-C2DB174A1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098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These RFCs describe:</a:t>
            </a:r>
          </a:p>
        </p:txBody>
      </p:sp>
      <p:sp>
        <p:nvSpPr>
          <p:cNvPr id="30727" name="Text Box 7">
            <a:extLst>
              <a:ext uri="{FF2B5EF4-FFF2-40B4-BE49-F238E27FC236}">
                <a16:creationId xmlns:a16="http://schemas.microsoft.com/office/drawing/2014/main" id="{A249CCBC-17CD-5E6F-7F00-322999544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743200"/>
            <a:ext cx="7848600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How MIB modules are defined with CCITT X.208 ASN.1 data description language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The subset of the ASN.1 language that is used in MIBs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The addition of the APPLICATION data type to ASN.1, specifically for use with SNMP MIBs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All ASN.1 constructs are serialized using the CCITT X.209 BER for transmission across the wire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definition of the high-level structure of the Internet branch (iso(1).org(3).dod(6).internet(1)) of the MIB naming tree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the definition and description of an SNMP managed object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6644C7E-EA23-0801-708A-7B326E6A0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7772400" cy="1143000"/>
          </a:xfrm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SMIv2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5BCD8D7-1E7B-2058-789F-C164E976B9DE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sz="2400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1748" name="Text Box 4">
            <a:extLst>
              <a:ext uri="{FF2B5EF4-FFF2-40B4-BE49-F238E27FC236}">
                <a16:creationId xmlns:a16="http://schemas.microsoft.com/office/drawing/2014/main" id="{8FD605D6-6CA6-0489-8A29-64B109A1F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00200"/>
            <a:ext cx="601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accent1"/>
                </a:solidFill>
              </a:rPr>
              <a:t>Structure of Management Information</a:t>
            </a:r>
          </a:p>
        </p:txBody>
      </p:sp>
      <p:sp>
        <p:nvSpPr>
          <p:cNvPr id="31749" name="Text Box 5">
            <a:extLst>
              <a:ext uri="{FF2B5EF4-FFF2-40B4-BE49-F238E27FC236}">
                <a16:creationId xmlns:a16="http://schemas.microsoft.com/office/drawing/2014/main" id="{CFCB0265-218B-2F8C-C892-FB1F15B6E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133600"/>
            <a:ext cx="708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SMIv2 is described in RFCs 1442, 1443, 1444</a:t>
            </a:r>
          </a:p>
        </p:txBody>
      </p:sp>
      <p:sp>
        <p:nvSpPr>
          <p:cNvPr id="31750" name="Text Box 6">
            <a:extLst>
              <a:ext uri="{FF2B5EF4-FFF2-40B4-BE49-F238E27FC236}">
                <a16:creationId xmlns:a16="http://schemas.microsoft.com/office/drawing/2014/main" id="{F84AEEB4-6E33-D7E1-B743-AF04332E3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7432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These RFCs describe:</a:t>
            </a:r>
          </a:p>
        </p:txBody>
      </p:sp>
      <p:sp>
        <p:nvSpPr>
          <p:cNvPr id="31751" name="Text Box 7">
            <a:extLst>
              <a:ext uri="{FF2B5EF4-FFF2-40B4-BE49-F238E27FC236}">
                <a16:creationId xmlns:a16="http://schemas.microsoft.com/office/drawing/2014/main" id="{95FFFBC6-1BCC-051F-033E-71123590D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429000"/>
            <a:ext cx="800100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SMIv2 is a backward compatible update to SMIv1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The only exception is the Counter64 type defined by SMIv2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Counter64 cannot be created in SMIv2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RFC 2089 defines how bilingual (SMIv1 &amp; SMIv2) agents handle the Counter64 data type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IETF requires that new and revised RFCs specify MIB modules using SMIv2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4532463F-AB65-3C81-4B8B-CD23187A37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ASN.1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98CDEDAE-A1B0-7BF2-800E-62927D17B5CD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sz="2400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2772" name="Text Box 4">
            <a:extLst>
              <a:ext uri="{FF2B5EF4-FFF2-40B4-BE49-F238E27FC236}">
                <a16:creationId xmlns:a16="http://schemas.microsoft.com/office/drawing/2014/main" id="{84117D07-43AD-2A6D-3A29-CB71B0697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219200"/>
            <a:ext cx="464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accent1"/>
                </a:solidFill>
              </a:rPr>
              <a:t>Abstract Syntax Notation One</a:t>
            </a:r>
          </a:p>
        </p:txBody>
      </p:sp>
      <p:sp>
        <p:nvSpPr>
          <p:cNvPr id="32773" name="Text Box 5">
            <a:extLst>
              <a:ext uri="{FF2B5EF4-FFF2-40B4-BE49-F238E27FC236}">
                <a16:creationId xmlns:a16="http://schemas.microsoft.com/office/drawing/2014/main" id="{49833E06-E3B0-DA9C-49BE-7D41D9E53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7543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ASN.1 is nothing more than a language definition. It is similar to C/C++ and other programming languages.</a:t>
            </a:r>
          </a:p>
        </p:txBody>
      </p:sp>
      <p:sp>
        <p:nvSpPr>
          <p:cNvPr id="32774" name="Text Box 6">
            <a:extLst>
              <a:ext uri="{FF2B5EF4-FFF2-40B4-BE49-F238E27FC236}">
                <a16:creationId xmlns:a16="http://schemas.microsoft.com/office/drawing/2014/main" id="{4F7777A6-CF45-5B67-A952-C3585744C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89560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tx2"/>
                </a:solidFill>
              </a:rPr>
              <a:t>Syntax examples:</a:t>
            </a:r>
          </a:p>
        </p:txBody>
      </p:sp>
      <p:sp>
        <p:nvSpPr>
          <p:cNvPr id="32775" name="Text Box 8">
            <a:extLst>
              <a:ext uri="{FF2B5EF4-FFF2-40B4-BE49-F238E27FC236}">
                <a16:creationId xmlns:a16="http://schemas.microsoft.com/office/drawing/2014/main" id="{01835C84-90AD-8067-CF86-E63833D7D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352800"/>
            <a:ext cx="8001000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folHlink"/>
                </a:solidFill>
              </a:rPr>
              <a:t>-- two dashes is a comment -- The C equivalent is written in the comment</a:t>
            </a:r>
          </a:p>
          <a:p>
            <a:pPr>
              <a:spcBef>
                <a:spcPct val="50000"/>
              </a:spcBef>
            </a:pPr>
            <a:r>
              <a:rPr lang="en-US" altLang="en-US" sz="1600" b="1"/>
              <a:t>MostSevereAlarm ::= INTEGER            </a:t>
            </a:r>
            <a:r>
              <a:rPr lang="en-US" altLang="en-US" sz="1600" b="1">
                <a:solidFill>
                  <a:schemeClr val="folHlink"/>
                </a:solidFill>
              </a:rPr>
              <a:t>-- typedef MostSevereAlarm int;</a:t>
            </a:r>
          </a:p>
          <a:p>
            <a:pPr>
              <a:spcBef>
                <a:spcPct val="50000"/>
              </a:spcBef>
            </a:pPr>
            <a:r>
              <a:rPr lang="en-US" altLang="en-US" sz="1600" b="1"/>
              <a:t>circuitAlarms MostSevereAlarm ::= 3    </a:t>
            </a:r>
            <a:r>
              <a:rPr lang="en-US" altLang="en-US" sz="1600" b="1">
                <a:solidFill>
                  <a:schemeClr val="folHlink"/>
                </a:solidFill>
              </a:rPr>
              <a:t>-- MostSevereAlarm circuitAlarms = 3;</a:t>
            </a:r>
          </a:p>
          <a:p>
            <a:pPr>
              <a:spcBef>
                <a:spcPct val="50000"/>
              </a:spcBef>
            </a:pPr>
            <a:r>
              <a:rPr lang="en-US" altLang="en-US" sz="1600" b="1"/>
              <a:t>MostSevereAlarm ::= INTEGER (1..5)  </a:t>
            </a:r>
            <a:r>
              <a:rPr lang="en-US" altLang="en-US" sz="1600" b="1">
                <a:solidFill>
                  <a:schemeClr val="folHlink"/>
                </a:solidFill>
              </a:rPr>
              <a:t>-- specify a valid range</a:t>
            </a:r>
          </a:p>
          <a:p>
            <a:pPr>
              <a:spcBef>
                <a:spcPct val="50000"/>
              </a:spcBef>
            </a:pPr>
            <a:r>
              <a:rPr lang="en-US" altLang="en-US" sz="1600" b="1"/>
              <a:t>ErrorCounts ::= SEQUENCE {</a:t>
            </a:r>
          </a:p>
          <a:p>
            <a:pPr>
              <a:spcBef>
                <a:spcPct val="50000"/>
              </a:spcBef>
            </a:pPr>
            <a:r>
              <a:rPr lang="en-US" altLang="en-US" sz="1600" b="1"/>
              <a:t>    circuitID	      OCTET STRING,</a:t>
            </a:r>
          </a:p>
          <a:p>
            <a:pPr>
              <a:spcBef>
                <a:spcPct val="50000"/>
              </a:spcBef>
            </a:pPr>
            <a:r>
              <a:rPr lang="en-US" altLang="en-US" sz="1600" b="1"/>
              <a:t>    erroredSeconds	      INTEGER,</a:t>
            </a:r>
          </a:p>
          <a:p>
            <a:pPr>
              <a:spcBef>
                <a:spcPct val="50000"/>
              </a:spcBef>
            </a:pPr>
            <a:r>
              <a:rPr lang="en-US" altLang="en-US" sz="1600" b="1"/>
              <a:t>    unavailableSeconds  INTEGER</a:t>
            </a:r>
          </a:p>
          <a:p>
            <a:pPr>
              <a:spcBef>
                <a:spcPct val="50000"/>
              </a:spcBef>
            </a:pPr>
            <a:r>
              <a:rPr lang="en-US" altLang="en-US" sz="1600" b="1"/>
              <a:t>}    </a:t>
            </a:r>
            <a:r>
              <a:rPr lang="en-US" altLang="en-US" sz="1600" b="1">
                <a:solidFill>
                  <a:schemeClr val="folHlink"/>
                </a:solidFill>
              </a:rPr>
              <a:t>-- data structures are defined using the SEQUENCE keyword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3FD5949-FF40-7E35-E71F-4472BC4D6C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BER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F8079C32-49D2-F761-FC4B-318DF6096743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sz="2400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3796" name="Text Box 4">
            <a:extLst>
              <a:ext uri="{FF2B5EF4-FFF2-40B4-BE49-F238E27FC236}">
                <a16:creationId xmlns:a16="http://schemas.microsoft.com/office/drawing/2014/main" id="{5B95C340-8856-29F6-2818-113B35D22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1371600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solidFill>
                  <a:schemeClr val="accent1"/>
                </a:solidFill>
              </a:rPr>
              <a:t>Basic Encoding Rules</a:t>
            </a:r>
          </a:p>
        </p:txBody>
      </p:sp>
      <p:sp>
        <p:nvSpPr>
          <p:cNvPr id="33797" name="Text Box 5">
            <a:extLst>
              <a:ext uri="{FF2B5EF4-FFF2-40B4-BE49-F238E27FC236}">
                <a16:creationId xmlns:a16="http://schemas.microsoft.com/office/drawing/2014/main" id="{9698321A-CB88-05C8-DC85-2CDF8285B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971800"/>
            <a:ext cx="815340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The relationship between ASN.1 and BER parallels that of source code and machine code.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CCITT X.209 specifies the Basic Encoding Rules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All SNMP messages are converted / serialized from ASN.1 notation into smaller, binary data (BER)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5">
            <a:extLst>
              <a:ext uri="{FF2B5EF4-FFF2-40B4-BE49-F238E27FC236}">
                <a16:creationId xmlns:a16="http://schemas.microsoft.com/office/drawing/2014/main" id="{CF886431-DBAA-2434-A485-F80315A36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85900"/>
            <a:ext cx="8153400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>
                <a:solidFill>
                  <a:schemeClr val="folHlink"/>
                </a:solidFill>
              </a:rPr>
              <a:t>INTEGER </a:t>
            </a:r>
            <a:r>
              <a:rPr lang="en-US" altLang="en-US" sz="2000"/>
              <a:t>-- signed 32-bit integer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>
                <a:solidFill>
                  <a:schemeClr val="folHlink"/>
                </a:solidFill>
              </a:rPr>
              <a:t>OCTET STRING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>
                <a:solidFill>
                  <a:schemeClr val="folHlink"/>
                </a:solidFill>
              </a:rPr>
              <a:t>OBJECT IDENTIFIER (OID)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>
                <a:solidFill>
                  <a:schemeClr val="folHlink"/>
                </a:solidFill>
              </a:rPr>
              <a:t>NULL</a:t>
            </a:r>
            <a:r>
              <a:rPr lang="en-US" altLang="en-US" sz="2000">
                <a:solidFill>
                  <a:schemeClr val="accent1"/>
                </a:solidFill>
              </a:rPr>
              <a:t> </a:t>
            </a:r>
            <a:r>
              <a:rPr lang="en-US" altLang="en-US" sz="2000"/>
              <a:t>-- not actually data type, but data value</a:t>
            </a:r>
            <a:endParaRPr lang="en-US" altLang="en-US" sz="2000">
              <a:solidFill>
                <a:schemeClr val="accent1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>
                <a:solidFill>
                  <a:schemeClr val="accent1"/>
                </a:solidFill>
              </a:rPr>
              <a:t>IpAddress </a:t>
            </a:r>
            <a:r>
              <a:rPr lang="en-US" altLang="en-US" sz="2000"/>
              <a:t>-- OCTET STRING of size 4, in network byte order (B.E.)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>
                <a:solidFill>
                  <a:schemeClr val="accent1"/>
                </a:solidFill>
              </a:rPr>
              <a:t>Counter </a:t>
            </a:r>
            <a:r>
              <a:rPr lang="en-US" altLang="en-US" sz="2000"/>
              <a:t>-- unsigned 32-bit integer (rolls over)</a:t>
            </a:r>
            <a:endParaRPr lang="en-US" altLang="en-US" sz="2000">
              <a:solidFill>
                <a:schemeClr val="accent1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>
                <a:solidFill>
                  <a:schemeClr val="accent1"/>
                </a:solidFill>
              </a:rPr>
              <a:t>Gauge </a:t>
            </a:r>
            <a:r>
              <a:rPr lang="en-US" altLang="en-US" sz="2000"/>
              <a:t>-- unsigned 32-bit integer (will top out and stay there)</a:t>
            </a:r>
            <a:endParaRPr lang="en-US" altLang="en-US" sz="2000">
              <a:solidFill>
                <a:schemeClr val="accent1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>
                <a:solidFill>
                  <a:schemeClr val="accent1"/>
                </a:solidFill>
              </a:rPr>
              <a:t>TimeTicks </a:t>
            </a:r>
            <a:r>
              <a:rPr lang="en-US" altLang="en-US" sz="2000"/>
              <a:t>-- unsigned 32-bit integer (rolls over after 497 days)</a:t>
            </a:r>
            <a:endParaRPr lang="en-US" altLang="en-US" sz="2000">
              <a:solidFill>
                <a:schemeClr val="accent1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>
                <a:solidFill>
                  <a:schemeClr val="accent1"/>
                </a:solidFill>
              </a:rPr>
              <a:t>Opaque </a:t>
            </a:r>
            <a:r>
              <a:rPr lang="en-US" altLang="en-US" sz="2000"/>
              <a:t>-- used to create new data types not in SNMPv1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>
                <a:solidFill>
                  <a:schemeClr val="tx2"/>
                </a:solidFill>
              </a:rPr>
              <a:t>DateAndTime, DisplayString, MacAddress, PhysAddress, TimeInterval, TimeStamp, TruthValue, VariablePointer </a:t>
            </a:r>
            <a:r>
              <a:rPr lang="en-US" altLang="en-US" sz="1800"/>
              <a:t>-- textual conventions used as types</a:t>
            </a:r>
            <a:endParaRPr lang="en-US" altLang="en-US" sz="2000">
              <a:solidFill>
                <a:schemeClr val="tx2"/>
              </a:solidFill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EEC55204-1E4E-4126-A7AC-C89B4FFE4C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SNMP Data Types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FDA4FEE2-C584-6298-B162-575A7B391BBC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sz="2400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4821" name="Text Box 6">
            <a:extLst>
              <a:ext uri="{FF2B5EF4-FFF2-40B4-BE49-F238E27FC236}">
                <a16:creationId xmlns:a16="http://schemas.microsoft.com/office/drawing/2014/main" id="{A99693D7-6DDE-5A41-391B-4C6EE6307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371600"/>
            <a:ext cx="23622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folHlink"/>
                </a:solidFill>
              </a:rPr>
              <a:t>Yellow items defined by ASN.1</a:t>
            </a:r>
          </a:p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chemeClr val="accent1"/>
                </a:solidFill>
              </a:rPr>
              <a:t>Orange items defined by RFC 1155</a:t>
            </a:r>
            <a:r>
              <a:rPr lang="en-US" altLang="en-US" b="1">
                <a:solidFill>
                  <a:schemeClr val="accent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02E11E6-B2A1-59F1-2A7D-0F9D6FD5A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Managed “Objects” &amp; MIBs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FF3E5A5-545D-4D83-D10E-EE708009E2E3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sz="2400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5844" name="Text Box 4">
            <a:extLst>
              <a:ext uri="{FF2B5EF4-FFF2-40B4-BE49-F238E27FC236}">
                <a16:creationId xmlns:a16="http://schemas.microsoft.com/office/drawing/2014/main" id="{0B7E1994-3CF6-317E-6EA9-BCC391A33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828800"/>
            <a:ext cx="80772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Always defined and referenced within the context of a MIB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A typical MIB variable definition:</a:t>
            </a:r>
          </a:p>
        </p:txBody>
      </p:sp>
      <p:sp>
        <p:nvSpPr>
          <p:cNvPr id="35845" name="Text Box 5">
            <a:extLst>
              <a:ext uri="{FF2B5EF4-FFF2-40B4-BE49-F238E27FC236}">
                <a16:creationId xmlns:a16="http://schemas.microsoft.com/office/drawing/2014/main" id="{AF956F7C-3998-A39E-A94B-085606067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895600"/>
            <a:ext cx="8077200" cy="366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>
                <a:solidFill>
                  <a:schemeClr val="accent1"/>
                </a:solidFill>
              </a:rPr>
              <a:t>sysContact OBJECT-TYPE	</a:t>
            </a:r>
            <a:r>
              <a:rPr lang="en-US" altLang="en-US" sz="1800"/>
              <a:t>-- OBJECT-TYPE is a macro</a:t>
            </a:r>
            <a:endParaRPr lang="en-US" altLang="en-US" sz="1800">
              <a:solidFill>
                <a:schemeClr val="accent1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en-US" sz="1800">
                <a:solidFill>
                  <a:schemeClr val="accent1"/>
                </a:solidFill>
              </a:rPr>
              <a:t>      SYNTAX	DisplayString (SIZE (0..255))</a:t>
            </a:r>
          </a:p>
          <a:p>
            <a:pPr>
              <a:spcBef>
                <a:spcPct val="50000"/>
              </a:spcBef>
            </a:pPr>
            <a:r>
              <a:rPr lang="en-US" altLang="en-US" sz="1800">
                <a:solidFill>
                  <a:schemeClr val="accent1"/>
                </a:solidFill>
              </a:rPr>
              <a:t>      ACCESS	read-write	</a:t>
            </a:r>
            <a:r>
              <a:rPr lang="en-US" altLang="en-US" sz="1800"/>
              <a:t>-- or </a:t>
            </a:r>
            <a:r>
              <a:rPr lang="en-US" altLang="en-US" sz="1800">
                <a:solidFill>
                  <a:schemeClr val="tx2"/>
                </a:solidFill>
              </a:rPr>
              <a:t>read-write</a:t>
            </a:r>
            <a:r>
              <a:rPr lang="en-US" altLang="en-US" sz="1800"/>
              <a:t>, </a:t>
            </a:r>
            <a:r>
              <a:rPr lang="en-US" altLang="en-US" sz="1800">
                <a:solidFill>
                  <a:schemeClr val="tx2"/>
                </a:solidFill>
              </a:rPr>
              <a:t>write-only</a:t>
            </a:r>
            <a:r>
              <a:rPr lang="en-US" altLang="en-US" sz="1800"/>
              <a:t>, </a:t>
            </a:r>
            <a:r>
              <a:rPr lang="en-US" altLang="en-US" sz="1800">
                <a:solidFill>
                  <a:schemeClr val="tx2"/>
                </a:solidFill>
              </a:rPr>
              <a:t>not-accessible</a:t>
            </a:r>
            <a:endParaRPr lang="en-US" altLang="en-US" sz="1800">
              <a:solidFill>
                <a:schemeClr val="accent1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en-US" sz="1800">
                <a:solidFill>
                  <a:schemeClr val="accent1"/>
                </a:solidFill>
              </a:rPr>
              <a:t>      STATUS	mandatory	</a:t>
            </a:r>
            <a:r>
              <a:rPr lang="en-US" altLang="en-US" sz="1800"/>
              <a:t>-- or </a:t>
            </a:r>
            <a:r>
              <a:rPr lang="en-US" altLang="en-US" sz="1800">
                <a:solidFill>
                  <a:schemeClr val="tx2"/>
                </a:solidFill>
              </a:rPr>
              <a:t>optional</a:t>
            </a:r>
            <a:r>
              <a:rPr lang="en-US" altLang="en-US" sz="1800"/>
              <a:t>, </a:t>
            </a:r>
            <a:r>
              <a:rPr lang="en-US" altLang="en-US" sz="1800">
                <a:solidFill>
                  <a:schemeClr val="tx2"/>
                </a:solidFill>
              </a:rPr>
              <a:t>deprecated</a:t>
            </a:r>
            <a:r>
              <a:rPr lang="en-US" altLang="en-US" sz="1800"/>
              <a:t>, </a:t>
            </a:r>
            <a:r>
              <a:rPr lang="en-US" altLang="en-US" sz="1800">
                <a:solidFill>
                  <a:schemeClr val="tx2"/>
                </a:solidFill>
              </a:rPr>
              <a:t>obsolete</a:t>
            </a:r>
            <a:endParaRPr lang="en-US" altLang="en-US" sz="1800">
              <a:solidFill>
                <a:schemeClr val="accent1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en-US" sz="1800">
                <a:solidFill>
                  <a:schemeClr val="accent1"/>
                </a:solidFill>
              </a:rPr>
              <a:t>      DESCRIPTION</a:t>
            </a:r>
          </a:p>
          <a:p>
            <a:pPr>
              <a:spcBef>
                <a:spcPct val="50000"/>
              </a:spcBef>
            </a:pPr>
            <a:r>
              <a:rPr lang="en-US" altLang="en-US" sz="1800">
                <a:solidFill>
                  <a:schemeClr val="accent1"/>
                </a:solidFill>
              </a:rPr>
              <a:t>	“Chris Francois</a:t>
            </a:r>
          </a:p>
          <a:p>
            <a:pPr>
              <a:spcBef>
                <a:spcPct val="50000"/>
              </a:spcBef>
            </a:pPr>
            <a:r>
              <a:rPr lang="en-US" altLang="en-US" sz="1800">
                <a:solidFill>
                  <a:schemeClr val="accent1"/>
                </a:solidFill>
              </a:rPr>
              <a:t>	  cfrancois@acm.org</a:t>
            </a:r>
          </a:p>
          <a:p>
            <a:pPr>
              <a:spcBef>
                <a:spcPct val="50000"/>
              </a:spcBef>
            </a:pPr>
            <a:r>
              <a:rPr lang="en-US" altLang="en-US" sz="1800">
                <a:solidFill>
                  <a:schemeClr val="accent1"/>
                </a:solidFill>
              </a:rPr>
              <a:t>	  (360)650-0000”</a:t>
            </a:r>
          </a:p>
          <a:p>
            <a:pPr>
              <a:spcBef>
                <a:spcPct val="50000"/>
              </a:spcBef>
            </a:pPr>
            <a:r>
              <a:rPr lang="en-US" altLang="en-US" sz="1800">
                <a:solidFill>
                  <a:schemeClr val="accent1"/>
                </a:solidFill>
              </a:rPr>
              <a:t>      ::= { system 4 }</a:t>
            </a:r>
            <a:endParaRPr lang="en-US" alt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ED1C2550-B1A3-B3EE-467B-08DF01B7F4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Basic Message Format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ABDF9151-5665-6037-100F-A30D9E036470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sz="2400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133AC142-914A-26BD-25F6-4E4FA3E3F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209800"/>
            <a:ext cx="3200400" cy="4572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B377B15F-DD0E-E9FE-2B10-CA2F349D9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667000"/>
            <a:ext cx="3200400" cy="4572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E6A796E9-91E5-6E21-1F39-4E9F2F9A2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124200"/>
            <a:ext cx="3200400" cy="4572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1359FFE6-B686-8D20-3925-8C0EEC4FB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581400"/>
            <a:ext cx="3200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896" name="Rectangle 8">
            <a:extLst>
              <a:ext uri="{FF2B5EF4-FFF2-40B4-BE49-F238E27FC236}">
                <a16:creationId xmlns:a16="http://schemas.microsoft.com/office/drawing/2014/main" id="{C8956377-B640-88D5-E732-F575A26B5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95800"/>
            <a:ext cx="3200400" cy="19050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897" name="Text Box 9">
            <a:extLst>
              <a:ext uri="{FF2B5EF4-FFF2-40B4-BE49-F238E27FC236}">
                <a16:creationId xmlns:a16="http://schemas.microsoft.com/office/drawing/2014/main" id="{B2C30B5D-3E2F-455F-0961-00892F95B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2098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Message Length</a:t>
            </a:r>
          </a:p>
        </p:txBody>
      </p:sp>
      <p:sp>
        <p:nvSpPr>
          <p:cNvPr id="37898" name="Text Box 10">
            <a:extLst>
              <a:ext uri="{FF2B5EF4-FFF2-40B4-BE49-F238E27FC236}">
                <a16:creationId xmlns:a16="http://schemas.microsoft.com/office/drawing/2014/main" id="{388F763D-EC99-3422-BFAD-000024835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6670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Message Version</a:t>
            </a:r>
          </a:p>
        </p:txBody>
      </p:sp>
      <p:sp>
        <p:nvSpPr>
          <p:cNvPr id="37899" name="Text Box 11">
            <a:extLst>
              <a:ext uri="{FF2B5EF4-FFF2-40B4-BE49-F238E27FC236}">
                <a16:creationId xmlns:a16="http://schemas.microsoft.com/office/drawing/2014/main" id="{AFC56D43-6674-C213-D275-2FA47267E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1242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Community String</a:t>
            </a:r>
          </a:p>
        </p:txBody>
      </p:sp>
      <p:sp>
        <p:nvSpPr>
          <p:cNvPr id="37900" name="Text Box 12">
            <a:extLst>
              <a:ext uri="{FF2B5EF4-FFF2-40B4-BE49-F238E27FC236}">
                <a16:creationId xmlns:a16="http://schemas.microsoft.com/office/drawing/2014/main" id="{FDB55B93-CA4D-F22E-7AFA-FA40B9410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8100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PDU Header</a:t>
            </a:r>
          </a:p>
        </p:txBody>
      </p:sp>
      <p:sp>
        <p:nvSpPr>
          <p:cNvPr id="37901" name="Text Box 13">
            <a:extLst>
              <a:ext uri="{FF2B5EF4-FFF2-40B4-BE49-F238E27FC236}">
                <a16:creationId xmlns:a16="http://schemas.microsoft.com/office/drawing/2014/main" id="{22AA9709-A576-F348-741F-7E283981B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1816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2"/>
                </a:solidFill>
              </a:rPr>
              <a:t>PDU Body</a:t>
            </a:r>
          </a:p>
        </p:txBody>
      </p:sp>
      <p:sp>
        <p:nvSpPr>
          <p:cNvPr id="37902" name="Line 14">
            <a:extLst>
              <a:ext uri="{FF2B5EF4-FFF2-40B4-BE49-F238E27FC236}">
                <a16:creationId xmlns:a16="http://schemas.microsoft.com/office/drawing/2014/main" id="{1A6FE583-5B1A-A082-CECB-B80F2D83D1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3" name="Line 15">
            <a:extLst>
              <a:ext uri="{FF2B5EF4-FFF2-40B4-BE49-F238E27FC236}">
                <a16:creationId xmlns:a16="http://schemas.microsoft.com/office/drawing/2014/main" id="{5F0291C8-D2CD-1029-70FE-25399D93B7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28956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4" name="Text Box 16">
            <a:extLst>
              <a:ext uri="{FF2B5EF4-FFF2-40B4-BE49-F238E27FC236}">
                <a16:creationId xmlns:a16="http://schemas.microsoft.com/office/drawing/2014/main" id="{9C492670-001B-0380-C954-C65974DB2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667000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Message Preamble</a:t>
            </a:r>
          </a:p>
        </p:txBody>
      </p:sp>
      <p:sp>
        <p:nvSpPr>
          <p:cNvPr id="37905" name="Line 17">
            <a:extLst>
              <a:ext uri="{FF2B5EF4-FFF2-40B4-BE49-F238E27FC236}">
                <a16:creationId xmlns:a16="http://schemas.microsoft.com/office/drawing/2014/main" id="{D1DDEB74-1BA2-7660-1F65-9A9EAB8A69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581400"/>
            <a:ext cx="457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6" name="Line 18">
            <a:extLst>
              <a:ext uri="{FF2B5EF4-FFF2-40B4-BE49-F238E27FC236}">
                <a16:creationId xmlns:a16="http://schemas.microsoft.com/office/drawing/2014/main" id="{20ACEEC7-47BA-B6DE-3E97-B58855AD42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5029200"/>
            <a:ext cx="4572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7" name="Text Box 19">
            <a:extLst>
              <a:ext uri="{FF2B5EF4-FFF2-40B4-BE49-F238E27FC236}">
                <a16:creationId xmlns:a16="http://schemas.microsoft.com/office/drawing/2014/main" id="{6E268DEF-08BA-D02E-7FB3-814E07B73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724400"/>
            <a:ext cx="2286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SNMP Protocol Data Unit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:a16="http://schemas.microsoft.com/office/drawing/2014/main" id="{0379EF62-1B58-B05C-A333-64B74806081C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sz="2400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grpSp>
        <p:nvGrpSpPr>
          <p:cNvPr id="38915" name="Group 71">
            <a:extLst>
              <a:ext uri="{FF2B5EF4-FFF2-40B4-BE49-F238E27FC236}">
                <a16:creationId xmlns:a16="http://schemas.microsoft.com/office/drawing/2014/main" id="{1C383715-E41A-80FA-94E8-CC5B9D759FFE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533400"/>
            <a:ext cx="3200400" cy="6280150"/>
            <a:chOff x="96" y="48"/>
            <a:chExt cx="2016" cy="3956"/>
          </a:xfrm>
        </p:grpSpPr>
        <p:sp>
          <p:nvSpPr>
            <p:cNvPr id="38974" name="Rectangle 20">
              <a:extLst>
                <a:ext uri="{FF2B5EF4-FFF2-40B4-BE49-F238E27FC236}">
                  <a16:creationId xmlns:a16="http://schemas.microsoft.com/office/drawing/2014/main" id="{630AB04D-B01F-068E-3FC6-459A0AAA9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68"/>
              <a:ext cx="201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75" name="Rectangle 24">
              <a:extLst>
                <a:ext uri="{FF2B5EF4-FFF2-40B4-BE49-F238E27FC236}">
                  <a16:creationId xmlns:a16="http://schemas.microsoft.com/office/drawing/2014/main" id="{1A691DC0-25A8-382B-E1B5-C98EA813B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260"/>
              <a:ext cx="201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76" name="Rectangle 25">
              <a:extLst>
                <a:ext uri="{FF2B5EF4-FFF2-40B4-BE49-F238E27FC236}">
                  <a16:creationId xmlns:a16="http://schemas.microsoft.com/office/drawing/2014/main" id="{511E1E96-0FB6-F7BD-A614-3F68FD79A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452"/>
              <a:ext cx="201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77" name="Rectangle 26">
              <a:extLst>
                <a:ext uri="{FF2B5EF4-FFF2-40B4-BE49-F238E27FC236}">
                  <a16:creationId xmlns:a16="http://schemas.microsoft.com/office/drawing/2014/main" id="{9B116D69-1150-978F-34D1-44045ED3B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644"/>
              <a:ext cx="201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78" name="Rectangle 27">
              <a:extLst>
                <a:ext uri="{FF2B5EF4-FFF2-40B4-BE49-F238E27FC236}">
                  <a16:creationId xmlns:a16="http://schemas.microsoft.com/office/drawing/2014/main" id="{75459A24-47E4-B09D-881D-93FABD56DE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836"/>
              <a:ext cx="201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79" name="Rectangle 28">
              <a:extLst>
                <a:ext uri="{FF2B5EF4-FFF2-40B4-BE49-F238E27FC236}">
                  <a16:creationId xmlns:a16="http://schemas.microsoft.com/office/drawing/2014/main" id="{DFE76E92-88CF-6190-4838-8A4D50573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028"/>
              <a:ext cx="201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80" name="Rectangle 29">
              <a:extLst>
                <a:ext uri="{FF2B5EF4-FFF2-40B4-BE49-F238E27FC236}">
                  <a16:creationId xmlns:a16="http://schemas.microsoft.com/office/drawing/2014/main" id="{B31013D7-4DB0-671E-C6E8-EAC692324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220"/>
              <a:ext cx="201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81" name="Rectangle 30">
              <a:extLst>
                <a:ext uri="{FF2B5EF4-FFF2-40B4-BE49-F238E27FC236}">
                  <a16:creationId xmlns:a16="http://schemas.microsoft.com/office/drawing/2014/main" id="{A203B69F-C388-EE0D-C5D6-A8D0B948D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412"/>
              <a:ext cx="201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82" name="Rectangle 31">
              <a:extLst>
                <a:ext uri="{FF2B5EF4-FFF2-40B4-BE49-F238E27FC236}">
                  <a16:creationId xmlns:a16="http://schemas.microsoft.com/office/drawing/2014/main" id="{33094E44-601A-1E28-564B-F8F12B765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604"/>
              <a:ext cx="2016" cy="240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83" name="Rectangle 32">
              <a:extLst>
                <a:ext uri="{FF2B5EF4-FFF2-40B4-BE49-F238E27FC236}">
                  <a16:creationId xmlns:a16="http://schemas.microsoft.com/office/drawing/2014/main" id="{9901AE52-C480-333C-1647-CBD12BA83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652"/>
              <a:ext cx="1920" cy="1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84" name="Rectangle 33">
              <a:extLst>
                <a:ext uri="{FF2B5EF4-FFF2-40B4-BE49-F238E27FC236}">
                  <a16:creationId xmlns:a16="http://schemas.microsoft.com/office/drawing/2014/main" id="{BD40E2F4-A162-7FB3-7C5C-2C4F9EE07F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940"/>
              <a:ext cx="1920" cy="1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85" name="Rectangle 34">
              <a:extLst>
                <a:ext uri="{FF2B5EF4-FFF2-40B4-BE49-F238E27FC236}">
                  <a16:creationId xmlns:a16="http://schemas.microsoft.com/office/drawing/2014/main" id="{4118EA15-F194-ACE5-5554-E00B11A06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132"/>
              <a:ext cx="1920" cy="1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86" name="Rectangle 35">
              <a:extLst>
                <a:ext uri="{FF2B5EF4-FFF2-40B4-BE49-F238E27FC236}">
                  <a16:creationId xmlns:a16="http://schemas.microsoft.com/office/drawing/2014/main" id="{51F2E32B-DDA2-FEE4-0A14-76917B20C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324"/>
              <a:ext cx="1920" cy="1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87" name="Rectangle 36">
              <a:extLst>
                <a:ext uri="{FF2B5EF4-FFF2-40B4-BE49-F238E27FC236}">
                  <a16:creationId xmlns:a16="http://schemas.microsoft.com/office/drawing/2014/main" id="{DB722147-C7F6-C86B-7AE9-CE88924DB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516"/>
              <a:ext cx="1920" cy="1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88" name="Rectangle 41">
              <a:extLst>
                <a:ext uri="{FF2B5EF4-FFF2-40B4-BE49-F238E27FC236}">
                  <a16:creationId xmlns:a16="http://schemas.microsoft.com/office/drawing/2014/main" id="{9DDE1401-6C01-A897-1A56-77400428A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620"/>
              <a:ext cx="1920" cy="336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89" name="Text Box 42">
              <a:extLst>
                <a:ext uri="{FF2B5EF4-FFF2-40B4-BE49-F238E27FC236}">
                  <a16:creationId xmlns:a16="http://schemas.microsoft.com/office/drawing/2014/main" id="{33BEA8A9-E1B4-D8A5-BBEC-4F1A65BE95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48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Message Length</a:t>
              </a:r>
            </a:p>
          </p:txBody>
        </p:sp>
        <p:sp>
          <p:nvSpPr>
            <p:cNvPr id="38990" name="Text Box 43">
              <a:extLst>
                <a:ext uri="{FF2B5EF4-FFF2-40B4-BE49-F238E27FC236}">
                  <a16:creationId xmlns:a16="http://schemas.microsoft.com/office/drawing/2014/main" id="{A458EB1B-0976-5CA7-DCC3-39457CB252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40"/>
              <a:ext cx="19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Message Version</a:t>
              </a:r>
            </a:p>
          </p:txBody>
        </p:sp>
        <p:sp>
          <p:nvSpPr>
            <p:cNvPr id="38991" name="Text Box 44">
              <a:extLst>
                <a:ext uri="{FF2B5EF4-FFF2-40B4-BE49-F238E27FC236}">
                  <a16:creationId xmlns:a16="http://schemas.microsoft.com/office/drawing/2014/main" id="{B28D7F59-6C82-4A1C-0825-4C69E707A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432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Community String</a:t>
              </a:r>
            </a:p>
          </p:txBody>
        </p:sp>
        <p:sp>
          <p:nvSpPr>
            <p:cNvPr id="38992" name="Text Box 45">
              <a:extLst>
                <a:ext uri="{FF2B5EF4-FFF2-40B4-BE49-F238E27FC236}">
                  <a16:creationId xmlns:a16="http://schemas.microsoft.com/office/drawing/2014/main" id="{3719AC5F-07E4-44F2-D14B-EC039452E0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624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PDU Type</a:t>
              </a:r>
            </a:p>
          </p:txBody>
        </p:sp>
        <p:sp>
          <p:nvSpPr>
            <p:cNvPr id="38993" name="Text Box 46">
              <a:extLst>
                <a:ext uri="{FF2B5EF4-FFF2-40B4-BE49-F238E27FC236}">
                  <a16:creationId xmlns:a16="http://schemas.microsoft.com/office/drawing/2014/main" id="{DE34CB8E-2AE4-A486-F204-5B5544894F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816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PDU Length</a:t>
              </a:r>
            </a:p>
          </p:txBody>
        </p:sp>
        <p:sp>
          <p:nvSpPr>
            <p:cNvPr id="38994" name="Text Box 47">
              <a:extLst>
                <a:ext uri="{FF2B5EF4-FFF2-40B4-BE49-F238E27FC236}">
                  <a16:creationId xmlns:a16="http://schemas.microsoft.com/office/drawing/2014/main" id="{5B9AAB8E-51EE-8AB2-2379-6457C11772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028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Request ID</a:t>
              </a:r>
            </a:p>
          </p:txBody>
        </p:sp>
        <p:sp>
          <p:nvSpPr>
            <p:cNvPr id="38995" name="Text Box 48">
              <a:extLst>
                <a:ext uri="{FF2B5EF4-FFF2-40B4-BE49-F238E27FC236}">
                  <a16:creationId xmlns:a16="http://schemas.microsoft.com/office/drawing/2014/main" id="{62FED0CB-EFC8-FE86-EF9F-31C07DD00B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200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Error Status</a:t>
              </a:r>
            </a:p>
          </p:txBody>
        </p:sp>
        <p:sp>
          <p:nvSpPr>
            <p:cNvPr id="38996" name="Text Box 49">
              <a:extLst>
                <a:ext uri="{FF2B5EF4-FFF2-40B4-BE49-F238E27FC236}">
                  <a16:creationId xmlns:a16="http://schemas.microsoft.com/office/drawing/2014/main" id="{B1B7781C-EDF4-A665-0F9E-BD54D99050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392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Error Index</a:t>
              </a:r>
            </a:p>
          </p:txBody>
        </p:sp>
        <p:sp>
          <p:nvSpPr>
            <p:cNvPr id="38997" name="Text Box 50">
              <a:extLst>
                <a:ext uri="{FF2B5EF4-FFF2-40B4-BE49-F238E27FC236}">
                  <a16:creationId xmlns:a16="http://schemas.microsoft.com/office/drawing/2014/main" id="{7CE314E1-3486-DFBE-0456-8BCD70363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632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Length of Variable Bindings</a:t>
              </a:r>
            </a:p>
          </p:txBody>
        </p:sp>
        <p:sp>
          <p:nvSpPr>
            <p:cNvPr id="38998" name="Text Box 51">
              <a:extLst>
                <a:ext uri="{FF2B5EF4-FFF2-40B4-BE49-F238E27FC236}">
                  <a16:creationId xmlns:a16="http://schemas.microsoft.com/office/drawing/2014/main" id="{E90F76C7-FF9C-196E-53BC-FE7BAACF42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940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Length of First Binding</a:t>
              </a:r>
            </a:p>
          </p:txBody>
        </p:sp>
        <p:sp>
          <p:nvSpPr>
            <p:cNvPr id="38999" name="Text Box 59">
              <a:extLst>
                <a:ext uri="{FF2B5EF4-FFF2-40B4-BE49-F238E27FC236}">
                  <a16:creationId xmlns:a16="http://schemas.microsoft.com/office/drawing/2014/main" id="{FB4B4E64-BAE0-AE50-C8DA-40C915EBEF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3696"/>
              <a:ext cx="19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Additional Variable Bindings</a:t>
              </a:r>
            </a:p>
          </p:txBody>
        </p:sp>
        <p:sp>
          <p:nvSpPr>
            <p:cNvPr id="39000" name="Text Box 60">
              <a:extLst>
                <a:ext uri="{FF2B5EF4-FFF2-40B4-BE49-F238E27FC236}">
                  <a16:creationId xmlns:a16="http://schemas.microsoft.com/office/drawing/2014/main" id="{0A020E30-C1F0-2319-C1B1-A7E948156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132"/>
              <a:ext cx="19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OID of First Binding</a:t>
              </a:r>
            </a:p>
          </p:txBody>
        </p:sp>
        <p:sp>
          <p:nvSpPr>
            <p:cNvPr id="39001" name="Text Box 61">
              <a:extLst>
                <a:ext uri="{FF2B5EF4-FFF2-40B4-BE49-F238E27FC236}">
                  <a16:creationId xmlns:a16="http://schemas.microsoft.com/office/drawing/2014/main" id="{08C7B35A-D9F0-C604-B94C-558A722735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304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Type of First Binding</a:t>
              </a:r>
            </a:p>
          </p:txBody>
        </p:sp>
        <p:sp>
          <p:nvSpPr>
            <p:cNvPr id="39002" name="Text Box 62">
              <a:extLst>
                <a:ext uri="{FF2B5EF4-FFF2-40B4-BE49-F238E27FC236}">
                  <a16:creationId xmlns:a16="http://schemas.microsoft.com/office/drawing/2014/main" id="{BF312464-1E0E-70DC-5621-4D3B9EB41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496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Value of First Binding</a:t>
              </a:r>
            </a:p>
          </p:txBody>
        </p:sp>
        <p:sp>
          <p:nvSpPr>
            <p:cNvPr id="39003" name="Rectangle 63">
              <a:extLst>
                <a:ext uri="{FF2B5EF4-FFF2-40B4-BE49-F238E27FC236}">
                  <a16:creationId xmlns:a16="http://schemas.microsoft.com/office/drawing/2014/main" id="{80536665-72F8-76DD-99B9-BEB34B334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756"/>
              <a:ext cx="1920" cy="1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004" name="Rectangle 64">
              <a:extLst>
                <a:ext uri="{FF2B5EF4-FFF2-40B4-BE49-F238E27FC236}">
                  <a16:creationId xmlns:a16="http://schemas.microsoft.com/office/drawing/2014/main" id="{2FD71D16-E474-F5AE-0D41-CA1476151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948"/>
              <a:ext cx="1920" cy="1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005" name="Rectangle 65">
              <a:extLst>
                <a:ext uri="{FF2B5EF4-FFF2-40B4-BE49-F238E27FC236}">
                  <a16:creationId xmlns:a16="http://schemas.microsoft.com/office/drawing/2014/main" id="{1F542F1B-D413-88D1-7429-43C07F16F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140"/>
              <a:ext cx="1920" cy="1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006" name="Rectangle 66">
              <a:extLst>
                <a:ext uri="{FF2B5EF4-FFF2-40B4-BE49-F238E27FC236}">
                  <a16:creationId xmlns:a16="http://schemas.microsoft.com/office/drawing/2014/main" id="{AE7E80AA-CDD0-5728-FC86-FC647D79F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32"/>
              <a:ext cx="1920" cy="1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007" name="Text Box 67">
              <a:extLst>
                <a:ext uri="{FF2B5EF4-FFF2-40B4-BE49-F238E27FC236}">
                  <a16:creationId xmlns:a16="http://schemas.microsoft.com/office/drawing/2014/main" id="{87CD9DC2-6637-0492-8CFB-E3380143A6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756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Length of Second Binding</a:t>
              </a:r>
            </a:p>
          </p:txBody>
        </p:sp>
        <p:sp>
          <p:nvSpPr>
            <p:cNvPr id="39008" name="Text Box 68">
              <a:extLst>
                <a:ext uri="{FF2B5EF4-FFF2-40B4-BE49-F238E27FC236}">
                  <a16:creationId xmlns:a16="http://schemas.microsoft.com/office/drawing/2014/main" id="{F3F053D9-7B21-7167-05DE-DB72B1E8A5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948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OID of Second Binding</a:t>
              </a:r>
            </a:p>
          </p:txBody>
        </p:sp>
        <p:sp>
          <p:nvSpPr>
            <p:cNvPr id="39009" name="Text Box 69">
              <a:extLst>
                <a:ext uri="{FF2B5EF4-FFF2-40B4-BE49-F238E27FC236}">
                  <a16:creationId xmlns:a16="http://schemas.microsoft.com/office/drawing/2014/main" id="{CADB4DB3-4540-55AA-43C8-B3B4F851B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3120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Type of Second Binding</a:t>
              </a:r>
            </a:p>
          </p:txBody>
        </p:sp>
        <p:sp>
          <p:nvSpPr>
            <p:cNvPr id="39010" name="Text Box 70">
              <a:extLst>
                <a:ext uri="{FF2B5EF4-FFF2-40B4-BE49-F238E27FC236}">
                  <a16:creationId xmlns:a16="http://schemas.microsoft.com/office/drawing/2014/main" id="{870020CD-0501-F3B0-0581-D20874F955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3312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Value of Second Binding</a:t>
              </a:r>
            </a:p>
          </p:txBody>
        </p:sp>
      </p:grpSp>
      <p:grpSp>
        <p:nvGrpSpPr>
          <p:cNvPr id="38916" name="Group 115">
            <a:extLst>
              <a:ext uri="{FF2B5EF4-FFF2-40B4-BE49-F238E27FC236}">
                <a16:creationId xmlns:a16="http://schemas.microsoft.com/office/drawing/2014/main" id="{265840DB-C742-5869-A275-BBAFDD2C8A2E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76200"/>
            <a:ext cx="3200400" cy="6781800"/>
            <a:chOff x="3648" y="48"/>
            <a:chExt cx="2016" cy="4272"/>
          </a:xfrm>
        </p:grpSpPr>
        <p:sp>
          <p:nvSpPr>
            <p:cNvPr id="38933" name="Rectangle 73">
              <a:extLst>
                <a:ext uri="{FF2B5EF4-FFF2-40B4-BE49-F238E27FC236}">
                  <a16:creationId xmlns:a16="http://schemas.microsoft.com/office/drawing/2014/main" id="{21F7E68B-AA03-B316-30B5-15BCCF888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68"/>
              <a:ext cx="201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34" name="Rectangle 74">
              <a:extLst>
                <a:ext uri="{FF2B5EF4-FFF2-40B4-BE49-F238E27FC236}">
                  <a16:creationId xmlns:a16="http://schemas.microsoft.com/office/drawing/2014/main" id="{C20378F1-DA91-8055-C12F-5FB78C2C8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60"/>
              <a:ext cx="201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35" name="Rectangle 75">
              <a:extLst>
                <a:ext uri="{FF2B5EF4-FFF2-40B4-BE49-F238E27FC236}">
                  <a16:creationId xmlns:a16="http://schemas.microsoft.com/office/drawing/2014/main" id="{E8BACE10-B13B-6637-85E7-DA266BAC2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452"/>
              <a:ext cx="201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36" name="Rectangle 76">
              <a:extLst>
                <a:ext uri="{FF2B5EF4-FFF2-40B4-BE49-F238E27FC236}">
                  <a16:creationId xmlns:a16="http://schemas.microsoft.com/office/drawing/2014/main" id="{4A456183-5F70-39BC-0090-511B9EF6A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644"/>
              <a:ext cx="201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37" name="Rectangle 77">
              <a:extLst>
                <a:ext uri="{FF2B5EF4-FFF2-40B4-BE49-F238E27FC236}">
                  <a16:creationId xmlns:a16="http://schemas.microsoft.com/office/drawing/2014/main" id="{5E61B46A-8660-8DB2-E06F-49367F7F2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836"/>
              <a:ext cx="201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38" name="Rectangle 78">
              <a:extLst>
                <a:ext uri="{FF2B5EF4-FFF2-40B4-BE49-F238E27FC236}">
                  <a16:creationId xmlns:a16="http://schemas.microsoft.com/office/drawing/2014/main" id="{1F6E5125-7D3A-C7F3-9A84-FBEAB39DF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028"/>
              <a:ext cx="201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39" name="Rectangle 79">
              <a:extLst>
                <a:ext uri="{FF2B5EF4-FFF2-40B4-BE49-F238E27FC236}">
                  <a16:creationId xmlns:a16="http://schemas.microsoft.com/office/drawing/2014/main" id="{AACAB3EB-A994-9424-AEDB-A4FF130C1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220"/>
              <a:ext cx="201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40" name="Rectangle 80">
              <a:extLst>
                <a:ext uri="{FF2B5EF4-FFF2-40B4-BE49-F238E27FC236}">
                  <a16:creationId xmlns:a16="http://schemas.microsoft.com/office/drawing/2014/main" id="{2CEAC95A-7860-7F8E-F8AF-0766EAA0C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412"/>
              <a:ext cx="201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41" name="Rectangle 81">
              <a:extLst>
                <a:ext uri="{FF2B5EF4-FFF2-40B4-BE49-F238E27FC236}">
                  <a16:creationId xmlns:a16="http://schemas.microsoft.com/office/drawing/2014/main" id="{D23E1996-90B1-EF75-22C4-751824085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920"/>
              <a:ext cx="2016" cy="240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42" name="Rectangle 82">
              <a:extLst>
                <a:ext uri="{FF2B5EF4-FFF2-40B4-BE49-F238E27FC236}">
                  <a16:creationId xmlns:a16="http://schemas.microsoft.com/office/drawing/2014/main" id="{430D7225-43F8-AEAC-98E6-BB6AC3C16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968"/>
              <a:ext cx="1920" cy="1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43" name="Rectangle 83">
              <a:extLst>
                <a:ext uri="{FF2B5EF4-FFF2-40B4-BE49-F238E27FC236}">
                  <a16:creationId xmlns:a16="http://schemas.microsoft.com/office/drawing/2014/main" id="{7A6FE961-F359-4F2E-AAA6-F2D9DF6B7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256"/>
              <a:ext cx="1920" cy="1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44" name="Rectangle 84">
              <a:extLst>
                <a:ext uri="{FF2B5EF4-FFF2-40B4-BE49-F238E27FC236}">
                  <a16:creationId xmlns:a16="http://schemas.microsoft.com/office/drawing/2014/main" id="{B560FB02-6028-C580-1346-EA59E57E4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448"/>
              <a:ext cx="1920" cy="1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45" name="Rectangle 85">
              <a:extLst>
                <a:ext uri="{FF2B5EF4-FFF2-40B4-BE49-F238E27FC236}">
                  <a16:creationId xmlns:a16="http://schemas.microsoft.com/office/drawing/2014/main" id="{17F9B86D-FC9D-1E93-9780-5EA48B008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640"/>
              <a:ext cx="1920" cy="1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46" name="Rectangle 86">
              <a:extLst>
                <a:ext uri="{FF2B5EF4-FFF2-40B4-BE49-F238E27FC236}">
                  <a16:creationId xmlns:a16="http://schemas.microsoft.com/office/drawing/2014/main" id="{67D2A3EC-6D12-C4AB-CD37-29B40AA5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832"/>
              <a:ext cx="1920" cy="1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47" name="Rectangle 87">
              <a:extLst>
                <a:ext uri="{FF2B5EF4-FFF2-40B4-BE49-F238E27FC236}">
                  <a16:creationId xmlns:a16="http://schemas.microsoft.com/office/drawing/2014/main" id="{813C796B-E16A-4FFD-48EF-A09AA8C84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936"/>
              <a:ext cx="1920" cy="336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48" name="Text Box 88">
              <a:extLst>
                <a:ext uri="{FF2B5EF4-FFF2-40B4-BE49-F238E27FC236}">
                  <a16:creationId xmlns:a16="http://schemas.microsoft.com/office/drawing/2014/main" id="{24104ABC-8EAE-5E69-3D03-48E965764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48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Message Length</a:t>
              </a:r>
            </a:p>
          </p:txBody>
        </p:sp>
        <p:sp>
          <p:nvSpPr>
            <p:cNvPr id="38949" name="Text Box 89">
              <a:extLst>
                <a:ext uri="{FF2B5EF4-FFF2-40B4-BE49-F238E27FC236}">
                  <a16:creationId xmlns:a16="http://schemas.microsoft.com/office/drawing/2014/main" id="{06ADCAF6-56AE-D32D-0A53-C82EDF3E94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40"/>
              <a:ext cx="19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Message Version</a:t>
              </a:r>
            </a:p>
          </p:txBody>
        </p:sp>
        <p:sp>
          <p:nvSpPr>
            <p:cNvPr id="38950" name="Text Box 90">
              <a:extLst>
                <a:ext uri="{FF2B5EF4-FFF2-40B4-BE49-F238E27FC236}">
                  <a16:creationId xmlns:a16="http://schemas.microsoft.com/office/drawing/2014/main" id="{BE2D838A-21AB-9387-9AD3-A101335B5D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432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Community String</a:t>
              </a:r>
            </a:p>
          </p:txBody>
        </p:sp>
        <p:sp>
          <p:nvSpPr>
            <p:cNvPr id="38951" name="Text Box 91">
              <a:extLst>
                <a:ext uri="{FF2B5EF4-FFF2-40B4-BE49-F238E27FC236}">
                  <a16:creationId xmlns:a16="http://schemas.microsoft.com/office/drawing/2014/main" id="{54A369F5-321F-1E63-7A9E-4F467A3BC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624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PDU Type</a:t>
              </a:r>
            </a:p>
          </p:txBody>
        </p:sp>
        <p:sp>
          <p:nvSpPr>
            <p:cNvPr id="38952" name="Text Box 92">
              <a:extLst>
                <a:ext uri="{FF2B5EF4-FFF2-40B4-BE49-F238E27FC236}">
                  <a16:creationId xmlns:a16="http://schemas.microsoft.com/office/drawing/2014/main" id="{5C622DD7-EC78-790F-2621-4A8E594B5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816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PDU Length</a:t>
              </a:r>
            </a:p>
          </p:txBody>
        </p:sp>
        <p:sp>
          <p:nvSpPr>
            <p:cNvPr id="38953" name="Text Box 93">
              <a:extLst>
                <a:ext uri="{FF2B5EF4-FFF2-40B4-BE49-F238E27FC236}">
                  <a16:creationId xmlns:a16="http://schemas.microsoft.com/office/drawing/2014/main" id="{06F0D332-A87D-3101-C3EC-0EF2B3131B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028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Enterprises MIB OID</a:t>
              </a:r>
            </a:p>
          </p:txBody>
        </p:sp>
        <p:sp>
          <p:nvSpPr>
            <p:cNvPr id="38954" name="Text Box 94">
              <a:extLst>
                <a:ext uri="{FF2B5EF4-FFF2-40B4-BE49-F238E27FC236}">
                  <a16:creationId xmlns:a16="http://schemas.microsoft.com/office/drawing/2014/main" id="{378E342E-3580-1559-9E1A-9F0C9AA46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200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Agent IP Address</a:t>
              </a:r>
            </a:p>
          </p:txBody>
        </p:sp>
        <p:sp>
          <p:nvSpPr>
            <p:cNvPr id="38955" name="Text Box 95">
              <a:extLst>
                <a:ext uri="{FF2B5EF4-FFF2-40B4-BE49-F238E27FC236}">
                  <a16:creationId xmlns:a16="http://schemas.microsoft.com/office/drawing/2014/main" id="{39BA2853-A017-70BF-C3A3-C29534F6D8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392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Standard Trap Type</a:t>
              </a:r>
            </a:p>
          </p:txBody>
        </p:sp>
        <p:sp>
          <p:nvSpPr>
            <p:cNvPr id="38956" name="Text Box 96">
              <a:extLst>
                <a:ext uri="{FF2B5EF4-FFF2-40B4-BE49-F238E27FC236}">
                  <a16:creationId xmlns:a16="http://schemas.microsoft.com/office/drawing/2014/main" id="{0EFA4B20-754D-8CFA-354C-321D5130A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948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Length of Variable Bindings</a:t>
              </a:r>
            </a:p>
          </p:txBody>
        </p:sp>
        <p:sp>
          <p:nvSpPr>
            <p:cNvPr id="38957" name="Text Box 97">
              <a:extLst>
                <a:ext uri="{FF2B5EF4-FFF2-40B4-BE49-F238E27FC236}">
                  <a16:creationId xmlns:a16="http://schemas.microsoft.com/office/drawing/2014/main" id="{A072FD83-773E-8BAB-0F5F-07256CA0C5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256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Length of First Binding</a:t>
              </a:r>
            </a:p>
          </p:txBody>
        </p:sp>
        <p:sp>
          <p:nvSpPr>
            <p:cNvPr id="38958" name="Text Box 98">
              <a:extLst>
                <a:ext uri="{FF2B5EF4-FFF2-40B4-BE49-F238E27FC236}">
                  <a16:creationId xmlns:a16="http://schemas.microsoft.com/office/drawing/2014/main" id="{A3255EBA-FE5D-B7B8-F881-4CDE1E070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4012"/>
              <a:ext cx="19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Additional Variable Bindings</a:t>
              </a:r>
            </a:p>
          </p:txBody>
        </p:sp>
        <p:sp>
          <p:nvSpPr>
            <p:cNvPr id="38959" name="Text Box 99">
              <a:extLst>
                <a:ext uri="{FF2B5EF4-FFF2-40B4-BE49-F238E27FC236}">
                  <a16:creationId xmlns:a16="http://schemas.microsoft.com/office/drawing/2014/main" id="{F7D953A4-3542-56DD-9C93-EED420A9B8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448"/>
              <a:ext cx="19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OID of First Binding</a:t>
              </a:r>
            </a:p>
          </p:txBody>
        </p:sp>
        <p:sp>
          <p:nvSpPr>
            <p:cNvPr id="38960" name="Text Box 100">
              <a:extLst>
                <a:ext uri="{FF2B5EF4-FFF2-40B4-BE49-F238E27FC236}">
                  <a16:creationId xmlns:a16="http://schemas.microsoft.com/office/drawing/2014/main" id="{DDBDF25F-0958-EFF5-F6B8-4178D37000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620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Type of First Binding</a:t>
              </a:r>
            </a:p>
          </p:txBody>
        </p:sp>
        <p:sp>
          <p:nvSpPr>
            <p:cNvPr id="38961" name="Text Box 101">
              <a:extLst>
                <a:ext uri="{FF2B5EF4-FFF2-40B4-BE49-F238E27FC236}">
                  <a16:creationId xmlns:a16="http://schemas.microsoft.com/office/drawing/2014/main" id="{E6BF9720-B9E0-8A66-BF17-6EB2B4332E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812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Value of First Binding</a:t>
              </a:r>
            </a:p>
          </p:txBody>
        </p:sp>
        <p:sp>
          <p:nvSpPr>
            <p:cNvPr id="38962" name="Rectangle 102">
              <a:extLst>
                <a:ext uri="{FF2B5EF4-FFF2-40B4-BE49-F238E27FC236}">
                  <a16:creationId xmlns:a16="http://schemas.microsoft.com/office/drawing/2014/main" id="{30E35CF0-26E2-3876-D3CA-372D3775C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072"/>
              <a:ext cx="1920" cy="1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63" name="Rectangle 103">
              <a:extLst>
                <a:ext uri="{FF2B5EF4-FFF2-40B4-BE49-F238E27FC236}">
                  <a16:creationId xmlns:a16="http://schemas.microsoft.com/office/drawing/2014/main" id="{2DA3B2DB-6088-382F-283B-58E7255F2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264"/>
              <a:ext cx="1920" cy="1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64" name="Rectangle 104">
              <a:extLst>
                <a:ext uri="{FF2B5EF4-FFF2-40B4-BE49-F238E27FC236}">
                  <a16:creationId xmlns:a16="http://schemas.microsoft.com/office/drawing/2014/main" id="{B9AE4CBF-B490-5780-86F0-6D0F158DD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456"/>
              <a:ext cx="1920" cy="1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65" name="Rectangle 105">
              <a:extLst>
                <a:ext uri="{FF2B5EF4-FFF2-40B4-BE49-F238E27FC236}">
                  <a16:creationId xmlns:a16="http://schemas.microsoft.com/office/drawing/2014/main" id="{454F8158-6E2F-9720-350C-86FF49609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648"/>
              <a:ext cx="1920" cy="19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66" name="Text Box 106">
              <a:extLst>
                <a:ext uri="{FF2B5EF4-FFF2-40B4-BE49-F238E27FC236}">
                  <a16:creationId xmlns:a16="http://schemas.microsoft.com/office/drawing/2014/main" id="{E34962B1-D8DD-F284-D744-5A796C6FA4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072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Length of Second Binding</a:t>
              </a:r>
            </a:p>
          </p:txBody>
        </p:sp>
        <p:sp>
          <p:nvSpPr>
            <p:cNvPr id="38967" name="Text Box 107">
              <a:extLst>
                <a:ext uri="{FF2B5EF4-FFF2-40B4-BE49-F238E27FC236}">
                  <a16:creationId xmlns:a16="http://schemas.microsoft.com/office/drawing/2014/main" id="{79AD5458-C88B-99C9-3322-C94667EDCA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264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OID of Second Binding</a:t>
              </a:r>
            </a:p>
          </p:txBody>
        </p:sp>
        <p:sp>
          <p:nvSpPr>
            <p:cNvPr id="38968" name="Text Box 108">
              <a:extLst>
                <a:ext uri="{FF2B5EF4-FFF2-40B4-BE49-F238E27FC236}">
                  <a16:creationId xmlns:a16="http://schemas.microsoft.com/office/drawing/2014/main" id="{4CC75EC7-903B-0539-1685-9D9483BCE7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436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Type of Second Binding</a:t>
              </a:r>
            </a:p>
          </p:txBody>
        </p:sp>
        <p:sp>
          <p:nvSpPr>
            <p:cNvPr id="38969" name="Text Box 109">
              <a:extLst>
                <a:ext uri="{FF2B5EF4-FFF2-40B4-BE49-F238E27FC236}">
                  <a16:creationId xmlns:a16="http://schemas.microsoft.com/office/drawing/2014/main" id="{E49AA310-2646-4A2E-B975-A2F1D9635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628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Value of Second Binding</a:t>
              </a:r>
            </a:p>
          </p:txBody>
        </p:sp>
        <p:sp>
          <p:nvSpPr>
            <p:cNvPr id="38970" name="Rectangle 111">
              <a:extLst>
                <a:ext uri="{FF2B5EF4-FFF2-40B4-BE49-F238E27FC236}">
                  <a16:creationId xmlns:a16="http://schemas.microsoft.com/office/drawing/2014/main" id="{E2A7753A-7EAA-2422-920C-0E6367B27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584"/>
              <a:ext cx="201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71" name="Rectangle 112">
              <a:extLst>
                <a:ext uri="{FF2B5EF4-FFF2-40B4-BE49-F238E27FC236}">
                  <a16:creationId xmlns:a16="http://schemas.microsoft.com/office/drawing/2014/main" id="{D8100D88-61BF-AE99-637F-C01312E65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776"/>
              <a:ext cx="2016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72" name="Text Box 113">
              <a:extLst>
                <a:ext uri="{FF2B5EF4-FFF2-40B4-BE49-F238E27FC236}">
                  <a16:creationId xmlns:a16="http://schemas.microsoft.com/office/drawing/2014/main" id="{2BE9ADCA-DD5D-C648-3C0E-1BB6130B8E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564"/>
              <a:ext cx="20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>
                  <a:solidFill>
                    <a:schemeClr val="bg2"/>
                  </a:solidFill>
                </a:rPr>
                <a:t>Specific Trap Type</a:t>
              </a:r>
            </a:p>
          </p:txBody>
        </p:sp>
        <p:sp>
          <p:nvSpPr>
            <p:cNvPr id="38973" name="Text Box 114">
              <a:extLst>
                <a:ext uri="{FF2B5EF4-FFF2-40B4-BE49-F238E27FC236}">
                  <a16:creationId xmlns:a16="http://schemas.microsoft.com/office/drawing/2014/main" id="{46D636DA-0DC5-547E-34FB-56C456FCB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756"/>
              <a:ext cx="20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400" b="1">
                  <a:solidFill>
                    <a:schemeClr val="bg2"/>
                  </a:solidFill>
                </a:rPr>
                <a:t>Time Stamp</a:t>
              </a:r>
            </a:p>
          </p:txBody>
        </p:sp>
      </p:grpSp>
      <p:sp>
        <p:nvSpPr>
          <p:cNvPr id="38917" name="Text Box 116">
            <a:extLst>
              <a:ext uri="{FF2B5EF4-FFF2-40B4-BE49-F238E27FC236}">
                <a16:creationId xmlns:a16="http://schemas.microsoft.com/office/drawing/2014/main" id="{48FDC6D7-F1ED-A2C1-D2AE-0F750F53F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343400"/>
            <a:ext cx="91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/>
              <a:t>PDU Body</a:t>
            </a:r>
          </a:p>
        </p:txBody>
      </p:sp>
      <p:sp>
        <p:nvSpPr>
          <p:cNvPr id="38918" name="Line 117">
            <a:extLst>
              <a:ext uri="{FF2B5EF4-FFF2-40B4-BE49-F238E27FC236}">
                <a16:creationId xmlns:a16="http://schemas.microsoft.com/office/drawing/2014/main" id="{0330E8B5-EA97-945B-DA38-9B378D1432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971800"/>
            <a:ext cx="9144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9" name="Line 118">
            <a:extLst>
              <a:ext uri="{FF2B5EF4-FFF2-40B4-BE49-F238E27FC236}">
                <a16:creationId xmlns:a16="http://schemas.microsoft.com/office/drawing/2014/main" id="{1F4C5F55-E45F-A36F-9D4A-0A210BB1C4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800600"/>
            <a:ext cx="91440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0" name="Line 119">
            <a:extLst>
              <a:ext uri="{FF2B5EF4-FFF2-40B4-BE49-F238E27FC236}">
                <a16:creationId xmlns:a16="http://schemas.microsoft.com/office/drawing/2014/main" id="{BEF037D1-E7EB-AC87-8128-8C3D7AAD59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2968625"/>
            <a:ext cx="838200" cy="1755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1" name="Line 120">
            <a:extLst>
              <a:ext uri="{FF2B5EF4-FFF2-40B4-BE49-F238E27FC236}">
                <a16:creationId xmlns:a16="http://schemas.microsoft.com/office/drawing/2014/main" id="{7C6CBF51-5988-53AC-18B4-2BDBBC81CF0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4724400"/>
            <a:ext cx="838200" cy="2130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2" name="Text Box 121">
            <a:extLst>
              <a:ext uri="{FF2B5EF4-FFF2-40B4-BE49-F238E27FC236}">
                <a16:creationId xmlns:a16="http://schemas.microsoft.com/office/drawing/2014/main" id="{6593191B-0A0F-D08A-86E6-640FF0025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57200"/>
            <a:ext cx="9906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400" b="1"/>
              <a:t>SNMP Message Preamble</a:t>
            </a:r>
          </a:p>
        </p:txBody>
      </p:sp>
      <p:sp>
        <p:nvSpPr>
          <p:cNvPr id="38923" name="Line 122">
            <a:extLst>
              <a:ext uri="{FF2B5EF4-FFF2-40B4-BE49-F238E27FC236}">
                <a16:creationId xmlns:a16="http://schemas.microsoft.com/office/drawing/2014/main" id="{CD2F27BF-55BF-DACE-1DE3-637CB9A054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533400"/>
            <a:ext cx="838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4" name="Line 123">
            <a:extLst>
              <a:ext uri="{FF2B5EF4-FFF2-40B4-BE49-F238E27FC236}">
                <a16:creationId xmlns:a16="http://schemas.microsoft.com/office/drawing/2014/main" id="{A35213A5-B0D1-602A-A9BA-D8F401DB76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7620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5" name="Line 124">
            <a:extLst>
              <a:ext uri="{FF2B5EF4-FFF2-40B4-BE49-F238E27FC236}">
                <a16:creationId xmlns:a16="http://schemas.microsoft.com/office/drawing/2014/main" id="{A43EBA50-5135-E459-A67F-23371EF8D8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9200" y="152400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6" name="Line 125">
            <a:extLst>
              <a:ext uri="{FF2B5EF4-FFF2-40B4-BE49-F238E27FC236}">
                <a16:creationId xmlns:a16="http://schemas.microsoft.com/office/drawing/2014/main" id="{99121603-BEEC-AC65-43DE-DF4FD8EFD2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762000"/>
            <a:ext cx="762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7" name="Text Box 126">
            <a:extLst>
              <a:ext uri="{FF2B5EF4-FFF2-40B4-BE49-F238E27FC236}">
                <a16:creationId xmlns:a16="http://schemas.microsoft.com/office/drawing/2014/main" id="{11D1BAEE-3E29-916E-F781-710D13DBB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981200"/>
            <a:ext cx="1066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/>
              <a:t>PDU Header</a:t>
            </a:r>
          </a:p>
        </p:txBody>
      </p:sp>
      <p:sp>
        <p:nvSpPr>
          <p:cNvPr id="38928" name="Line 127">
            <a:extLst>
              <a:ext uri="{FF2B5EF4-FFF2-40B4-BE49-F238E27FC236}">
                <a16:creationId xmlns:a16="http://schemas.microsoft.com/office/drawing/2014/main" id="{174AFCFD-6745-0BD4-C2D7-6BA7849864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447800"/>
            <a:ext cx="762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9" name="Line 128">
            <a:extLst>
              <a:ext uri="{FF2B5EF4-FFF2-40B4-BE49-F238E27FC236}">
                <a16:creationId xmlns:a16="http://schemas.microsoft.com/office/drawing/2014/main" id="{9945379F-34BC-AE06-E605-09B5B9DFC5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2860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0" name="Line 129">
            <a:extLst>
              <a:ext uri="{FF2B5EF4-FFF2-40B4-BE49-F238E27FC236}">
                <a16:creationId xmlns:a16="http://schemas.microsoft.com/office/drawing/2014/main" id="{F30888AA-ADAF-2DCB-C391-2A94CDCA51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990600"/>
            <a:ext cx="9144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1" name="Line 130">
            <a:extLst>
              <a:ext uri="{FF2B5EF4-FFF2-40B4-BE49-F238E27FC236}">
                <a16:creationId xmlns:a16="http://schemas.microsoft.com/office/drawing/2014/main" id="{1E5627C9-D070-CA9F-46F7-9229C8F9FA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286000"/>
            <a:ext cx="914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2" name="Text Box 132">
            <a:extLst>
              <a:ext uri="{FF2B5EF4-FFF2-40B4-BE49-F238E27FC236}">
                <a16:creationId xmlns:a16="http://schemas.microsoft.com/office/drawing/2014/main" id="{D27B919A-6B1F-68DF-F7E2-1318B1B87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0"/>
            <a:ext cx="4267200" cy="45720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solidFill>
                  <a:schemeClr val="tx2"/>
                </a:solidFill>
              </a:rPr>
              <a:t>SNMP Message Formats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1066</TotalTime>
  <Words>1831</Words>
  <Application>Microsoft Office PowerPoint</Application>
  <PresentationFormat>Letter Paper (8.5x11 in)</PresentationFormat>
  <Paragraphs>235</Paragraphs>
  <Slides>25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Franklin Gothic Book</vt:lpstr>
      <vt:lpstr>Perpetua</vt:lpstr>
      <vt:lpstr>Wingdings 2</vt:lpstr>
      <vt:lpstr>Times New Roman</vt:lpstr>
      <vt:lpstr>Impact</vt:lpstr>
      <vt:lpstr>Equity</vt:lpstr>
      <vt:lpstr>Microsoft Office Word 97 - 2003 Document</vt:lpstr>
      <vt:lpstr>Network Management - SNMP</vt:lpstr>
      <vt:lpstr>What is Network Management?</vt:lpstr>
      <vt:lpstr>Functional Areas of Network Management</vt:lpstr>
      <vt:lpstr>What is SNMP?</vt:lpstr>
      <vt:lpstr>Advantages of using SNMP</vt:lpstr>
      <vt:lpstr>Client Pull &amp; Server Push</vt:lpstr>
      <vt:lpstr>SNMP &amp; The OSI Model</vt:lpstr>
      <vt:lpstr>Ports &amp; UDP</vt:lpstr>
      <vt:lpstr>The Three Parts of SNMP</vt:lpstr>
      <vt:lpstr>Nodes</vt:lpstr>
      <vt:lpstr>Community Names</vt:lpstr>
      <vt:lpstr>SNMP Agents</vt:lpstr>
      <vt:lpstr>Proxy &amp; Gateway Agents</vt:lpstr>
      <vt:lpstr>Four Basic Operations</vt:lpstr>
      <vt:lpstr>Traps</vt:lpstr>
      <vt:lpstr>Trap Receivers</vt:lpstr>
      <vt:lpstr>Languages of SNMP</vt:lpstr>
      <vt:lpstr>SMIv1</vt:lpstr>
      <vt:lpstr>SMIv2</vt:lpstr>
      <vt:lpstr>ASN.1</vt:lpstr>
      <vt:lpstr>BER</vt:lpstr>
      <vt:lpstr>SNMP Data Types</vt:lpstr>
      <vt:lpstr>Managed “Objects” &amp; MIBs</vt:lpstr>
      <vt:lpstr>Basic Message Format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SNMP Simple Network Management Protocol</dc:title>
  <dc:creator>Chris Francois</dc:creator>
  <cp:lastModifiedBy>Raji R</cp:lastModifiedBy>
  <cp:revision>65</cp:revision>
  <cp:lastPrinted>1998-12-03T08:22:13Z</cp:lastPrinted>
  <dcterms:created xsi:type="dcterms:W3CDTF">1998-11-30T02:07:03Z</dcterms:created>
  <dcterms:modified xsi:type="dcterms:W3CDTF">2025-12-29T10:17:53Z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1</vt:i4>
  </property>
  <property fmtid="{D5CDD505-2E9C-101B-9397-08002B2CF9AE}" pid="7" name="MailAddress">
    <vt:lpwstr>cfrancois@acm.org</vt:lpwstr>
  </property>
  <property fmtid="{D5CDD505-2E9C-101B-9397-08002B2CF9AE}" pid="8" name="HomePage">
    <vt:lpwstr>http://www.acm.wwu.edu/francois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false</vt:bool>
  </property>
  <property fmtid="{D5CDD505-2E9C-101B-9397-08002B2CF9AE}" pid="13" name="BackColor">
    <vt:i4>4194304</vt:i4>
  </property>
  <property fmtid="{D5CDD505-2E9C-101B-9397-08002B2CF9AE}" pid="14" name="TextColor">
    <vt:i4>16777215</vt:i4>
  </property>
  <property fmtid="{D5CDD505-2E9C-101B-9397-08002B2CF9AE}" pid="15" name="LinkColor">
    <vt:i4>65535</vt:i4>
  </property>
  <property fmtid="{D5CDD505-2E9C-101B-9397-08002B2CF9AE}" pid="16" name="VisitedColor">
    <vt:i4>8454143</vt:i4>
  </property>
  <property fmtid="{D5CDD505-2E9C-101B-9397-08002B2CF9AE}" pid="17" name="TransparentButton">
    <vt:i4>-1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F:\cfrancois</vt:lpwstr>
  </property>
</Properties>
</file>